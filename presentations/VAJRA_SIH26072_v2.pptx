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48bad374e404e50" /><Relationship Type="http://schemas.openxmlformats.org/officeDocument/2006/relationships/extended-properties" Target="/docProps/app.xml" Id="Ra0c4336a0cb943fe" /><Relationship Type="http://schemas.openxmlformats.org/officeDocument/2006/relationships/officeDocument" Target="/ppt/presentation.xml" Id="Rf4b7742ed8b4486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244d3203a314ab6"/>
  </p:sldMasterIdLst>
  <p:notesMasterIdLst>
    <p:notesMasterId xmlns:r="http://schemas.openxmlformats.org/officeDocument/2006/relationships" r:id="Rd4bc57bab238444e"/>
  </p:notesMasterIdLst>
  <p:sldIdLst>
    <p:sldId xmlns:r="http://schemas.openxmlformats.org/officeDocument/2006/relationships" id="256" r:id="R6a2ee3b8b2bd442d"/>
    <p:sldId xmlns:r="http://schemas.openxmlformats.org/officeDocument/2006/relationships" id="257" r:id="R4104b38802d64b43"/>
    <p:sldId xmlns:r="http://schemas.openxmlformats.org/officeDocument/2006/relationships" id="258" r:id="R1aa7b2aa45e5471e"/>
    <p:sldId xmlns:r="http://schemas.openxmlformats.org/officeDocument/2006/relationships" id="259" r:id="R64e1af081955456b"/>
    <p:sldId xmlns:r="http://schemas.openxmlformats.org/officeDocument/2006/relationships" id="260" r:id="Rad2d84134dd4470b"/>
    <p:sldId xmlns:r="http://schemas.openxmlformats.org/officeDocument/2006/relationships" id="261" r:id="Rc6a753867a6a4575"/>
  </p:sldIdLst>
  <p:sldSz cx="12192000" cy="6858000"/>
  <p:notesSz cx="6858000" cy="9144000"/>
  <p:embeddedFontLst>
    <p:embeddedFont>
      <p:font typeface="Garamond"/>
      <p:regular xmlns:r="http://schemas.openxmlformats.org/officeDocument/2006/relationships" r:id="Rfcc02867c3354410"/>
      <p:bold xmlns:r="http://schemas.openxmlformats.org/officeDocument/2006/relationships" r:id="R17bc98103db44685"/>
      <p:italic xmlns:r="http://schemas.openxmlformats.org/officeDocument/2006/relationships" r:id="R67f61f40e23e4048"/>
      <p:boldItalic xmlns:r="http://schemas.openxmlformats.org/officeDocument/2006/relationships" r:id="R53319abd59a14a41"/>
    </p:embeddedFont>
    <p:embeddedFont>
      <p:font typeface="Arial Narrow"/>
      <p:regular xmlns:r="http://schemas.openxmlformats.org/officeDocument/2006/relationships" r:id="R7b4ddb7553314a13"/>
      <p:bold xmlns:r="http://schemas.openxmlformats.org/officeDocument/2006/relationships" r:id="R4d1b79aa50e9438c"/>
      <p:italic xmlns:r="http://schemas.openxmlformats.org/officeDocument/2006/relationships" r:id="R8ff161caa42b41b0"/>
      <p:boldItalic xmlns:r="http://schemas.openxmlformats.org/officeDocument/2006/relationships" r:id="R9e0201f38cc64548"/>
    </p:embeddedFont>
    <p:embeddedFont>
      <p:font typeface="Oswald"/>
      <p:regular xmlns:r="http://schemas.openxmlformats.org/officeDocument/2006/relationships" r:id="R0187728a101e449e"/>
      <p:bold xmlns:r="http://schemas.openxmlformats.org/officeDocument/2006/relationships" r:id="R568882ee061e41f1"/>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4051FD5F-A2FE-4DEC-9349-808E35BEFF39}">
  <a:tblStyle styleId="{4051FD5F-A2FE-4DEC-9349-808E35BEFF3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wholeTbl>
    <a:band1H>
      <a:tcTxStyle b="off" i="off"/>
    </a:band1H>
    <a:band2H>
      <a:tcTxStyle b="off" i="off"/>
      <a:tcStyle>
        <a:fill>
          <a:solidFill>
            <a:srgbClr val="FFFFFF"/>
          </a:solidFill>
        </a:fill>
      </a:tcStyle>
    </a:band2H>
    <a:band1V>
      <a:tcTxStyle b="off" i="off"/>
    </a:band1V>
    <a:band2V>
      <a:tcTxStyle b="off" i="off"/>
    </a:band2V>
    <a:lastCol>
      <a:tcTxStyle b="off" i="off"/>
    </a:lastCol>
    <a:firstCo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Col>
    <a:lastRow>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lastRow>
    <a:seCell>
      <a:tcTxStyle b="off" i="off"/>
    </a:seCell>
    <a:swCell>
      <a:tcTxStyle b="off" i="off"/>
    </a:swCell>
    <a:firstRow>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553ac15e9c384ee9" /><Relationship Type="http://schemas.openxmlformats.org/officeDocument/2006/relationships/slideMaster" Target="/ppt/slideMasters/slideMaster1.xml" Id="R4244d3203a314ab6" /><Relationship Type="http://schemas.openxmlformats.org/officeDocument/2006/relationships/notesMaster" Target="/ppt/notesMasters/notesMaster1.xml" Id="Rd4bc57bab238444e" /><Relationship Type="http://schemas.openxmlformats.org/officeDocument/2006/relationships/presProps" Target="/ppt/presProps.xml" Id="Rf342ce86bf8548af" /><Relationship Type="http://schemas.openxmlformats.org/officeDocument/2006/relationships/tableStyles" Target="/ppt/tableStyles.xml" Id="R046ad2ed551f49cb" /><Relationship Type="http://schemas.openxmlformats.org/officeDocument/2006/relationships/font" Target="/ppt/fonts/font.dat" Id="Rfcc02867c3354410" /><Relationship Type="http://schemas.openxmlformats.org/officeDocument/2006/relationships/font" Target="/ppt/fonts/font2.dat" Id="R17bc98103db44685" /><Relationship Type="http://schemas.openxmlformats.org/officeDocument/2006/relationships/font" Target="/ppt/fonts/font3.dat" Id="R67f61f40e23e4048" /><Relationship Type="http://schemas.openxmlformats.org/officeDocument/2006/relationships/font" Target="/ppt/fonts/font4.dat" Id="R53319abd59a14a41" /><Relationship Type="http://schemas.openxmlformats.org/officeDocument/2006/relationships/font" Target="/ppt/fonts/font5.dat" Id="R7b4ddb7553314a13" /><Relationship Type="http://schemas.openxmlformats.org/officeDocument/2006/relationships/font" Target="/ppt/fonts/font6.dat" Id="R4d1b79aa50e9438c" /><Relationship Type="http://schemas.openxmlformats.org/officeDocument/2006/relationships/font" Target="/ppt/fonts/font7.dat" Id="R8ff161caa42b41b0" /><Relationship Type="http://schemas.openxmlformats.org/officeDocument/2006/relationships/font" Target="/ppt/fonts/font8.dat" Id="R9e0201f38cc64548" /><Relationship Type="http://schemas.openxmlformats.org/officeDocument/2006/relationships/font" Target="/ppt/fonts/font9.dat" Id="R0187728a101e449e" /><Relationship Type="http://schemas.openxmlformats.org/officeDocument/2006/relationships/font" Target="/ppt/fonts/font10.dat" Id="R568882ee061e41f1" /><Relationship Type="http://schemas.openxmlformats.org/officeDocument/2006/relationships/slide" Target="/ppt/slides/slide1.xml" Id="R6a2ee3b8b2bd442d" /><Relationship Type="http://schemas.openxmlformats.org/officeDocument/2006/relationships/slide" Target="/ppt/slides/slide2.xml" Id="R4104b38802d64b43" /><Relationship Type="http://schemas.openxmlformats.org/officeDocument/2006/relationships/slide" Target="/ppt/slides/slide3.xml" Id="R1aa7b2aa45e5471e" /><Relationship Type="http://schemas.openxmlformats.org/officeDocument/2006/relationships/slide" Target="/ppt/slides/slide4.xml" Id="R64e1af081955456b" /><Relationship Type="http://schemas.openxmlformats.org/officeDocument/2006/relationships/slide" Target="/ppt/slides/slide5.xml" Id="Rad2d84134dd4470b" /><Relationship Type="http://schemas.openxmlformats.org/officeDocument/2006/relationships/slide" Target="/ppt/slides/slide6.xml" Id="Rc6a753867a6a45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811ed898584c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de084061a04560" /><Relationship Type="http://schemas.openxmlformats.org/officeDocument/2006/relationships/notesMaster" Target="/ppt/notesMasters/notesMaster1.xml" Id="R4acdca576a7d45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5fcaae2f32474b" /><Relationship Type="http://schemas.openxmlformats.org/officeDocument/2006/relationships/notesMaster" Target="/ppt/notesMasters/notesMaster1.xml" Id="R92ee16b222bf49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82a300c8f84753" /><Relationship Type="http://schemas.openxmlformats.org/officeDocument/2006/relationships/notesMaster" Target="/ppt/notesMasters/notesMaster1.xml" Id="R2026d43b674c46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0ac901e1ba425d" /><Relationship Type="http://schemas.openxmlformats.org/officeDocument/2006/relationships/notesMaster" Target="/ppt/notesMasters/notesMaster1.xml" Id="Rcc86b4f9f84d45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5ffc9b63c34c79" /><Relationship Type="http://schemas.openxmlformats.org/officeDocument/2006/relationships/notesMaster" Target="/ppt/notesMasters/notesMaster1.xml" Id="Rc92d5b43e1a848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c3e59500a4486d" /><Relationship Type="http://schemas.openxmlformats.org/officeDocument/2006/relationships/notesMaster" Target="/ppt/notesMasters/notesMaster1.xml" Id="R9a8a53b9083044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400"/>
              <a:buNone/>
            </a:pPr>
            <a:r>
              <a:rPr sz="1200"/>
              <a:t>VAJRA, SIH26072. Problem metadata transcribed from the user's SIH26072_Detailed_Technical_Analysis.md. Ministry of Earth Sciences, India Meteorological Department. Core deliverable: a local predictive model. Website and React Native app are evidence and delivery clients. NCR is the proposed first scientific pilot. The template supplied no team ID.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Revision 2: the heading is Key Value Proposition. Labels describe research capabilities and deployment targets, not established NCR skill. Asterisks mark planned delivery, integration, benchmarks or hypotheses. The compact architecture aims to control compute cost, which has not yet been measured in a live NCR pilot. Five minutes is a source-check target, ten minutes is a revision target, and 30 minutes is the forecast horizon. Actual source cadence and publication latency vary. New evidence revises subsequent forecasts, while retaining prior issue times for evaluation.</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NASA GIBS Suomi-NPP VIIRS corrected-reflectance daily mosaic dated 27 June 2024 covers Delhi NCR. The exact overpass time is not established. The Dwarka rectangle is a sample research cell, not an administrative boundary. The approach arrow, +10/+20/+30 minute steps and light/moderate/heavy labels are illustrative overlays. A single true-color image cannot establish motion, rainfall intensity or future weather. This is a visual explanation, not a model forecast or evidence of forecast accuracy. Asset: presentations/assets/ncr-viirs-2024-06-27.png. Provenance and complete URL: presentations/assets/README.md and corresponding JSON. NASA GIBS documentation: https://nasa-gibs.github.io/gibs-api-docs/access-basics/ . Worldview: https://worldview.earthdata.nasa.gov/?v=76.55,28.32,77.70,28.79&amp;l=VIIRS_SNPP_CorrectedReflectance_TrueColor&amp;t=2024-06-27 .</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Lightning lead and onset timing are research model heads awaiting independent Indian validation. Phase calibration currently applies to lightning probabilities with a pooled fallback. Onset hazards require their own calibration. Seasonal Z-R and monsoon research are not claimed as first inventions. Public monthly scorecards and comparable Google/IMD benchmarks are planned. Damini already provides advance location-based lightning alerts, valid for the next 40 minutes according to https://www.pib.gov.in/PressReleasePage.aspx?PRID=1813993 . No claim of superiority is made.</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React Native app has research views, language support, installed-device TTS and a user-triggered SMS composer. Automatic alert delivery and Bitchat integration are proposed. A Bitchat-inspired BLE relay needs compatible nearby peers and a connected gateway for fresh external alerts. It would relay approved, signed, unexpired messages with deduplication, cancellation and issuer verification. Reference: https://github.com/permissionlesstech/bitchat and WHITEPAPER.md. No interoperability or guaranteed offline reach is claimed. Citizen majority is weak corroborative evidence, never automatic ground truth. Detailed feature statuses: presentations/REVISION_2_DESIGN.md.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Historical need on the left: NCRB reported 2,862 lightning deaths in India in 2020, as reported in the Ministry of Home Affairs parliamentary reply: https://www.mha.gov.in/MHA1/Par2017/pdfs/par2022-pdfs/RS27072022/1197.pdf . This is not a claim of lives saved.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Revision 2 redesigns the weather architecture while retaining the reference's blue connectors, pastel processing boxes, cylinders and decision diamond. The top lane is the proposed deployment flow. The lower lane trains and evaluates candidates from reviewed outcomes. These loops run on different timescales. Fast source checks and forecast revisions do not imply retraining every five or ten minutes.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four inputs preserve native support, source timestamp, coverage, quality, missingness and acquisition availability. IMD raw radar, INSAT and lightning feeds require actual access. Open alternatives are source-specific. A satellite-only fallback is usable only after independent validation in that input regime. Missing sensors never become negative lightning labels. The motion branch estimates echo displacement and rain evolution. The compact ConvLSTM research model has three heads: binary lightning event, rain-onset hazards and first-lightning-onset hazards in six five-minute bins. Source: nowcast/regional_heads.py and scripts/train_regional_heads.py. Cloud growth and environmental context are input features to be assembled from time-aligned observations.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current API research runs are synthetic or historical French radar replay (nowcast/service.py). The regional model is a separate training/research path, not a live NCR serving loop. The regional endpoint explicitly reports unavailable data where no qualifying feed exists. LatestForecastQueue bounds ticket metadata and rejects superseded/expired outputs. It is not a live provider scheduler. Five-minute checks and ten-minute revisions are deployment targets.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evidence gate checks support, age, held-out skill and operational thresholds. Phase calibration only applies where fitted and validated. Current research decision policy always disables public dispatch (nowcast/decision_policy.py). A future authorised officer may approve an eligible operational alert or hold it. The optional decision classifier runs as a shadow hypothesis and cannot bypass these gates. No LLM/Jev is necessary.</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immutable archive is a logical boundary across raw files, manifests, forecast records and the SQLite review/operations ledger, not a claim that all raw arrays live inside SQLite. Keep every issue time, source hash, model version and revision. Match later sensor outcomes and coverage. Public reports require consent, deduplication, closed windows and independent corroboration. Keep accepted rain reports labelled weak evidence. They do not establish lightning truth.</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Freeze separate storm-event train, validation, calibration and test partitions. Train with bounded offline workers, verify against persistence/motion on identical cases, evaluate reliability and useful lead time, and compare advanced models only when available on matched support. The existing daily learning tick can queue candidates from eligible observed events. It never promotes a model automatically. Independently review candidate checkpoints before deployment. Source files include nowcast/operation_recipes.py, nowcast/operation_store.py, scripts/run_operations.py, nowcast/regional_science.py and nowcast/public_verification.py.</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React Native research client supports 12 Indian languages plus English, device TTS and a user-triggered SMS composer. Alert transport, monthly publication and Bitchat-inspired relay remain proposed. BLE requires compatible nearby peers, radio access and a relay path. A connected gateway is needed to introduce fresh alerts. Proposed controls: approved signed payload, expiry, deduplication, cancellation and issuer verification. Reference: https://github.com/permissionlesstech/bitchat/blob/main/WHITEPAPER.md .</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Architecture and implementation mapping: presentations/SIH26072_ARCHITECTURE_AND_DATA_FLOW.md and presentations/REVISION_2_DESIGN.md.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Accuracy plan: split by storm event and time; prevent input-arrival leakage; separate validation, calibration and untouched test events; compare persistence and motion on identical covered cohorts; report POD, false-alarm ratio, CSI, Brier, reliability and uncertainty. Evaluate onset with censoring, misses and no-event outcomes retained. Test outages, warm-top rain and dust separately. Seasonal Z-R and phase-conditioned calibration are research additions with no demonstrated NCR improvement yet. The Delhi study is prior work, not a new discovery by VAJRA. Warm-rain and dust flags are descriptive, not validated classifiers. Numeric NCR radar, aligned INSAT sequences, lightning coverage and suitable observed labels remain dependencies. Public model warnings remain disabled. Feasibility concerns shared compute and a public-service pilot, with no revenue model. Sources: https://www.mosdac.gov.in/look/DOCS/mosdac-data-guidelines_english.pdf; https://mausam.imd.gov.in/imd_latest/contents/pdf/forecasting_sop.pdf; https://tropmet.res.in/erpas/files/active_break_selection.php; https://doi.org/10.1016/j.pce.2025.104182.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Benefits are intended pilot outcomes. We have not measured lives saved, farmer income improvement, latency improvement or carbon savings. Twelve Indian languages plus English and device TTS/SMS composer exist as prototype features; translations need review and this does not prove delivery infrastructure. Chart: recorded historical Meteo-France radar case, 19 December 2018, CSI for echoes at least 20 dBZ. Lead minutes [5,10,15,20]. Motion/translation CSI [0.710716,0.584645,0.555373,0.508291]; persistence CSI [0.637651,0.550681,0.506571,0.488428]. Source: repository VALIDATION.md and recorded historical radar evaluation. One case is not an operational accuracy estimate and is unrelated to lightning skill. Lightning deaths: 2,862 in India in 2020, MHA/NCRB parliamentary answer dated 27 July 2022, annexure https://www.mha.gov.in/MHA1/Par2017/pdfs/par2022-pdfs/RS27072022/1197.pdf.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Sources and limitations:</a:t>
            </a:r>
            <a:endParaRPr/>
          </a:p>
          <a:p xmlns:a="http://schemas.openxmlformats.org/drawingml/2006/main">
            <a:pPr marL="0" lvl="0" indent="0" algn="l">
              <a:lnSpc>
                <a:spcPct val="100000"/>
              </a:lnSpc>
              <a:spcBef>
                <a:spcPts val="0"/>
              </a:spcBef>
              <a:spcAft>
                <a:spcPts val="0"/>
              </a:spcAft>
              <a:buSzPts val="1400"/>
              <a:buNone/>
            </a:pPr>
            <a:r>
              <a:rPr sz="1200"/>
              <a:t>01  Lightning deaths: 2,862 in 2020 (S5)</a:t>
            </a:r>
            <a:endParaRPr/>
          </a:p>
          <a:p xmlns:a="http://schemas.openxmlformats.org/drawingml/2006/main">
            <a:pPr marL="0" lvl="0" indent="0" algn="l">
              <a:lnSpc>
                <a:spcPct val="100000"/>
              </a:lnSpc>
              <a:spcBef>
                <a:spcPts val="0"/>
              </a:spcBef>
              <a:spcAft>
                <a:spcPts val="0"/>
              </a:spcAft>
              <a:buSzPts val="1400"/>
              <a:buNone/>
            </a:pPr>
            <a:r>
              <a:rPr sz="1200"/>
              <a:t>MHA / NCRB, Rajya Sabha (2022) Official historical count for India. Does not estimate lives VAJRA could save.</a:t>
            </a:r>
            <a:endParaRPr/>
          </a:p>
          <a:p xmlns:a="http://schemas.openxmlformats.org/drawingml/2006/main">
            <a:pPr marL="0" lvl="0" indent="0" algn="l">
              <a:lnSpc>
                <a:spcPct val="100000"/>
              </a:lnSpc>
              <a:spcBef>
                <a:spcPts val="0"/>
              </a:spcBef>
              <a:spcAft>
                <a:spcPts val="0"/>
              </a:spcAft>
              <a:buSzPts val="1400"/>
              <a:buNone/>
            </a:pPr>
            <a:r>
              <a:rPr sz="1200"/>
              <a:t>https://www.mha.gov.in/MHA1/Par2017/pdfs/par2022-pdfs/RS27072022/1197.pdf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02  Existing Indian warning service (S2)</a:t>
            </a:r>
            <a:endParaRPr/>
          </a:p>
          <a:p xmlns:a="http://schemas.openxmlformats.org/drawingml/2006/main">
            <a:pPr marL="0" lvl="0" indent="0" algn="l">
              <a:lnSpc>
                <a:spcPct val="100000"/>
              </a:lnSpc>
              <a:spcBef>
                <a:spcPts val="0"/>
              </a:spcBef>
              <a:spcAft>
                <a:spcPts val="0"/>
              </a:spcAft>
              <a:buSzPts val="1400"/>
              <a:buNone/>
            </a:pPr>
            <a:r>
              <a:rPr sz="1200"/>
              <a:t>PIB / MoES, Damini (2022) Damini already provides advance alerts. VAJRA superiority remains unproven.</a:t>
            </a:r>
            <a:endParaRPr/>
          </a:p>
          <a:p xmlns:a="http://schemas.openxmlformats.org/drawingml/2006/main">
            <a:pPr marL="0" lvl="0" indent="0" algn="l">
              <a:lnSpc>
                <a:spcPct val="100000"/>
              </a:lnSpc>
              <a:spcBef>
                <a:spcPts val="0"/>
              </a:spcBef>
              <a:spcAft>
                <a:spcPts val="0"/>
              </a:spcAft>
              <a:buSzPts val="1400"/>
              <a:buNone/>
            </a:pPr>
            <a:r>
              <a:rPr sz="1200"/>
              <a:t>https://www.pib.gov.in/PressReleasePage.aspx?PRID=1813993</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03  Indian observations (S3)</a:t>
            </a:r>
            <a:endParaRPr/>
          </a:p>
          <a:p xmlns:a="http://schemas.openxmlformats.org/drawingml/2006/main">
            <a:pPr marL="0" lvl="0" indent="0" algn="l">
              <a:lnSpc>
                <a:spcPct val="100000"/>
              </a:lnSpc>
              <a:spcBef>
                <a:spcPts val="0"/>
              </a:spcBef>
              <a:spcAft>
                <a:spcPts val="0"/>
              </a:spcAft>
              <a:buSzPts val="1400"/>
              <a:buNone/>
            </a:pPr>
            <a:r>
              <a:rPr sz="1200"/>
              <a:t>IMD, official data and API portal Station, radar and warning information. Numeric NCR radar access still needed.</a:t>
            </a:r>
            <a:endParaRPr/>
          </a:p>
          <a:p xmlns:a="http://schemas.openxmlformats.org/drawingml/2006/main">
            <a:pPr marL="0" lvl="0" indent="0" algn="l">
              <a:lnSpc>
                <a:spcPct val="100000"/>
              </a:lnSpc>
              <a:spcBef>
                <a:spcPts val="0"/>
              </a:spcBef>
              <a:spcAft>
                <a:spcPts val="0"/>
              </a:spcAft>
              <a:buSzPts val="1400"/>
              <a:buNone/>
            </a:pPr>
            <a:r>
              <a:rPr sz="1200"/>
              <a:t>https://mausam.imd.gov.in/</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04  INSAT data and rights (S3)</a:t>
            </a:r>
            <a:endParaRPr/>
          </a:p>
          <a:p xmlns:a="http://schemas.openxmlformats.org/drawingml/2006/main">
            <a:pPr marL="0" lvl="0" indent="0" algn="l">
              <a:lnSpc>
                <a:spcPct val="100000"/>
              </a:lnSpc>
              <a:spcBef>
                <a:spcPts val="0"/>
              </a:spcBef>
              <a:spcAft>
                <a:spcPts val="0"/>
              </a:spcAft>
              <a:buSzPts val="1400"/>
              <a:buNone/>
            </a:pPr>
            <a:r>
              <a:rPr sz="1200"/>
              <a:t>ISRO MOSDAC data guidelines Satellite observations and permitted use. Confirm redistribution before any release.</a:t>
            </a:r>
            <a:endParaRPr/>
          </a:p>
          <a:p xmlns:a="http://schemas.openxmlformats.org/drawingml/2006/main">
            <a:pPr marL="0" lvl="0" indent="0" algn="l">
              <a:lnSpc>
                <a:spcPct val="100000"/>
              </a:lnSpc>
              <a:spcBef>
                <a:spcPts val="0"/>
              </a:spcBef>
              <a:spcAft>
                <a:spcPts val="0"/>
              </a:spcAft>
              <a:buSzPts val="1400"/>
              <a:buNone/>
            </a:pPr>
            <a:r>
              <a:rPr sz="1200"/>
              <a:t>https://www.mosdac.gov.in/look/DOCS/mosdac-data-guidelines_english.pdf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05  Indian lightning labels (S3)</a:t>
            </a:r>
            <a:endParaRPr/>
          </a:p>
          <a:p xmlns:a="http://schemas.openxmlformats.org/drawingml/2006/main">
            <a:pPr marL="0" lvl="0" indent="0" algn="l">
              <a:lnSpc>
                <a:spcPct val="100000"/>
              </a:lnSpc>
              <a:spcBef>
                <a:spcPts val="0"/>
              </a:spcBef>
              <a:spcAft>
                <a:spcPts val="0"/>
              </a:spcAft>
              <a:buSzPts val="1400"/>
              <a:buNone/>
            </a:pPr>
            <a:r>
              <a:rPr sz="1200"/>
              <a:t>INCOIS catalogue, IITM network 2019 stroke location, time and attributes. Metadata is not a matched training corpus. Network coverage is required for negatives.</a:t>
            </a:r>
            <a:endParaRPr/>
          </a:p>
          <a:p xmlns:a="http://schemas.openxmlformats.org/drawingml/2006/main">
            <a:pPr marL="0" lvl="0" indent="0" algn="l">
              <a:lnSpc>
                <a:spcPct val="100000"/>
              </a:lnSpc>
              <a:spcBef>
                <a:spcPts val="0"/>
              </a:spcBef>
              <a:spcAft>
                <a:spcPts val="0"/>
              </a:spcAft>
              <a:buSzPts val="1400"/>
              <a:buNone/>
            </a:pPr>
            <a:r>
              <a:rPr sz="1200"/>
              <a:t>https://incois.gov.in/essdp/ViewMetadata?fileid=05f2bab9-054f-45cf-b77d-1eaf089252ff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06  Supplemental rain labels (S3)</a:t>
            </a:r>
            <a:endParaRPr/>
          </a:p>
          <a:p xmlns:a="http://schemas.openxmlformats.org/drawingml/2006/main">
            <a:pPr marL="0" lvl="0" indent="0" algn="l">
              <a:lnSpc>
                <a:spcPct val="100000"/>
              </a:lnSpc>
              <a:spcBef>
                <a:spcPts val="0"/>
              </a:spcBef>
              <a:spcAft>
                <a:spcPts val="0"/>
              </a:spcAft>
              <a:buSzPts val="1400"/>
              <a:buNone/>
            </a:pPr>
            <a:r>
              <a:rPr sz="1200"/>
              <a:t>NASA GPM IMERG V07 Half-hourly rain estimates at 0.1 degree. Check latency and quality before use. Not independent street-scale gauge truth.</a:t>
            </a:r>
            <a:endParaRPr/>
          </a:p>
          <a:p xmlns:a="http://schemas.openxmlformats.org/drawingml/2006/main">
            <a:pPr marL="0" lvl="0" indent="0" algn="l">
              <a:lnSpc>
                <a:spcPct val="100000"/>
              </a:lnSpc>
              <a:spcBef>
                <a:spcPts val="0"/>
              </a:spcBef>
              <a:spcAft>
                <a:spcPts val="0"/>
              </a:spcAft>
              <a:buSzPts val="1400"/>
              <a:buNone/>
            </a:pPr>
            <a:r>
              <a:rPr sz="1200"/>
              <a:t>https://www.earthdata.nasa.gov/data/catalog/ges-disc-gpm-3imerghh-07</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07  Environmental model inputs (S3)</a:t>
            </a:r>
            <a:endParaRPr/>
          </a:p>
          <a:p xmlns:a="http://schemas.openxmlformats.org/drawingml/2006/main">
            <a:pPr marL="0" lvl="0" indent="0" algn="l">
              <a:lnSpc>
                <a:spcPct val="100000"/>
              </a:lnSpc>
              <a:spcBef>
                <a:spcPts val="0"/>
              </a:spcBef>
              <a:spcAft>
                <a:spcPts val="0"/>
              </a:spcAft>
              <a:buSzPts val="1400"/>
              <a:buNone/>
            </a:pPr>
            <a:r>
              <a:rPr sz="1200"/>
              <a:t>Open-Meteo forecast API CAPE, humidity, wind and model rain. Forecast context, not observed rain truth.</a:t>
            </a:r>
            <a:endParaRPr/>
          </a:p>
          <a:p xmlns:a="http://schemas.openxmlformats.org/drawingml/2006/main">
            <a:pPr marL="0" lvl="0" indent="0" algn="l">
              <a:lnSpc>
                <a:spcPct val="100000"/>
              </a:lnSpc>
              <a:spcBef>
                <a:spcPts val="0"/>
              </a:spcBef>
              <a:spcAft>
                <a:spcPts val="0"/>
              </a:spcAft>
              <a:buSzPts val="1400"/>
              <a:buNone/>
            </a:pPr>
            <a:r>
              <a:rPr sz="1200"/>
              <a:t>https://open-meteo.com/en/docs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08  Operational forecast context (S4)</a:t>
            </a:r>
            <a:endParaRPr/>
          </a:p>
          <a:p xmlns:a="http://schemas.openxmlformats.org/drawingml/2006/main">
            <a:pPr marL="0" lvl="0" indent="0" algn="l">
              <a:lnSpc>
                <a:spcPct val="100000"/>
              </a:lnSpc>
              <a:spcBef>
                <a:spcPts val="0"/>
              </a:spcBef>
              <a:spcAft>
                <a:spcPts val="0"/>
              </a:spcAft>
              <a:buSzPts val="1400"/>
              <a:buNone/>
            </a:pPr>
            <a:r>
              <a:rPr sz="1200"/>
              <a:t>IMD forecasting SOP Warning practice and forecast definitions. Compare only matched windows and areas.</a:t>
            </a:r>
            <a:endParaRPr/>
          </a:p>
          <a:p xmlns:a="http://schemas.openxmlformats.org/drawingml/2006/main">
            <a:pPr marL="0" lvl="0" indent="0" algn="l">
              <a:lnSpc>
                <a:spcPct val="100000"/>
              </a:lnSpc>
              <a:spcBef>
                <a:spcPts val="0"/>
              </a:spcBef>
              <a:spcAft>
                <a:spcPts val="0"/>
              </a:spcAft>
              <a:buSzPts val="1400"/>
              <a:buNone/>
            </a:pPr>
            <a:r>
              <a:rPr sz="1200"/>
              <a:t>https://mausam.imd.gov.in/imd_latest/contents/pdf/forecasting_sop.pdf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09  Temporal image model (S3)</a:t>
            </a:r>
            <a:endParaRPr/>
          </a:p>
          <a:p xmlns:a="http://schemas.openxmlformats.org/drawingml/2006/main">
            <a:pPr marL="0" lvl="0" indent="0" algn="l">
              <a:lnSpc>
                <a:spcPct val="100000"/>
              </a:lnSpc>
              <a:spcBef>
                <a:spcPts val="0"/>
              </a:spcBef>
              <a:spcAft>
                <a:spcPts val="0"/>
              </a:spcAft>
              <a:buSzPts val="1400"/>
              <a:buNone/>
            </a:pPr>
            <a:r>
              <a:rPr sz="1200"/>
              <a:t>Shi et al., ConvLSTM (2015) Convolutional recurrence for nowcasting. Architecture reference, not NCR evidence.</a:t>
            </a:r>
            <a:endParaRPr/>
          </a:p>
          <a:p xmlns:a="http://schemas.openxmlformats.org/drawingml/2006/main">
            <a:pPr marL="0" lvl="0" indent="0" algn="l">
              <a:lnSpc>
                <a:spcPct val="100000"/>
              </a:lnSpc>
              <a:spcBef>
                <a:spcPts val="0"/>
              </a:spcBef>
              <a:spcAft>
                <a:spcPts val="0"/>
              </a:spcAft>
              <a:buSzPts val="1400"/>
              <a:buNone/>
            </a:pPr>
            <a:r>
              <a:rPr sz="1200"/>
              <a:t>https://arxiv.org/abs/1506.04214</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10  Radar quality control (S3)</a:t>
            </a:r>
            <a:endParaRPr/>
          </a:p>
          <a:p xmlns:a="http://schemas.openxmlformats.org/drawingml/2006/main">
            <a:pPr marL="0" lvl="0" indent="0" algn="l">
              <a:lnSpc>
                <a:spcPct val="100000"/>
              </a:lnSpc>
              <a:spcBef>
                <a:spcPts val="0"/>
              </a:spcBef>
              <a:spcAft>
                <a:spcPts val="0"/>
              </a:spcAft>
              <a:buSzPts val="1400"/>
              <a:buNone/>
            </a:pPr>
            <a:r>
              <a:rPr sz="1200"/>
              <a:t>wradlib radar workflow Georeferencing and measurement checks. Use physical values and quality masks. Rendered tiles cannot replace calibrated dBZ.</a:t>
            </a:r>
            <a:endParaRPr/>
          </a:p>
          <a:p xmlns:a="http://schemas.openxmlformats.org/drawingml/2006/main">
            <a:pPr marL="0" lvl="0" indent="0" algn="l">
              <a:lnSpc>
                <a:spcPct val="100000"/>
              </a:lnSpc>
              <a:spcBef>
                <a:spcPts val="0"/>
              </a:spcBef>
              <a:spcAft>
                <a:spcPts val="0"/>
              </a:spcAft>
              <a:buSzPts val="1400"/>
              <a:buNone/>
            </a:pPr>
            <a:r>
              <a:rPr sz="1200"/>
              <a:t>https://docs.wradlib.org/en/2.0.0/notebooks/basics/wradlib_workflow.html</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11  Lightning before first strike (S3)</a:t>
            </a:r>
            <a:endParaRPr/>
          </a:p>
          <a:p xmlns:a="http://schemas.openxmlformats.org/drawingml/2006/main">
            <a:pPr marL="0" lvl="0" indent="0" algn="l">
              <a:lnSpc>
                <a:spcPct val="100000"/>
              </a:lnSpc>
              <a:spcBef>
                <a:spcPts val="0"/>
              </a:spcBef>
              <a:spcAft>
                <a:spcPts val="0"/>
              </a:spcAft>
              <a:buSzPts val="1400"/>
              <a:buNone/>
            </a:pPr>
            <a:r>
              <a:rPr sz="1200"/>
              <a:t>ProbSevere LightningCast (2022) Satellite-based probabilistic forecasting. Transfer to INSAT requires local evaluation.</a:t>
            </a:r>
            <a:endParaRPr/>
          </a:p>
          <a:p xmlns:a="http://schemas.openxmlformats.org/drawingml/2006/main">
            <a:pPr marL="0" lvl="0" indent="0" algn="l">
              <a:lnSpc>
                <a:spcPct val="100000"/>
              </a:lnSpc>
              <a:spcBef>
                <a:spcPts val="0"/>
              </a:spcBef>
              <a:spcAft>
                <a:spcPts val="0"/>
              </a:spcAft>
              <a:buSzPts val="1400"/>
              <a:buNone/>
            </a:pPr>
            <a:r>
              <a:rPr sz="1200"/>
              <a:t>https://journals.ametsoc.org/view/journals/wefo/37/7/WAF-D-22-0019.1.xml</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12  Time-to-event method (S3)</a:t>
            </a:r>
            <a:endParaRPr/>
          </a:p>
          <a:p xmlns:a="http://schemas.openxmlformats.org/drawingml/2006/main">
            <a:pPr marL="0" lvl="0" indent="0" algn="l">
              <a:lnSpc>
                <a:spcPct val="100000"/>
              </a:lnSpc>
              <a:spcBef>
                <a:spcPts val="0"/>
              </a:spcBef>
              <a:spcAft>
                <a:spcPts val="0"/>
              </a:spcAft>
              <a:buSzPts val="1400"/>
              <a:buNone/>
            </a:pPr>
            <a:r>
              <a:rPr sz="1200"/>
              <a:t>Gensheimer &amp; Narasimhan (2019) Discrete-time survival neural network. Keep censoring and no-event outcomes.</a:t>
            </a:r>
            <a:endParaRPr/>
          </a:p>
          <a:p xmlns:a="http://schemas.openxmlformats.org/drawingml/2006/main">
            <a:pPr marL="0" lvl="0" indent="0" algn="l">
              <a:lnSpc>
                <a:spcPct val="100000"/>
              </a:lnSpc>
              <a:spcBef>
                <a:spcPts val="0"/>
              </a:spcBef>
              <a:spcAft>
                <a:spcPts val="0"/>
              </a:spcAft>
              <a:buSzPts val="1400"/>
              <a:buNone/>
            </a:pPr>
            <a:r>
              <a:rPr sz="1200"/>
              <a:t>https://peerj.com/articles/6257/</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13  Active / break monsoon phase (S4)</a:t>
            </a:r>
            <a:endParaRPr/>
          </a:p>
          <a:p xmlns:a="http://schemas.openxmlformats.org/drawingml/2006/main">
            <a:pPr marL="0" lvl="0" indent="0" algn="l">
              <a:lnSpc>
                <a:spcPct val="100000"/>
              </a:lnSpc>
              <a:spcBef>
                <a:spcPts val="0"/>
              </a:spcBef>
              <a:spcAft>
                <a:spcPts val="0"/>
              </a:spcAft>
              <a:buSzPts val="1400"/>
              <a:buNone/>
            </a:pPr>
            <a:r>
              <a:rPr sz="1200"/>
              <a:t>IITM, active-break selection Phase-aware calibration is a hypothesis. Use only phase information known at issue. Sparse phase data need a pooled fallback.</a:t>
            </a:r>
            <a:endParaRPr/>
          </a:p>
          <a:p xmlns:a="http://schemas.openxmlformats.org/drawingml/2006/main">
            <a:pPr marL="0" lvl="0" indent="0" algn="l">
              <a:lnSpc>
                <a:spcPct val="100000"/>
              </a:lnSpc>
              <a:spcBef>
                <a:spcPts val="0"/>
              </a:spcBef>
              <a:spcAft>
                <a:spcPts val="0"/>
              </a:spcAft>
              <a:buSzPts val="1400"/>
              <a:buNone/>
            </a:pPr>
            <a:r>
              <a:rPr sz="1200"/>
              <a:t>https://tropmet.res.in/erpas/files/active_break_selection.php</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14  Seasonal Z-R in Delhi (S4)</a:t>
            </a:r>
            <a:endParaRPr/>
          </a:p>
          <a:p xmlns:a="http://schemas.openxmlformats.org/drawingml/2006/main">
            <a:pPr marL="0" lvl="0" indent="0" algn="l">
              <a:lnSpc>
                <a:spcPct val="100000"/>
              </a:lnSpc>
              <a:spcBef>
                <a:spcPts val="0"/>
              </a:spcBef>
              <a:spcAft>
                <a:spcPts val="0"/>
              </a:spcAft>
              <a:buSzPts val="1400"/>
              <a:buNone/>
            </a:pPr>
            <a:r>
              <a:rPr sz="1200"/>
              <a:t>Delhi radar study (2025) Local Z-R calibration has prior research. Fit on training gauges and test separately. No claim of an unpublished first for Delhi.</a:t>
            </a:r>
            <a:endParaRPr/>
          </a:p>
          <a:p xmlns:a="http://schemas.openxmlformats.org/drawingml/2006/main">
            <a:pPr marL="0" lvl="0" indent="0" algn="l">
              <a:lnSpc>
                <a:spcPct val="100000"/>
              </a:lnSpc>
              <a:spcBef>
                <a:spcPts val="0"/>
              </a:spcBef>
              <a:spcAft>
                <a:spcPts val="0"/>
              </a:spcAft>
              <a:buSzPts val="1400"/>
              <a:buNone/>
            </a:pPr>
            <a:r>
              <a:rPr sz="1200"/>
              <a:t>https://doi.org/10.1016/j.pce.2025.104182</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15  Reproducible project measurements (S5-6)</a:t>
            </a:r>
            <a:endParaRPr/>
          </a:p>
          <a:p xmlns:a="http://schemas.openxmlformats.org/drawingml/2006/main">
            <a:pPr marL="0" lvl="0" indent="0" algn="l">
              <a:lnSpc>
                <a:spcPct val="100000"/>
              </a:lnSpc>
              <a:spcBef>
                <a:spcPts val="0"/>
              </a:spcBef>
              <a:spcAft>
                <a:spcPts val="0"/>
              </a:spcAft>
              <a:buSzPts val="1400"/>
              <a:buNone/>
            </a:pPr>
            <a:r>
              <a:rPr sz="1200"/>
              <a:t>VAJRA repository, VALIDATION.md French radar case and synthetic smoke only.</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https://github.com/omansharora5/ps_2/blob/main/VALIDATION.md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16  Verification and weak labels (S3-6)</a:t>
            </a:r>
            <a:endParaRPr/>
          </a:p>
          <a:p xmlns:a="http://schemas.openxmlformats.org/drawingml/2006/main">
            <a:pPr marL="0" lvl="0" indent="0" algn="l">
              <a:lnSpc>
                <a:spcPct val="100000"/>
              </a:lnSpc>
              <a:spcBef>
                <a:spcPts val="0"/>
              </a:spcBef>
              <a:spcAft>
                <a:spcPts val="0"/>
              </a:spcAft>
              <a:buSzPts val="1400"/>
              <a:buNone/>
            </a:pPr>
            <a:r>
              <a:rPr sz="1200"/>
              <a:t>VAJRA public verification guide Equal cohorts, calibration and reviewed reports. No majority-to-truth or automatic promotion.</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https://github.com/omansharora5/ps_2/blob/main/docs/PUBLIC_VERIFICATION_GUIDE.md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Synthetic smoke: artifacts/regional-research/d95852635db7d3a663ea160588729f78a59c61607c0e300d5d377777bee46cbc/report.json. 20 training steps, 2 synthetic test events. Calibrated lightning Brier 0.23609189291330068; climatology Brier 0.2158203125; Brier skill -0.09392804680189992. Lower Brier is better; this model loses to the baseline. These are computation checks and do not validate lightning forecasts. The NCR status table distinguishes missing matched observations and unmeasured field skill. No operational IMD comparison has been established.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77dbbbd4c342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8d680a250743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dc31f9226c47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600ac89f704d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c2ea9bbd924f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478bb015d44e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f74c80e1aa54ea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94587d5fd13470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2814337d4e4ff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de028d263c047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73d068f5d3e4538" /></Relationships>
</file>

<file path=ppt/slideLayouts/slideLayout1.xml><?xml version="1.0" encoding="utf-8"?>
<p:sldLayout xmlns:p="http://schemas.openxmlformats.org/presentationml/2006/main" matchingName="TITLE" type="title">
  <p:cSld name="TITLE">
    <p:spTree>
      <p:nvGrpSpPr>
        <p:cNvPr id="1" name=""/>
        <p:cNvGrpSpPr/>
        <p:nvPr/>
      </p:nvGrpSpPr>
      <p:grpSpPr>
        <a:xfrm xmlns:a="http://schemas.openxmlformats.org/drawingml/2006/main"/>
      </p:grpSpPr>
      <p:sp>
        <p:nvSpPr>
          <p:cNvPr id="10" name="Google Shape;10;p10">
            <a:extLst xmlns:a="http://schemas.openxmlformats.org/drawingml/2006/main">
              <a:ext uri="{FF2B5EF4-FFF2-40B4-BE49-F238E27FC236}">
                <a16:creationId xmlns:a16="http://schemas.microsoft.com/office/drawing/2014/main" id="{E46FB4B0-3519-47BB-B453-682AD418D768}"/>
              </a:ext>
            </a:extLst>
          </p:cNvPr>
          <p:cNvSpPr>
            <a:spLocks xmlns:a="http://schemas.openxmlformats.org/drawingml/2006/main" noGrp="1"/>
          </p:cNvSpPr>
          <p:nvPr>
            <p:ph type="title" idx="0"/>
          </p:nvPr>
        </p:nvSpPr>
        <p:spPr>
          <a:xfrm xmlns:a="http://schemas.openxmlformats.org/drawingml/2006/main">
            <a:off x="914400" y="2130426"/>
            <a:ext cx="10363200" cy="14700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1" name="Google Shape;11;p10">
            <a:extLst xmlns:a="http://schemas.openxmlformats.org/drawingml/2006/main">
              <a:ext uri="{FF2B5EF4-FFF2-40B4-BE49-F238E27FC236}">
                <a16:creationId xmlns:a16="http://schemas.microsoft.com/office/drawing/2014/main" id="{289F25AA-A72F-4EF9-B2B9-DE2A5C387175}"/>
              </a:ext>
            </a:extLst>
          </p:cNvPr>
          <p:cNvSpPr>
            <a:spLocks xmlns:a="http://schemas.openxmlformats.org/drawingml/2006/main" noGrp="1"/>
          </p:cNvSpPr>
          <p:nvPr>
            <p:ph type="body"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ctr">
              <a:lnSpc>
                <a:spcPct val="100000"/>
              </a:lnSpc>
              <a:spcBef>
                <a:spcPts val="600"/>
              </a:spcBef>
              <a:spcAft>
                <a:spcPts val="0"/>
              </a:spcAft>
              <a:buClr>
                <a:srgbClr val="888888"/>
              </a:buClr>
              <a:buSzPts val="3200"/>
              <a:buFont typeface="Oswald"/>
              <a:buNone/>
              <a:defRPr>
                <a:solidFill>
                  <a:srgbClr val="888888"/>
                </a:solidFill>
              </a:defRPr>
            </a:lvl1pPr>
            <a:lvl2pPr marL="914400" indent="-228600" algn="ctr">
              <a:lnSpc>
                <a:spcPct val="100000"/>
              </a:lnSpc>
              <a:spcBef>
                <a:spcPts val="600"/>
              </a:spcBef>
              <a:spcAft>
                <a:spcPts val="0"/>
              </a:spcAft>
              <a:buClr>
                <a:srgbClr val="888888"/>
              </a:buClr>
              <a:buSzPts val="3200"/>
              <a:buFont typeface="Oswald"/>
              <a:buNone/>
              <a:defRPr>
                <a:solidFill>
                  <a:srgbClr val="888888"/>
                </a:solidFill>
              </a:defRPr>
            </a:lvl2pPr>
            <a:lvl3pPr marL="1371600" indent="-228600" algn="ctr">
              <a:lnSpc>
                <a:spcPct val="100000"/>
              </a:lnSpc>
              <a:spcBef>
                <a:spcPts val="600"/>
              </a:spcBef>
              <a:spcAft>
                <a:spcPts val="0"/>
              </a:spcAft>
              <a:buClr>
                <a:srgbClr val="888888"/>
              </a:buClr>
              <a:buSzPts val="3200"/>
              <a:buFont typeface="Oswald"/>
              <a:buNone/>
              <a:defRPr>
                <a:solidFill>
                  <a:srgbClr val="888888"/>
                </a:solidFill>
              </a:defRPr>
            </a:lvl3pPr>
            <a:lvl4pPr marL="1828800" indent="-228600" algn="ctr">
              <a:lnSpc>
                <a:spcPct val="100000"/>
              </a:lnSpc>
              <a:spcBef>
                <a:spcPts val="600"/>
              </a:spcBef>
              <a:spcAft>
                <a:spcPts val="0"/>
              </a:spcAft>
              <a:buClr>
                <a:srgbClr val="888888"/>
              </a:buClr>
              <a:buSzPts val="3200"/>
              <a:buFont typeface="Oswald"/>
              <a:buNone/>
              <a:defRPr>
                <a:solidFill>
                  <a:srgbClr val="888888"/>
                </a:solidFill>
              </a:defRPr>
            </a:lvl4pPr>
            <a:lvl5pPr marL="2286000" indent="-228600" algn="ctr">
              <a:lnSpc>
                <a:spcPct val="100000"/>
              </a:lnSpc>
              <a:spcBef>
                <a:spcPts val="600"/>
              </a:spcBef>
              <a:spcAft>
                <a:spcPts val="0"/>
              </a:spcAft>
              <a:buClr>
                <a:srgbClr val="888888"/>
              </a:buClr>
              <a:buSzPts val="3200"/>
              <a:buFont typeface="Oswald"/>
              <a:buNone/>
              <a:defRPr>
                <a:solidFill>
                  <a:srgbClr val="888888"/>
                </a:solidFill>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12" name="Google Shape;12;p10">
            <a:extLst xmlns:a="http://schemas.openxmlformats.org/drawingml/2006/main">
              <a:ext uri="{FF2B5EF4-FFF2-40B4-BE49-F238E27FC236}">
                <a16:creationId xmlns:a16="http://schemas.microsoft.com/office/drawing/2014/main" id="{B5FE24C9-D388-4189-89A9-E4101465CA2A}"/>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OBJECT">
  <p:cSld name="TITLE_AND_BODY">
    <p:spTree>
      <p:nvGrpSpPr>
        <p:cNvPr id="1" name=""/>
        <p:cNvGrpSpPr/>
        <p:nvPr/>
      </p:nvGrpSpPr>
      <p:grpSpPr>
        <a:xfrm xmlns:a="http://schemas.openxmlformats.org/drawingml/2006/main"/>
      </p:grpSpPr>
      <p:sp>
        <p:nvSpPr>
          <p:cNvPr id="14" name="Google Shape;14;p11">
            <a:extLst xmlns:a="http://schemas.openxmlformats.org/drawingml/2006/main">
              <a:ext uri="{FF2B5EF4-FFF2-40B4-BE49-F238E27FC236}">
                <a16:creationId xmlns:a16="http://schemas.microsoft.com/office/drawing/2014/main" id="{78DD64DE-27CB-4D13-A3A0-0F0E41D831A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5" name="Google Shape;15;p11">
            <a:extLst xmlns:a="http://schemas.openxmlformats.org/drawingml/2006/main">
              <a:ext uri="{FF2B5EF4-FFF2-40B4-BE49-F238E27FC236}">
                <a16:creationId xmlns:a16="http://schemas.microsoft.com/office/drawing/2014/main" id="{BB012BAF-6CAC-4468-A7D4-CB6E4424741E}"/>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16" name="Google Shape;16;p11">
            <a:extLst xmlns:a="http://schemas.openxmlformats.org/drawingml/2006/main">
              <a:ext uri="{FF2B5EF4-FFF2-40B4-BE49-F238E27FC236}">
                <a16:creationId xmlns:a16="http://schemas.microsoft.com/office/drawing/2014/main" id="{4FE6C54C-7D71-4D8D-B5B0-D037F563B528}"/>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_HEADER" type="secHead">
  <p:cSld name="SECTION_HEADER">
    <p:spTree>
      <p:nvGrpSpPr>
        <p:cNvPr id="1" name=""/>
        <p:cNvGrpSpPr/>
        <p:nvPr/>
      </p:nvGrpSpPr>
      <p:grpSpPr>
        <a:xfrm xmlns:a="http://schemas.openxmlformats.org/drawingml/2006/main"/>
      </p:grpSpPr>
      <p:sp>
        <p:nvSpPr>
          <p:cNvPr id="18" name="Google Shape;18;p12">
            <a:extLst xmlns:a="http://schemas.openxmlformats.org/drawingml/2006/main">
              <a:ext uri="{FF2B5EF4-FFF2-40B4-BE49-F238E27FC236}">
                <a16:creationId xmlns:a16="http://schemas.microsoft.com/office/drawing/2014/main" id="{5AD071B3-DA40-49A3-A99F-41E0CDA783F5}"/>
              </a:ext>
            </a:extLst>
          </p:cNvPr>
          <p:cNvSpPr>
            <a:spLocks xmlns:a="http://schemas.openxmlformats.org/drawingml/2006/main" noGrp="1"/>
          </p:cNvSpPr>
          <p:nvPr>
            <p:ph type="title" idx="0"/>
          </p:nvPr>
        </p:nvSpPr>
        <p:spPr>
          <a:xfrm xmlns:a="http://schemas.openxmlformats.org/drawingml/2006/main">
            <a:off x="963084" y="4406903"/>
            <a:ext cx="10363201" cy="13620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algn="l">
              <a:lnSpc>
                <a:spcPct val="100000"/>
              </a:lnSpc>
              <a:spcBef>
                <a:spcPts val="0"/>
              </a:spcBef>
              <a:spcAft>
                <a:spcPts val="0"/>
              </a:spcAft>
              <a:buClr>
                <a:srgbClr val="000000"/>
              </a:buClr>
              <a:buSzPts val="4000"/>
              <a:buFont typeface="Oswald"/>
              <a:buNone/>
              <a:defRPr sz="4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9" name="Google Shape;19;p12">
            <a:extLst xmlns:a="http://schemas.openxmlformats.org/drawingml/2006/main">
              <a:ext uri="{FF2B5EF4-FFF2-40B4-BE49-F238E27FC236}">
                <a16:creationId xmlns:a16="http://schemas.microsoft.com/office/drawing/2014/main" id="{EB776A40-8597-42BD-B40F-11138E4E37FD}"/>
              </a:ext>
            </a:extLst>
          </p:cNvPr>
          <p:cNvSpPr>
            <a:spLocks xmlns:a="http://schemas.openxmlformats.org/drawingml/2006/main" noGrp="1"/>
          </p:cNvSpPr>
          <p:nvPr>
            <p:ph type="body" idx="1"/>
          </p:nvPr>
        </p:nvSpPr>
        <p:spPr>
          <a:xfrm xmlns:a="http://schemas.openxmlformats.org/drawingml/2006/main">
            <a:off x="963084" y="2906713"/>
            <a:ext cx="10363201" cy="15001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228600" algn="l">
              <a:lnSpc>
                <a:spcPct val="100000"/>
              </a:lnSpc>
              <a:spcBef>
                <a:spcPts val="400"/>
              </a:spcBef>
              <a:spcAft>
                <a:spcPts val="0"/>
              </a:spcAft>
              <a:buClr>
                <a:srgbClr val="888888"/>
              </a:buClr>
              <a:buSzPts val="2000"/>
              <a:buFont typeface="Oswald"/>
              <a:buNone/>
              <a:defRPr sz="2000">
                <a:solidFill>
                  <a:srgbClr val="888888"/>
                </a:solidFill>
              </a:defRPr>
            </a:lvl1pPr>
            <a:lvl2pPr marL="914400" indent="-228600" algn="l">
              <a:lnSpc>
                <a:spcPct val="100000"/>
              </a:lnSpc>
              <a:spcBef>
                <a:spcPts val="400"/>
              </a:spcBef>
              <a:spcAft>
                <a:spcPts val="0"/>
              </a:spcAft>
              <a:buClr>
                <a:srgbClr val="888888"/>
              </a:buClr>
              <a:buSzPts val="2000"/>
              <a:buFont typeface="Oswald"/>
              <a:buNone/>
              <a:defRPr sz="2000">
                <a:solidFill>
                  <a:srgbClr val="888888"/>
                </a:solidFill>
              </a:defRPr>
            </a:lvl2pPr>
            <a:lvl3pPr marL="1371600" indent="-228600" algn="l">
              <a:lnSpc>
                <a:spcPct val="100000"/>
              </a:lnSpc>
              <a:spcBef>
                <a:spcPts val="400"/>
              </a:spcBef>
              <a:spcAft>
                <a:spcPts val="0"/>
              </a:spcAft>
              <a:buClr>
                <a:srgbClr val="888888"/>
              </a:buClr>
              <a:buSzPts val="2000"/>
              <a:buFont typeface="Oswald"/>
              <a:buNone/>
              <a:defRPr sz="2000">
                <a:solidFill>
                  <a:srgbClr val="888888"/>
                </a:solidFill>
              </a:defRPr>
            </a:lvl3pPr>
            <a:lvl4pPr marL="1828800" indent="-228600" algn="l">
              <a:lnSpc>
                <a:spcPct val="100000"/>
              </a:lnSpc>
              <a:spcBef>
                <a:spcPts val="400"/>
              </a:spcBef>
              <a:spcAft>
                <a:spcPts val="0"/>
              </a:spcAft>
              <a:buClr>
                <a:srgbClr val="888888"/>
              </a:buClr>
              <a:buSzPts val="2000"/>
              <a:buFont typeface="Oswald"/>
              <a:buNone/>
              <a:defRPr sz="2000">
                <a:solidFill>
                  <a:srgbClr val="888888"/>
                </a:solidFill>
              </a:defRPr>
            </a:lvl4pPr>
            <a:lvl5pPr marL="2286000" indent="-228600" algn="l">
              <a:lnSpc>
                <a:spcPct val="100000"/>
              </a:lnSpc>
              <a:spcBef>
                <a:spcPts val="400"/>
              </a:spcBef>
              <a:spcAft>
                <a:spcPts val="0"/>
              </a:spcAft>
              <a:buClr>
                <a:srgbClr val="888888"/>
              </a:buClr>
              <a:buSzPts val="2000"/>
              <a:buFont typeface="Oswald"/>
              <a:buNone/>
              <a:defRPr sz="2000">
                <a:solidFill>
                  <a:srgbClr val="888888"/>
                </a:solidFill>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0" name="Google Shape;20;p12">
            <a:extLst xmlns:a="http://schemas.openxmlformats.org/drawingml/2006/main">
              <a:ext uri="{FF2B5EF4-FFF2-40B4-BE49-F238E27FC236}">
                <a16:creationId xmlns:a16="http://schemas.microsoft.com/office/drawing/2014/main" id="{07705C45-E86E-4D71-82C4-A23F3BFF5D98}"/>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_OBJECTS" type="twoObj">
  <p:cSld name="TWO_OBJECTS">
    <p:spTree>
      <p:nvGrpSpPr>
        <p:cNvPr id="1" name=""/>
        <p:cNvGrpSpPr/>
        <p:nvPr/>
      </p:nvGrpSpPr>
      <p:grpSpPr>
        <a:xfrm xmlns:a="http://schemas.openxmlformats.org/drawingml/2006/main"/>
      </p:grpSpPr>
      <p:sp>
        <p:nvSpPr>
          <p:cNvPr id="22" name="Google Shape;22;p13">
            <a:extLst xmlns:a="http://schemas.openxmlformats.org/drawingml/2006/main">
              <a:ext uri="{FF2B5EF4-FFF2-40B4-BE49-F238E27FC236}">
                <a16:creationId xmlns:a16="http://schemas.microsoft.com/office/drawing/2014/main" id="{5C877806-AC4F-4656-817E-22FCD470692D}"/>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23" name="Google Shape;23;p13">
            <a:extLst xmlns:a="http://schemas.openxmlformats.org/drawingml/2006/main">
              <a:ext uri="{FF2B5EF4-FFF2-40B4-BE49-F238E27FC236}">
                <a16:creationId xmlns:a16="http://schemas.microsoft.com/office/drawing/2014/main" id="{05D180B9-AB11-406B-9400-ECB7D8FB178C}"/>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500"/>
              </a:spcBef>
              <a:spcAft>
                <a:spcPts val="0"/>
              </a:spcAft>
              <a:buClr>
                <a:srgbClr val="000000"/>
              </a:buClr>
              <a:buSzPts val="2800"/>
              <a:buFont typeface="Oswald"/>
              <a:buNone/>
              <a:defRPr sz="2800"/>
            </a:lvl1pPr>
            <a:lvl2pPr marL="914400" indent="-228600" algn="l">
              <a:lnSpc>
                <a:spcPct val="100000"/>
              </a:lnSpc>
              <a:spcBef>
                <a:spcPts val="500"/>
              </a:spcBef>
              <a:spcAft>
                <a:spcPts val="0"/>
              </a:spcAft>
              <a:buClr>
                <a:srgbClr val="000000"/>
              </a:buClr>
              <a:buSzPts val="2800"/>
              <a:buFont typeface="Oswald"/>
              <a:buNone/>
              <a:defRPr sz="2800"/>
            </a:lvl2pPr>
            <a:lvl3pPr marL="1371600" indent="-228600" algn="l">
              <a:lnSpc>
                <a:spcPct val="100000"/>
              </a:lnSpc>
              <a:spcBef>
                <a:spcPts val="500"/>
              </a:spcBef>
              <a:spcAft>
                <a:spcPts val="0"/>
              </a:spcAft>
              <a:buClr>
                <a:srgbClr val="000000"/>
              </a:buClr>
              <a:buSzPts val="2800"/>
              <a:buFont typeface="Oswald"/>
              <a:buNone/>
              <a:defRPr sz="2800"/>
            </a:lvl3pPr>
            <a:lvl4pPr marL="1828800" indent="-228600" algn="l">
              <a:lnSpc>
                <a:spcPct val="100000"/>
              </a:lnSpc>
              <a:spcBef>
                <a:spcPts val="500"/>
              </a:spcBef>
              <a:spcAft>
                <a:spcPts val="0"/>
              </a:spcAft>
              <a:buClr>
                <a:srgbClr val="000000"/>
              </a:buClr>
              <a:buSzPts val="2800"/>
              <a:buFont typeface="Oswald"/>
              <a:buNone/>
              <a:defRPr sz="2800"/>
            </a:lvl4pPr>
            <a:lvl5pPr marL="2286000" indent="-228600" algn="l">
              <a:lnSpc>
                <a:spcPct val="100000"/>
              </a:lnSpc>
              <a:spcBef>
                <a:spcPts val="500"/>
              </a:spcBef>
              <a:spcAft>
                <a:spcPts val="0"/>
              </a:spcAft>
              <a:buClr>
                <a:srgbClr val="000000"/>
              </a:buClr>
              <a:buSzPts val="2800"/>
              <a:buFont typeface="Oswald"/>
              <a:buNone/>
              <a:defRPr sz="2800"/>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4" name="Google Shape;24;p13">
            <a:extLst xmlns:a="http://schemas.openxmlformats.org/drawingml/2006/main">
              <a:ext uri="{FF2B5EF4-FFF2-40B4-BE49-F238E27FC236}">
                <a16:creationId xmlns:a16="http://schemas.microsoft.com/office/drawing/2014/main" id="{0811437E-C789-4804-9302-63394C5DADAC}"/>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5" name="Google Shape;25;p13">
            <a:extLst xmlns:a="http://schemas.openxmlformats.org/drawingml/2006/main">
              <a:ext uri="{FF2B5EF4-FFF2-40B4-BE49-F238E27FC236}">
                <a16:creationId xmlns:a16="http://schemas.microsoft.com/office/drawing/2014/main" id="{CD9E63C7-5D48-4595-BD87-13178BB36DAB}"/>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_OBJECTS_WITH_TEXT" type="twoTxTwoObj">
  <p:cSld name="TWO_OBJECTS_WITH_TEXT">
    <p:spTree>
      <p:nvGrpSpPr>
        <p:cNvPr id="1" name=""/>
        <p:cNvGrpSpPr/>
        <p:nvPr/>
      </p:nvGrpSpPr>
      <p:grpSpPr>
        <a:xfrm xmlns:a="http://schemas.openxmlformats.org/drawingml/2006/main"/>
      </p:grpSpPr>
      <p:sp>
        <p:nvSpPr>
          <p:cNvPr id="27" name="Google Shape;27;p14">
            <a:extLst xmlns:a="http://schemas.openxmlformats.org/drawingml/2006/main">
              <a:ext uri="{FF2B5EF4-FFF2-40B4-BE49-F238E27FC236}">
                <a16:creationId xmlns:a16="http://schemas.microsoft.com/office/drawing/2014/main" id="{4043F261-03DC-4DCF-8115-C1A8AC79F22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28" name="Google Shape;28;p14">
            <a:extLst xmlns:a="http://schemas.openxmlformats.org/drawingml/2006/main">
              <a:ext uri="{FF2B5EF4-FFF2-40B4-BE49-F238E27FC236}">
                <a16:creationId xmlns:a16="http://schemas.microsoft.com/office/drawing/2014/main" id="{332C151B-5850-41AC-A13C-9532AFA476A7}"/>
              </a:ext>
            </a:extLst>
          </p:cNvPr>
          <p:cNvSpPr>
            <a:spLocks xmlns:a="http://schemas.openxmlformats.org/drawingml/2006/main" noGrp="1"/>
          </p:cNvSpPr>
          <p:nvPr>
            <p:ph type="body" idx="1"/>
          </p:nvPr>
        </p:nvSpPr>
        <p:spPr>
          <a:xfrm xmlns:a="http://schemas.openxmlformats.org/drawingml/2006/main">
            <a:off x="609600" y="1535112"/>
            <a:ext cx="5386917" cy="639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228600" algn="l">
              <a:lnSpc>
                <a:spcPct val="100000"/>
              </a:lnSpc>
              <a:spcBef>
                <a:spcPts val="400"/>
              </a:spcBef>
              <a:spcAft>
                <a:spcPts val="0"/>
              </a:spcAft>
              <a:buClr>
                <a:srgbClr val="000000"/>
              </a:buClr>
              <a:buSzPts val="2400"/>
              <a:buFont typeface="Oswald"/>
              <a:buNone/>
              <a:defRPr sz="2400" b="1"/>
            </a:lvl1pPr>
            <a:lvl2pPr marL="914400" indent="-228600" algn="l">
              <a:lnSpc>
                <a:spcPct val="100000"/>
              </a:lnSpc>
              <a:spcBef>
                <a:spcPts val="400"/>
              </a:spcBef>
              <a:spcAft>
                <a:spcPts val="0"/>
              </a:spcAft>
              <a:buClr>
                <a:srgbClr val="000000"/>
              </a:buClr>
              <a:buSzPts val="2400"/>
              <a:buFont typeface="Oswald"/>
              <a:buNone/>
              <a:defRPr sz="2400" b="1"/>
            </a:lvl2pPr>
            <a:lvl3pPr marL="1371600" indent="-228600" algn="l">
              <a:lnSpc>
                <a:spcPct val="100000"/>
              </a:lnSpc>
              <a:spcBef>
                <a:spcPts val="400"/>
              </a:spcBef>
              <a:spcAft>
                <a:spcPts val="0"/>
              </a:spcAft>
              <a:buClr>
                <a:srgbClr val="000000"/>
              </a:buClr>
              <a:buSzPts val="2400"/>
              <a:buFont typeface="Oswald"/>
              <a:buNone/>
              <a:defRPr sz="2400" b="1"/>
            </a:lvl3pPr>
            <a:lvl4pPr marL="1828800" indent="-228600" algn="l">
              <a:lnSpc>
                <a:spcPct val="100000"/>
              </a:lnSpc>
              <a:spcBef>
                <a:spcPts val="400"/>
              </a:spcBef>
              <a:spcAft>
                <a:spcPts val="0"/>
              </a:spcAft>
              <a:buClr>
                <a:srgbClr val="000000"/>
              </a:buClr>
              <a:buSzPts val="2400"/>
              <a:buFont typeface="Oswald"/>
              <a:buNone/>
              <a:defRPr sz="2400" b="1"/>
            </a:lvl4pPr>
            <a:lvl5pPr marL="2286000" indent="-228600" algn="l">
              <a:lnSpc>
                <a:spcPct val="100000"/>
              </a:lnSpc>
              <a:spcBef>
                <a:spcPts val="400"/>
              </a:spcBef>
              <a:spcAft>
                <a:spcPts val="0"/>
              </a:spcAft>
              <a:buClr>
                <a:srgbClr val="000000"/>
              </a:buClr>
              <a:buSzPts val="2400"/>
              <a:buFont typeface="Oswald"/>
              <a:buNone/>
              <a:defRPr sz="2400" b="1"/>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9" name="Google Shape;29;p14">
            <a:extLst xmlns:a="http://schemas.openxmlformats.org/drawingml/2006/main">
              <a:ext uri="{FF2B5EF4-FFF2-40B4-BE49-F238E27FC236}">
                <a16:creationId xmlns:a16="http://schemas.microsoft.com/office/drawing/2014/main" id="{0A70A03E-5500-4B2D-AD99-19A7B4CBC014}"/>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0" name="Google Shape;30;p14">
            <a:extLst xmlns:a="http://schemas.openxmlformats.org/drawingml/2006/main">
              <a:ext uri="{FF2B5EF4-FFF2-40B4-BE49-F238E27FC236}">
                <a16:creationId xmlns:a16="http://schemas.microsoft.com/office/drawing/2014/main" id="{14148A70-C03B-4E84-9BFA-DE49D8E3FBE7}"/>
              </a:ext>
            </a:extLst>
          </p:cNvPr>
          <p:cNvSpPr>
            <a:spLocks xmlns:a="http://schemas.openxmlformats.org/drawingml/2006/main" noGrp="1"/>
          </p:cNvSpPr>
          <p:nvPr>
            <p:ph type="body" idx="3"/>
          </p:nvPr>
        </p:nvSpPr>
        <p:spPr>
          <a:xfrm xmlns:a="http://schemas.openxmlformats.org/drawingml/2006/main">
            <a:off x="6193367" y="1535111"/>
            <a:ext cx="5389036" cy="6397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1" name="Google Shape;31;p14">
            <a:extLst xmlns:a="http://schemas.openxmlformats.org/drawingml/2006/main">
              <a:ext uri="{FF2B5EF4-FFF2-40B4-BE49-F238E27FC236}">
                <a16:creationId xmlns:a16="http://schemas.microsoft.com/office/drawing/2014/main" id="{430DC7F7-2185-4987-BCE3-5279862FD1F5}"/>
              </a:ext>
            </a:extLst>
          </p:cNvPr>
          <p:cNvSpPr>
            <a:spLocks xmlns:a="http://schemas.openxmlformats.org/drawingml/2006/main" noGrp="1"/>
          </p:cNvSpPr>
          <p:nvPr>
            <p:ph type="body" idx="4"/>
          </p:nvPr>
        </p:nvSpPr>
        <p:spPr>
          <a:xfrm xmlns:a="http://schemas.openxmlformats.org/drawingml/2006/main">
            <a:off x="6193367" y="2174875"/>
            <a:ext cx="5389036"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2" name="Google Shape;32;p14">
            <a:extLst xmlns:a="http://schemas.openxmlformats.org/drawingml/2006/main">
              <a:ext uri="{FF2B5EF4-FFF2-40B4-BE49-F238E27FC236}">
                <a16:creationId xmlns:a16="http://schemas.microsoft.com/office/drawing/2014/main" id="{4424EECC-827F-4C60-A98A-DB7E94E60553}"/>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_ONLY" type="titleOnly">
  <p:cSld name="TITLE_ONLY">
    <p:spTree>
      <p:nvGrpSpPr>
        <p:cNvPr id="1" name=""/>
        <p:cNvGrpSpPr/>
        <p:nvPr/>
      </p:nvGrpSpPr>
      <p:grpSpPr>
        <a:xfrm xmlns:a="http://schemas.openxmlformats.org/drawingml/2006/main"/>
      </p:grpSpPr>
      <p:sp>
        <p:nvSpPr>
          <p:cNvPr id="34" name="Google Shape;34;p15">
            <a:extLst xmlns:a="http://schemas.openxmlformats.org/drawingml/2006/main">
              <a:ext uri="{FF2B5EF4-FFF2-40B4-BE49-F238E27FC236}">
                <a16:creationId xmlns:a16="http://schemas.microsoft.com/office/drawing/2014/main" id="{EF0CA023-A6D2-4757-9783-EDC3B3577D1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35" name="Google Shape;35;p15">
            <a:extLst xmlns:a="http://schemas.openxmlformats.org/drawingml/2006/main">
              <a:ext uri="{FF2B5EF4-FFF2-40B4-BE49-F238E27FC236}">
                <a16:creationId xmlns:a16="http://schemas.microsoft.com/office/drawing/2014/main" id="{D365C0EB-B05E-441C-BA78-D0A7A1E3368B}"/>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37" name="Google Shape;37;p16">
            <a:extLst xmlns:a="http://schemas.openxmlformats.org/drawingml/2006/main">
              <a:ext uri="{FF2B5EF4-FFF2-40B4-BE49-F238E27FC236}">
                <a16:creationId xmlns:a16="http://schemas.microsoft.com/office/drawing/2014/main" id="{0F130EC3-48D8-442A-903D-9C7999BCBCDF}"/>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OBJECT_WITH_CAPTION_TEXT" type="objTx">
  <p:cSld name="OBJECT_WITH_CAPTION_TEXT">
    <p:spTree>
      <p:nvGrpSpPr>
        <p:cNvPr id="1" name=""/>
        <p:cNvGrpSpPr/>
        <p:nvPr/>
      </p:nvGrpSpPr>
      <p:grpSpPr>
        <a:xfrm xmlns:a="http://schemas.openxmlformats.org/drawingml/2006/main"/>
      </p:grpSpPr>
      <p:sp>
        <p:nvSpPr>
          <p:cNvPr id="39" name="Google Shape;39;p17">
            <a:extLst xmlns:a="http://schemas.openxmlformats.org/drawingml/2006/main">
              <a:ext uri="{FF2B5EF4-FFF2-40B4-BE49-F238E27FC236}">
                <a16:creationId xmlns:a16="http://schemas.microsoft.com/office/drawing/2014/main" id="{51A84F91-CE5A-4726-9D4B-B5882035DD54}"/>
              </a:ext>
            </a:extLst>
          </p:cNvPr>
          <p:cNvSpPr>
            <a:spLocks xmlns:a="http://schemas.openxmlformats.org/drawingml/2006/main" noGrp="1"/>
          </p:cNvSpPr>
          <p:nvPr>
            <p:ph type="title" idx="0"/>
          </p:nvPr>
        </p:nvSpPr>
        <p:spPr>
          <a:xfrm xmlns:a="http://schemas.openxmlformats.org/drawingml/2006/main">
            <a:off x="609601" y="273050"/>
            <a:ext cx="4011086"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algn="l">
              <a:lnSpc>
                <a:spcPct val="100000"/>
              </a:lnSpc>
              <a:spcBef>
                <a:spcPts val="0"/>
              </a:spcBef>
              <a:spcAft>
                <a:spcPts val="0"/>
              </a:spcAft>
              <a:buClr>
                <a:srgbClr val="000000"/>
              </a:buClr>
              <a:buSzPts val="2000"/>
              <a:buFont typeface="Oswald"/>
              <a:buNone/>
              <a:defRPr sz="2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40" name="Google Shape;40;p17">
            <a:extLst xmlns:a="http://schemas.openxmlformats.org/drawingml/2006/main">
              <a:ext uri="{FF2B5EF4-FFF2-40B4-BE49-F238E27FC236}">
                <a16:creationId xmlns:a16="http://schemas.microsoft.com/office/drawing/2014/main" id="{EFFAE74C-0891-4848-A007-0CBB8C5AB1A8}"/>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600"/>
              </a:spcBef>
              <a:spcAft>
                <a:spcPts val="0"/>
              </a:spcAft>
              <a:buClr>
                <a:srgbClr val="000000"/>
              </a:buClr>
              <a:buSzPts val="1800"/>
              <a:buNone/>
              <a:defRPr/>
            </a:lvl1pPr>
            <a:lvl2pPr marL="914400" indent="-228600" algn="l">
              <a:lnSpc>
                <a:spcPct val="100000"/>
              </a:lnSpc>
              <a:spcBef>
                <a:spcPts val="600"/>
              </a:spcBef>
              <a:spcAft>
                <a:spcPts val="0"/>
              </a:spcAft>
              <a:buClr>
                <a:srgbClr val="000000"/>
              </a:buClr>
              <a:buSzPts val="1800"/>
              <a:buNone/>
              <a:defRPr/>
            </a:lvl2pPr>
            <a:lvl3pPr marL="1371600" indent="-228600" algn="l">
              <a:lnSpc>
                <a:spcPct val="100000"/>
              </a:lnSpc>
              <a:spcBef>
                <a:spcPts val="600"/>
              </a:spcBef>
              <a:spcAft>
                <a:spcPts val="0"/>
              </a:spcAft>
              <a:buClr>
                <a:srgbClr val="000000"/>
              </a:buClr>
              <a:buSzPts val="1800"/>
              <a:buNone/>
              <a:defRPr/>
            </a:lvl3pPr>
            <a:lvl4pPr marL="1828800" indent="-228600" algn="l">
              <a:lnSpc>
                <a:spcPct val="100000"/>
              </a:lnSpc>
              <a:spcBef>
                <a:spcPts val="600"/>
              </a:spcBef>
              <a:spcAft>
                <a:spcPts val="0"/>
              </a:spcAft>
              <a:buClr>
                <a:srgbClr val="000000"/>
              </a:buClr>
              <a:buSzPts val="1800"/>
              <a:buNone/>
              <a:defRPr/>
            </a:lvl4pPr>
            <a:lvl5pPr marL="2286000" indent="-228600" algn="l">
              <a:lnSpc>
                <a:spcPct val="100000"/>
              </a:lnSpc>
              <a:spcBef>
                <a:spcPts val="600"/>
              </a:spcBef>
              <a:spcAft>
                <a:spcPts val="0"/>
              </a:spcAft>
              <a:buClr>
                <a:srgbClr val="000000"/>
              </a:buClr>
              <a:buSzPts val="1800"/>
              <a:buNone/>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1" name="Google Shape;41;p17">
            <a:extLst xmlns:a="http://schemas.openxmlformats.org/drawingml/2006/main">
              <a:ext uri="{FF2B5EF4-FFF2-40B4-BE49-F238E27FC236}">
                <a16:creationId xmlns:a16="http://schemas.microsoft.com/office/drawing/2014/main" id="{A7B86AE4-F77B-4D72-933F-89B93A99759A}"/>
              </a:ext>
            </a:extLst>
          </p:cNvPr>
          <p:cNvSpPr>
            <a:spLocks xmlns:a="http://schemas.openxmlformats.org/drawingml/2006/main" noGrp="1"/>
          </p:cNvSpPr>
          <p:nvPr>
            <p:ph type="body" idx="2"/>
          </p:nvPr>
        </p:nvSpPr>
        <p:spPr>
          <a:xfrm xmlns:a="http://schemas.openxmlformats.org/drawingml/2006/main">
            <a:off x="609601" y="1435103"/>
            <a:ext cx="4011086"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2" name="Google Shape;42;p17">
            <a:extLst xmlns:a="http://schemas.openxmlformats.org/drawingml/2006/main">
              <a:ext uri="{FF2B5EF4-FFF2-40B4-BE49-F238E27FC236}">
                <a16:creationId xmlns:a16="http://schemas.microsoft.com/office/drawing/2014/main" id="{23036E72-B263-4554-B1F1-2046447E4AA5}"/>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_WITH_CAPTION_TEXT" type="picTx">
  <p:cSld name="PICTURE_WITH_CAPTION_TEXT">
    <p:spTree>
      <p:nvGrpSpPr>
        <p:cNvPr id="1" name=""/>
        <p:cNvGrpSpPr/>
        <p:nvPr/>
      </p:nvGrpSpPr>
      <p:grpSpPr>
        <a:xfrm xmlns:a="http://schemas.openxmlformats.org/drawingml/2006/main"/>
      </p:grpSpPr>
      <p:sp>
        <p:nvSpPr>
          <p:cNvPr id="44" name="Google Shape;44;p18">
            <a:extLst xmlns:a="http://schemas.openxmlformats.org/drawingml/2006/main">
              <a:ext uri="{FF2B5EF4-FFF2-40B4-BE49-F238E27FC236}">
                <a16:creationId xmlns:a16="http://schemas.microsoft.com/office/drawing/2014/main" id="{37E29C33-A897-438C-B483-3C9E2D7E431F}"/>
              </a:ext>
            </a:extLst>
          </p:cNvPr>
          <p:cNvSpPr>
            <a:spLocks xmlns:a="http://schemas.openxmlformats.org/drawingml/2006/main" noGrp="1"/>
          </p:cNvSpPr>
          <p:nvPr>
            <p:ph type="title" idx="0"/>
          </p:nvPr>
        </p:nvSpPr>
        <p:spPr>
          <a:xfrm xmlns:a="http://schemas.openxmlformats.org/drawingml/2006/main">
            <a:off x="2389715" y="4800600"/>
            <a:ext cx="7315202"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algn="l">
              <a:lnSpc>
                <a:spcPct val="100000"/>
              </a:lnSpc>
              <a:spcBef>
                <a:spcPts val="0"/>
              </a:spcBef>
              <a:spcAft>
                <a:spcPts val="0"/>
              </a:spcAft>
              <a:buClr>
                <a:srgbClr val="000000"/>
              </a:buClr>
              <a:buSzPts val="2000"/>
              <a:buFont typeface="Oswald"/>
              <a:buNone/>
              <a:defRPr sz="2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45" name="Google Shape;45;p18">
            <a:extLst xmlns:a="http://schemas.openxmlformats.org/drawingml/2006/main">
              <a:ext uri="{FF2B5EF4-FFF2-40B4-BE49-F238E27FC236}">
                <a16:creationId xmlns:a16="http://schemas.microsoft.com/office/drawing/2014/main" id="{789E4CBF-9370-4B3F-8C6B-E020C433F0C8}"/>
              </a:ext>
            </a:extLst>
          </p:cNvPr>
          <p:cNvSpPr>
            <a:spLocks xmlns:a="http://schemas.openxmlformats.org/drawingml/2006/main" noGrp="1"/>
          </p:cNvSpPr>
          <p:nvPr>
            <p:ph type="pic" idx="2"/>
          </p:nvPr>
        </p:nvSpPr>
        <p:spPr>
          <a:xfrm xmlns:a="http://schemas.openxmlformats.org/drawingml/2006/main">
            <a:off x="2389715" y="612775"/>
            <a:ext cx="7315202" cy="4114800"/>
          </a:xfrm>
          <a:prstGeom xmlns:a="http://schemas.openxmlformats.org/drawingml/2006/main" prst="rect">
            <a:avLst/>
          </a:prstGeom>
          <a:noFill xmlns:a="http://schemas.openxmlformats.org/drawingml/2006/main"/>
          <a:ln xmlns:a="http://schemas.openxmlformats.org/drawingml/2006/main">
            <a:noFill/>
          </a:ln>
        </p:spPr>
      </p:sp>
      <p:sp>
        <p:nvSpPr>
          <p:cNvPr id="46" name="Google Shape;46;p18">
            <a:extLst xmlns:a="http://schemas.openxmlformats.org/drawingml/2006/main">
              <a:ext uri="{FF2B5EF4-FFF2-40B4-BE49-F238E27FC236}">
                <a16:creationId xmlns:a16="http://schemas.microsoft.com/office/drawing/2014/main" id="{3F4C5E8A-445B-41BD-ACCE-E0313C0F759A}"/>
              </a:ext>
            </a:extLst>
          </p:cNvPr>
          <p:cNvSpPr>
            <a:spLocks xmlns:a="http://schemas.openxmlformats.org/drawingml/2006/main" noGrp="1"/>
          </p:cNvSpPr>
          <p:nvPr>
            <p:ph type="body" idx="1"/>
          </p:nvPr>
        </p:nvSpPr>
        <p:spPr>
          <a:xfrm xmlns:a="http://schemas.openxmlformats.org/drawingml/2006/main">
            <a:off x="2389715" y="5367337"/>
            <a:ext cx="7315202" cy="804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200"/>
              </a:spcBef>
              <a:spcAft>
                <a:spcPts val="0"/>
              </a:spcAft>
              <a:buClr>
                <a:srgbClr val="000000"/>
              </a:buClr>
              <a:buSzPts val="1400"/>
              <a:buFont typeface="Oswald"/>
              <a:buNone/>
              <a:defRPr sz="1400"/>
            </a:lvl1pPr>
            <a:lvl2pPr marL="914400" indent="-228600" algn="l">
              <a:lnSpc>
                <a:spcPct val="100000"/>
              </a:lnSpc>
              <a:spcBef>
                <a:spcPts val="200"/>
              </a:spcBef>
              <a:spcAft>
                <a:spcPts val="0"/>
              </a:spcAft>
              <a:buClr>
                <a:srgbClr val="000000"/>
              </a:buClr>
              <a:buSzPts val="1400"/>
              <a:buFont typeface="Oswald"/>
              <a:buNone/>
              <a:defRPr sz="1400"/>
            </a:lvl2pPr>
            <a:lvl3pPr marL="1371600" indent="-228600" algn="l">
              <a:lnSpc>
                <a:spcPct val="100000"/>
              </a:lnSpc>
              <a:spcBef>
                <a:spcPts val="200"/>
              </a:spcBef>
              <a:spcAft>
                <a:spcPts val="0"/>
              </a:spcAft>
              <a:buClr>
                <a:srgbClr val="000000"/>
              </a:buClr>
              <a:buSzPts val="1400"/>
              <a:buFont typeface="Oswald"/>
              <a:buNone/>
              <a:defRPr sz="1400"/>
            </a:lvl3pPr>
            <a:lvl4pPr marL="1828800" indent="-228600" algn="l">
              <a:lnSpc>
                <a:spcPct val="100000"/>
              </a:lnSpc>
              <a:spcBef>
                <a:spcPts val="200"/>
              </a:spcBef>
              <a:spcAft>
                <a:spcPts val="0"/>
              </a:spcAft>
              <a:buClr>
                <a:srgbClr val="000000"/>
              </a:buClr>
              <a:buSzPts val="1400"/>
              <a:buFont typeface="Oswald"/>
              <a:buNone/>
              <a:defRPr sz="1400"/>
            </a:lvl4pPr>
            <a:lvl5pPr marL="2286000" indent="-228600" algn="l">
              <a:lnSpc>
                <a:spcPct val="100000"/>
              </a:lnSpc>
              <a:spcBef>
                <a:spcPts val="200"/>
              </a:spcBef>
              <a:spcAft>
                <a:spcPts val="0"/>
              </a:spcAft>
              <a:buClr>
                <a:srgbClr val="000000"/>
              </a:buClr>
              <a:buSzPts val="1400"/>
              <a:buFont typeface="Oswald"/>
              <a:buNone/>
              <a:defRPr sz="1400"/>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7" name="Google Shape;47;p18">
            <a:extLst xmlns:a="http://schemas.openxmlformats.org/drawingml/2006/main">
              <a:ext uri="{FF2B5EF4-FFF2-40B4-BE49-F238E27FC236}">
                <a16:creationId xmlns:a16="http://schemas.microsoft.com/office/drawing/2014/main" id="{B78B66CB-E261-4551-9210-767AA6D4673E}"/>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VERTICAL_TEXT" type="vertTx">
  <p:cSld name="VERTICAL_TEXT">
    <p:spTree>
      <p:nvGrpSpPr>
        <p:cNvPr id="1" name=""/>
        <p:cNvGrpSpPr/>
        <p:nvPr/>
      </p:nvGrpSpPr>
      <p:grpSpPr>
        <a:xfrm xmlns:a="http://schemas.openxmlformats.org/drawingml/2006/main"/>
      </p:grpSpPr>
      <p:sp>
        <p:nvSpPr>
          <p:cNvPr id="49" name="Google Shape;49;p19">
            <a:extLst xmlns:a="http://schemas.openxmlformats.org/drawingml/2006/main">
              <a:ext uri="{FF2B5EF4-FFF2-40B4-BE49-F238E27FC236}">
                <a16:creationId xmlns:a16="http://schemas.microsoft.com/office/drawing/2014/main" id="{01B67EEF-5B2D-4DE6-B453-C8591367D3CE}"/>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50" name="Google Shape;50;p19">
            <a:extLst xmlns:a="http://schemas.openxmlformats.org/drawingml/2006/main">
              <a:ext uri="{FF2B5EF4-FFF2-40B4-BE49-F238E27FC236}">
                <a16:creationId xmlns:a16="http://schemas.microsoft.com/office/drawing/2014/main" id="{04C94E09-05F2-4686-A37C-3F643B570A2E}"/>
              </a:ext>
            </a:extLst>
          </p:cNvPr>
          <p:cNvSpPr>
            <a:spLocks xmlns:a="http://schemas.openxmlformats.org/drawingml/2006/main" noGrp="1"/>
          </p:cNvSpPr>
          <p:nvPr>
            <p:ph type="body" idx="1"/>
          </p:nvPr>
        </p:nvSpPr>
        <p:spPr>
          <a:xfrm xmlns:a="http://schemas.openxmlformats.org/drawingml/2006/main" rot="5400000">
            <a:off x="3580605" y="-1875633"/>
            <a:ext cx="5030790" cy="109728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51" name="Google Shape;51;p19">
            <a:extLst xmlns:a="http://schemas.openxmlformats.org/drawingml/2006/main">
              <a:ext uri="{FF2B5EF4-FFF2-40B4-BE49-F238E27FC236}">
                <a16:creationId xmlns:a16="http://schemas.microsoft.com/office/drawing/2014/main" id="{20AAD725-445B-4825-8376-65CE72747671}"/>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_TITLE_AND_VERTICAL_TEXT" type="vertTitleAndTx">
  <p:cSld name="VERTICAL_TITLE_AND_VERTICAL_TEXT">
    <p:spTree>
      <p:nvGrpSpPr>
        <p:cNvPr id="1" name=""/>
        <p:cNvGrpSpPr/>
        <p:nvPr/>
      </p:nvGrpSpPr>
      <p:grpSpPr>
        <a:xfrm xmlns:a="http://schemas.openxmlformats.org/drawingml/2006/main"/>
      </p:grpSpPr>
      <p:sp>
        <p:nvSpPr>
          <p:cNvPr id="53" name="Google Shape;53;p20">
            <a:extLst xmlns:a="http://schemas.openxmlformats.org/drawingml/2006/main">
              <a:ext uri="{FF2B5EF4-FFF2-40B4-BE49-F238E27FC236}">
                <a16:creationId xmlns:a16="http://schemas.microsoft.com/office/drawing/2014/main" id="{CA1FD306-FA9C-46C5-94E6-8708E86B9824}"/>
              </a:ext>
            </a:extLst>
          </p:cNvPr>
          <p:cNvSpPr>
            <a:spLocks xmlns:a="http://schemas.openxmlformats.org/drawingml/2006/main" noGrp="1"/>
          </p:cNvSpPr>
          <p:nvPr>
            <p:ph type="title" idx="0"/>
          </p:nvPr>
        </p:nvSpPr>
        <p:spPr>
          <a:xfrm xmlns:a="http://schemas.openxmlformats.org/drawingml/2006/main" rot="5400000">
            <a:off x="7285038" y="1828804"/>
            <a:ext cx="5851527" cy="27432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54" name="Google Shape;54;p20">
            <a:extLst xmlns:a="http://schemas.openxmlformats.org/drawingml/2006/main">
              <a:ext uri="{FF2B5EF4-FFF2-40B4-BE49-F238E27FC236}">
                <a16:creationId xmlns:a16="http://schemas.microsoft.com/office/drawing/2014/main" id="{07D1D922-9BED-490F-9169-9C9D0D393A3C}"/>
              </a:ext>
            </a:extLst>
          </p:cNvPr>
          <p:cNvSpPr>
            <a:spLocks xmlns:a="http://schemas.openxmlformats.org/drawingml/2006/main" noGrp="1"/>
          </p:cNvSpPr>
          <p:nvPr>
            <p:ph type="body" idx="1"/>
          </p:nvPr>
        </p:nvSpPr>
        <p:spPr>
          <a:xfrm xmlns:a="http://schemas.openxmlformats.org/drawingml/2006/main" rot="5400000">
            <a:off x="1697038" y="-812796"/>
            <a:ext cx="5851527" cy="8026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55" name="Google Shape;55;p20">
            <a:extLst xmlns:a="http://schemas.openxmlformats.org/drawingml/2006/main">
              <a:ext uri="{FF2B5EF4-FFF2-40B4-BE49-F238E27FC236}">
                <a16:creationId xmlns:a16="http://schemas.microsoft.com/office/drawing/2014/main" id="{F0BB451E-3F98-4609-9291-D999BBF0FC17}"/>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f065caf6f34e71" /><Relationship Type="http://schemas.openxmlformats.org/officeDocument/2006/relationships/slideLayout" Target="/ppt/slideLayouts/slideLayout1.xml" Id="Rb41eb6fec90b4df5" /><Relationship Type="http://schemas.openxmlformats.org/officeDocument/2006/relationships/slideLayout" Target="/ppt/slideLayouts/slideLayout2.xml" Id="R327bae5870d24f9b" /><Relationship Type="http://schemas.openxmlformats.org/officeDocument/2006/relationships/slideLayout" Target="/ppt/slideLayouts/slideLayout3.xml" Id="Rb72b89d58e514036" /><Relationship Type="http://schemas.openxmlformats.org/officeDocument/2006/relationships/slideLayout" Target="/ppt/slideLayouts/slideLayout4.xml" Id="Rf1902c33dc9b4698" /><Relationship Type="http://schemas.openxmlformats.org/officeDocument/2006/relationships/slideLayout" Target="/ppt/slideLayouts/slideLayout5.xml" Id="Re6bb9d48e75c4b8b" /><Relationship Type="http://schemas.openxmlformats.org/officeDocument/2006/relationships/slideLayout" Target="/ppt/slideLayouts/slideLayout6.xml" Id="Rc245f3bdbc254286" /><Relationship Type="http://schemas.openxmlformats.org/officeDocument/2006/relationships/slideLayout" Target="/ppt/slideLayouts/slideLayout7.xml" Id="Rdcfc11ce2f4e4c38" /><Relationship Type="http://schemas.openxmlformats.org/officeDocument/2006/relationships/slideLayout" Target="/ppt/slideLayouts/slideLayout8.xml" Id="Re6c7d340fc3540ff" /><Relationship Type="http://schemas.openxmlformats.org/officeDocument/2006/relationships/slideLayout" Target="/ppt/slideLayouts/slideLayout9.xml" Id="R7d678f6f4a5d4505" /><Relationship Type="http://schemas.openxmlformats.org/officeDocument/2006/relationships/slideLayout" Target="/ppt/slideLayouts/slideLayout10.xml" Id="R5e02df31cd9649d2" /><Relationship Type="http://schemas.openxmlformats.org/officeDocument/2006/relationships/slideLayout" Target="/ppt/slideLayouts/slideLayout11.xml" Id="R50918148d4f24fd8"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 Shape;6;p9">
            <a:extLst xmlns:a="http://schemas.openxmlformats.org/drawingml/2006/main">
              <a:ext uri="{FF2B5EF4-FFF2-40B4-BE49-F238E27FC236}">
                <a16:creationId xmlns:a16="http://schemas.microsoft.com/office/drawing/2014/main" id="{D070745A-1ED2-4168-8529-56DF52E2DDE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1pPr>
            <a:lvl2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2pPr>
            <a:lvl3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3pPr>
            <a:lvl4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4pPr>
            <a:lvl5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5pPr>
            <a:lvl6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6pPr>
            <a:lvl7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7pPr>
            <a:lvl8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8pPr>
            <a:lvl9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9pPr>
          </a:lstStyle>
          <a:p xmlns:a="http://schemas.openxmlformats.org/drawingml/2006/main"/>
        </p:txBody>
      </p:sp>
      <p:sp>
        <p:nvSpPr>
          <p:cNvPr id="7" name="Google Shape;7;p9">
            <a:extLst xmlns:a="http://schemas.openxmlformats.org/drawingml/2006/main">
              <a:ext uri="{FF2B5EF4-FFF2-40B4-BE49-F238E27FC236}">
                <a16:creationId xmlns:a16="http://schemas.microsoft.com/office/drawing/2014/main" id="{A19E9DBF-96E3-4E2D-B221-9C0FBCC55BAB}"/>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1pPr>
            <a:lvl2pPr marL="9144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2pPr>
            <a:lvl3pPr marL="13716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3pPr>
            <a:lvl4pPr marL="18288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4pPr>
            <a:lvl5pPr marL="22860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5pPr>
            <a:lvl6pPr marL="27432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6pPr>
            <a:lvl7pPr marL="32004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7pPr>
            <a:lvl8pPr marL="36576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8pPr>
            <a:lvl9pPr marL="41148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9pPr>
          </a:lstStyle>
          <a:p xmlns:a="http://schemas.openxmlformats.org/drawingml/2006/main"/>
        </p:txBody>
      </p:sp>
      <p:sp>
        <p:nvSpPr>
          <p:cNvPr id="8" name="Google Shape;8;p9">
            <a:extLst xmlns:a="http://schemas.openxmlformats.org/drawingml/2006/main">
              <a:ext uri="{FF2B5EF4-FFF2-40B4-BE49-F238E27FC236}">
                <a16:creationId xmlns:a16="http://schemas.microsoft.com/office/drawing/2014/main" id="{2386E290-6AFE-4233-82AC-A6DCF1D86837}"/>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41eb6fec90b4df5"/>
    <p:sldLayoutId xmlns:r="http://schemas.openxmlformats.org/officeDocument/2006/relationships" id="2147483650" r:id="R327bae5870d24f9b"/>
    <p:sldLayoutId xmlns:r="http://schemas.openxmlformats.org/officeDocument/2006/relationships" id="2147483651" r:id="Rb72b89d58e514036"/>
    <p:sldLayoutId xmlns:r="http://schemas.openxmlformats.org/officeDocument/2006/relationships" id="2147483652" r:id="Rf1902c33dc9b4698"/>
    <p:sldLayoutId xmlns:r="http://schemas.openxmlformats.org/officeDocument/2006/relationships" id="2147483653" r:id="Re6bb9d48e75c4b8b"/>
    <p:sldLayoutId xmlns:r="http://schemas.openxmlformats.org/officeDocument/2006/relationships" id="2147483654" r:id="Rc245f3bdbc254286"/>
    <p:sldLayoutId xmlns:r="http://schemas.openxmlformats.org/officeDocument/2006/relationships" id="2147483655" r:id="Rdcfc11ce2f4e4c38"/>
    <p:sldLayoutId xmlns:r="http://schemas.openxmlformats.org/officeDocument/2006/relationships" id="2147483656" r:id="Re6c7d340fc3540ff"/>
    <p:sldLayoutId xmlns:r="http://schemas.openxmlformats.org/officeDocument/2006/relationships" id="2147483657" r:id="R7d678f6f4a5d4505"/>
    <p:sldLayoutId xmlns:r="http://schemas.openxmlformats.org/officeDocument/2006/relationships" id="2147483658" r:id="R5e02df31cd9649d2"/>
    <p:sldLayoutId xmlns:r="http://schemas.openxmlformats.org/officeDocument/2006/relationships" id="2147483659" r:id="R50918148d4f24fd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de34573cbf432e" /><Relationship Type="http://schemas.openxmlformats.org/officeDocument/2006/relationships/image" Target="/ppt/media/image.png" Id="R4ad04784fa564eb6" /><Relationship Type="http://schemas.openxmlformats.org/officeDocument/2006/relationships/image" Target="/ppt/media/image2.png" Id="Rc59c232b53b04365" /><Relationship Type="http://schemas.openxmlformats.org/officeDocument/2006/relationships/notesSlide" Target="/ppt/notesSlides/notesSlide1.xml" Id="R7831592995934d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1b39f6186f24444" /><Relationship Type="http://schemas.openxmlformats.org/officeDocument/2006/relationships/image" Target="/ppt/media/image2.png" Id="Rf58f63490522459b" /><Relationship Type="http://schemas.openxmlformats.org/officeDocument/2006/relationships/image" Target="/ppt/media/image3.png" Id="R25aacf5e199b4f8c" /><Relationship Type="http://schemas.openxmlformats.org/officeDocument/2006/relationships/notesSlide" Target="/ppt/notesSlides/notesSlide2.xml" Id="R4afc03cd4c6847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74bb9ca750e4873" /><Relationship Type="http://schemas.openxmlformats.org/officeDocument/2006/relationships/image" Target="/ppt/media/image2.png" Id="R3227429de5ad4c9f" /><Relationship Type="http://schemas.openxmlformats.org/officeDocument/2006/relationships/notesSlide" Target="/ppt/notesSlides/notesSlide3.xml" Id="R0ebd131f08e541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82c0daf4f734ba7" /><Relationship Type="http://schemas.openxmlformats.org/officeDocument/2006/relationships/image" Target="/ppt/media/image2.png" Id="R3f03e7c8f7e24859" /><Relationship Type="http://schemas.openxmlformats.org/officeDocument/2006/relationships/notesSlide" Target="/ppt/notesSlides/notesSlide4.xml" Id="R4af1907c9a0c4c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c88dae5e4bc4a05" /><Relationship Type="http://schemas.openxmlformats.org/officeDocument/2006/relationships/image" Target="/ppt/media/image2.png" Id="R90f84cb2823b486b" /><Relationship Type="http://schemas.openxmlformats.org/officeDocument/2006/relationships/chart" Target="/ppt/slides/charts/chart1.xml" Id="R5894ece288a84a43" /><Relationship Type="http://schemas.openxmlformats.org/officeDocument/2006/relationships/notesSlide" Target="/ppt/notesSlides/notesSlide5.xml" Id="Rf77f77bada1f49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a569ae44d0f48fc" /><Relationship Type="http://schemas.openxmlformats.org/officeDocument/2006/relationships/image" Target="/ppt/media/image2.png" Id="R3dbd88d971ea43cb" /><Relationship Type="http://schemas.openxmlformats.org/officeDocument/2006/relationships/hyperlink" Target="https://www.mha.gov.in/MHA1/Par2017/pdfs/par2022-pdfs/RS27072022/1197.pdf" TargetMode="External" Id="R64003c87e7944788" /><Relationship Type="http://schemas.openxmlformats.org/officeDocument/2006/relationships/hyperlink" Target="https://www.mha.gov.in/MHA1/Par2017/pdfs/par2022-pdfs/RS27072022/1197.pdf" TargetMode="External" Id="R7a11188a9c8f47f7" /><Relationship Type="http://schemas.openxmlformats.org/officeDocument/2006/relationships/hyperlink" Target="https://www.mha.gov.in/MHA1/Par2017/pdfs/par2022-pdfs/RS27072022/1197.pdf" TargetMode="External" Id="R5e990fd72f564bad" /><Relationship Type="http://schemas.openxmlformats.org/officeDocument/2006/relationships/hyperlink" Target="https://www.mha.gov.in/MHA1/Par2017/pdfs/par2022-pdfs/RS27072022/1197.pdf" TargetMode="External" Id="Ra3eff8e7c43e4c7d" /><Relationship Type="http://schemas.openxmlformats.org/officeDocument/2006/relationships/hyperlink" Target="https://www.pib.gov.in/PressReleasePage.aspx?PRID=1813993" TargetMode="External" Id="R9bebd292bf6e441c" /><Relationship Type="http://schemas.openxmlformats.org/officeDocument/2006/relationships/hyperlink" Target="https://www.pib.gov.in/PressReleasePage.aspx?PRID=1813993" TargetMode="External" Id="Reec4a67f256d46a5" /><Relationship Type="http://schemas.openxmlformats.org/officeDocument/2006/relationships/hyperlink" Target="https://www.pib.gov.in/PressReleasePage.aspx?PRID=1813993" TargetMode="External" Id="R830190024622462c" /><Relationship Type="http://schemas.openxmlformats.org/officeDocument/2006/relationships/hyperlink" Target="https://www.pib.gov.in/PressReleasePage.aspx?PRID=1813993" TargetMode="External" Id="R10678ba9765943c1" /><Relationship Type="http://schemas.openxmlformats.org/officeDocument/2006/relationships/hyperlink" Target="https://mausam.imd.gov.in/" TargetMode="External" Id="R368beb73cba94676" /><Relationship Type="http://schemas.openxmlformats.org/officeDocument/2006/relationships/hyperlink" Target="https://mausam.imd.gov.in/" TargetMode="External" Id="Re6ea131e32d54ced" /><Relationship Type="http://schemas.openxmlformats.org/officeDocument/2006/relationships/hyperlink" Target="https://mausam.imd.gov.in/" TargetMode="External" Id="R87dcf8313d824c85" /><Relationship Type="http://schemas.openxmlformats.org/officeDocument/2006/relationships/hyperlink" Target="https://mausam.imd.gov.in/" TargetMode="External" Id="R499ca87f32af498c" /><Relationship Type="http://schemas.openxmlformats.org/officeDocument/2006/relationships/hyperlink" Target="https://www.mosdac.gov.in/look/DOCS/mosdac-data-guidelines_english.pdf" TargetMode="External" Id="Rb4e67af7cc7c4f46" /><Relationship Type="http://schemas.openxmlformats.org/officeDocument/2006/relationships/hyperlink" Target="https://www.mosdac.gov.in/look/DOCS/mosdac-data-guidelines_english.pdf" TargetMode="External" Id="R33b5cab50e9945bf" /><Relationship Type="http://schemas.openxmlformats.org/officeDocument/2006/relationships/hyperlink" Target="https://www.mosdac.gov.in/look/DOCS/mosdac-data-guidelines_english.pdf" TargetMode="External" Id="Rffcf2e66a8fc48ae" /><Relationship Type="http://schemas.openxmlformats.org/officeDocument/2006/relationships/hyperlink" Target="https://www.mosdac.gov.in/look/DOCS/mosdac-data-guidelines_english.pdf" TargetMode="External" Id="R881e47a0d9354b9d" /><Relationship Type="http://schemas.openxmlformats.org/officeDocument/2006/relationships/hyperlink" Target="https://incois.gov.in/essdp/ViewMetadata?fileid=05f2bab9-054f-45cf-b77d-1eaf089252ff" TargetMode="External" Id="R92604a22e44748e1" /><Relationship Type="http://schemas.openxmlformats.org/officeDocument/2006/relationships/hyperlink" Target="https://incois.gov.in/essdp/ViewMetadata?fileid=05f2bab9-054f-45cf-b77d-1eaf089252ff" TargetMode="External" Id="Re2c98369e7484bb5" /><Relationship Type="http://schemas.openxmlformats.org/officeDocument/2006/relationships/hyperlink" Target="https://incois.gov.in/essdp/ViewMetadata?fileid=05f2bab9-054f-45cf-b77d-1eaf089252ff" TargetMode="External" Id="Rf1b6cceeddb7462e" /><Relationship Type="http://schemas.openxmlformats.org/officeDocument/2006/relationships/hyperlink" Target="https://incois.gov.in/essdp/ViewMetadata?fileid=05f2bab9-054f-45cf-b77d-1eaf089252ff" TargetMode="External" Id="R1f2e05d26e8943a1" /><Relationship Type="http://schemas.openxmlformats.org/officeDocument/2006/relationships/hyperlink" Target="https://incois.gov.in/essdp/ViewMetadata?fileid=05f2bab9-054f-45cf-b77d-1eaf089252ff" TargetMode="External" Id="Ra1bd5e8353854ff0" /><Relationship Type="http://schemas.openxmlformats.org/officeDocument/2006/relationships/hyperlink" Target="https://www.earthdata.nasa.gov/data/catalog/ges-disc-gpm-3imerghh-07" TargetMode="External" Id="R1160277e38564d8d" /><Relationship Type="http://schemas.openxmlformats.org/officeDocument/2006/relationships/hyperlink" Target="https://www.earthdata.nasa.gov/data/catalog/ges-disc-gpm-3imerghh-07" TargetMode="External" Id="R06a77b62a73143f2" /><Relationship Type="http://schemas.openxmlformats.org/officeDocument/2006/relationships/hyperlink" Target="https://www.earthdata.nasa.gov/data/catalog/ges-disc-gpm-3imerghh-07" TargetMode="External" Id="R603f0077714a45d0" /><Relationship Type="http://schemas.openxmlformats.org/officeDocument/2006/relationships/hyperlink" Target="https://www.earthdata.nasa.gov/data/catalog/ges-disc-gpm-3imerghh-07" TargetMode="External" Id="R890a213da3c24fb3" /><Relationship Type="http://schemas.openxmlformats.org/officeDocument/2006/relationships/hyperlink" Target="https://www.earthdata.nasa.gov/data/catalog/ges-disc-gpm-3imerghh-07" TargetMode="External" Id="Rc19c7c32759e4766" /><Relationship Type="http://schemas.openxmlformats.org/officeDocument/2006/relationships/hyperlink" Target="https://open-meteo.com/en/docs" TargetMode="External" Id="Rb0827934b0a04907" /><Relationship Type="http://schemas.openxmlformats.org/officeDocument/2006/relationships/hyperlink" Target="https://open-meteo.com/en/docs" TargetMode="External" Id="Ra94dccc3c88e46f1" /><Relationship Type="http://schemas.openxmlformats.org/officeDocument/2006/relationships/hyperlink" Target="https://open-meteo.com/en/docs" TargetMode="External" Id="R273e43c0f8864d38" /><Relationship Type="http://schemas.openxmlformats.org/officeDocument/2006/relationships/hyperlink" Target="https://open-meteo.com/en/docs" TargetMode="External" Id="R4376a199b8db424a" /><Relationship Type="http://schemas.openxmlformats.org/officeDocument/2006/relationships/hyperlink" Target="https://mausam.imd.gov.in/imd_latest/contents/pdf/forecasting_sop.pdf" TargetMode="External" Id="Re7deb51d98ac4f76" /><Relationship Type="http://schemas.openxmlformats.org/officeDocument/2006/relationships/hyperlink" Target="https://mausam.imd.gov.in/imd_latest/contents/pdf/forecasting_sop.pdf" TargetMode="External" Id="Rbdc3af809f4b4388" /><Relationship Type="http://schemas.openxmlformats.org/officeDocument/2006/relationships/hyperlink" Target="https://mausam.imd.gov.in/imd_latest/contents/pdf/forecasting_sop.pdf" TargetMode="External" Id="R7d1ce89ed4594693" /><Relationship Type="http://schemas.openxmlformats.org/officeDocument/2006/relationships/hyperlink" Target="https://mausam.imd.gov.in/imd_latest/contents/pdf/forecasting_sop.pdf" TargetMode="External" Id="Ra27a345a2e554eb4" /><Relationship Type="http://schemas.openxmlformats.org/officeDocument/2006/relationships/hyperlink" Target="https://arxiv.org/abs/1506.04214" TargetMode="External" Id="Rcc4a43870dab4211" /><Relationship Type="http://schemas.openxmlformats.org/officeDocument/2006/relationships/hyperlink" Target="https://arxiv.org/abs/1506.04214" TargetMode="External" Id="R27cb624171d349bf" /><Relationship Type="http://schemas.openxmlformats.org/officeDocument/2006/relationships/hyperlink" Target="https://arxiv.org/abs/1506.04214" TargetMode="External" Id="Ra325f95f0b8a4c2d" /><Relationship Type="http://schemas.openxmlformats.org/officeDocument/2006/relationships/hyperlink" Target="https://arxiv.org/abs/1506.04214" TargetMode="External" Id="R061b029c94154865" /><Relationship Type="http://schemas.openxmlformats.org/officeDocument/2006/relationships/hyperlink" Target="https://docs.wradlib.org/en/2.0.0/notebooks/basics/wradlib_workflow.html" TargetMode="External" Id="R311791950bf54079" /><Relationship Type="http://schemas.openxmlformats.org/officeDocument/2006/relationships/hyperlink" Target="https://docs.wradlib.org/en/2.0.0/notebooks/basics/wradlib_workflow.html" TargetMode="External" Id="R84977f33a9ce43e7" /><Relationship Type="http://schemas.openxmlformats.org/officeDocument/2006/relationships/hyperlink" Target="https://docs.wradlib.org/en/2.0.0/notebooks/basics/wradlib_workflow.html" TargetMode="External" Id="R865bf7be51254f1e" /><Relationship Type="http://schemas.openxmlformats.org/officeDocument/2006/relationships/hyperlink" Target="https://docs.wradlib.org/en/2.0.0/notebooks/basics/wradlib_workflow.html" TargetMode="External" Id="R444e1137898a41ff" /><Relationship Type="http://schemas.openxmlformats.org/officeDocument/2006/relationships/hyperlink" Target="https://docs.wradlib.org/en/2.0.0/notebooks/basics/wradlib_workflow.html" TargetMode="External" Id="R611c7eea1d8c4ae6" /><Relationship Type="http://schemas.openxmlformats.org/officeDocument/2006/relationships/hyperlink" Target="https://journals.ametsoc.org/view/journals/wefo/37/7/WAF-D-22-0019.1.xml" TargetMode="External" Id="R25a0644afa0d47f4" /><Relationship Type="http://schemas.openxmlformats.org/officeDocument/2006/relationships/hyperlink" Target="https://journals.ametsoc.org/view/journals/wefo/37/7/WAF-D-22-0019.1.xml" TargetMode="External" Id="R93f6d0a7181943ec" /><Relationship Type="http://schemas.openxmlformats.org/officeDocument/2006/relationships/hyperlink" Target="https://journals.ametsoc.org/view/journals/wefo/37/7/WAF-D-22-0019.1.xml" TargetMode="External" Id="Rfe748634f7ec4185" /><Relationship Type="http://schemas.openxmlformats.org/officeDocument/2006/relationships/hyperlink" Target="https://journals.ametsoc.org/view/journals/wefo/37/7/WAF-D-22-0019.1.xml" TargetMode="External" Id="Rfa7ee3b72dd648c9" /><Relationship Type="http://schemas.openxmlformats.org/officeDocument/2006/relationships/hyperlink" Target="https://peerj.com/articles/6257/" TargetMode="External" Id="Rcdfe61a006f04de5" /><Relationship Type="http://schemas.openxmlformats.org/officeDocument/2006/relationships/hyperlink" Target="https://peerj.com/articles/6257/" TargetMode="External" Id="Rb46e12c65a3141a9" /><Relationship Type="http://schemas.openxmlformats.org/officeDocument/2006/relationships/hyperlink" Target="https://peerj.com/articles/6257/" TargetMode="External" Id="Rc098ab3714584d60" /><Relationship Type="http://schemas.openxmlformats.org/officeDocument/2006/relationships/hyperlink" Target="https://peerj.com/articles/6257/" TargetMode="External" Id="R2dc0ef76457e44cf" /><Relationship Type="http://schemas.openxmlformats.org/officeDocument/2006/relationships/hyperlink" Target="https://tropmet.res.in/erpas/files/active_break_selection.php" TargetMode="External" Id="Rd76ed87a5fcc481c" /><Relationship Type="http://schemas.openxmlformats.org/officeDocument/2006/relationships/hyperlink" Target="https://tropmet.res.in/erpas/files/active_break_selection.php" TargetMode="External" Id="R6805289bb48740df" /><Relationship Type="http://schemas.openxmlformats.org/officeDocument/2006/relationships/hyperlink" Target="https://tropmet.res.in/erpas/files/active_break_selection.php" TargetMode="External" Id="R66a8c26bfac14ee7" /><Relationship Type="http://schemas.openxmlformats.org/officeDocument/2006/relationships/hyperlink" Target="https://tropmet.res.in/erpas/files/active_break_selection.php" TargetMode="External" Id="R37fa1ecd3e264866" /><Relationship Type="http://schemas.openxmlformats.org/officeDocument/2006/relationships/hyperlink" Target="https://tropmet.res.in/erpas/files/active_break_selection.php" TargetMode="External" Id="R7aabf03b28eb482f" /><Relationship Type="http://schemas.openxmlformats.org/officeDocument/2006/relationships/hyperlink" Target="https://doi.org/10.1016/j.pce.2025.104182" TargetMode="External" Id="R55831e9386714beb" /><Relationship Type="http://schemas.openxmlformats.org/officeDocument/2006/relationships/hyperlink" Target="https://doi.org/10.1016/j.pce.2025.104182" TargetMode="External" Id="R47bba7ecccd745bd" /><Relationship Type="http://schemas.openxmlformats.org/officeDocument/2006/relationships/hyperlink" Target="https://doi.org/10.1016/j.pce.2025.104182" TargetMode="External" Id="R0df77efc94344462" /><Relationship Type="http://schemas.openxmlformats.org/officeDocument/2006/relationships/hyperlink" Target="https://doi.org/10.1016/j.pce.2025.104182" TargetMode="External" Id="R3b9d53d4872e4fc3" /><Relationship Type="http://schemas.openxmlformats.org/officeDocument/2006/relationships/hyperlink" Target="https://doi.org/10.1016/j.pce.2025.104182" TargetMode="External" Id="Re5a1831b183d4729" /><Relationship Type="http://schemas.openxmlformats.org/officeDocument/2006/relationships/hyperlink" Target="https://doi.org/10.1016/j.pce.2025.104182" TargetMode="External" Id="Rf3d2dca881ee4822" /><Relationship Type="http://schemas.openxmlformats.org/officeDocument/2006/relationships/hyperlink" Target="https://doi.org/10.1016/j.pce.2025.104182" TargetMode="External" Id="R096d288fca574244" /><Relationship Type="http://schemas.openxmlformats.org/officeDocument/2006/relationships/hyperlink" Target="https://doi.org/10.1016/j.pce.2025.104182" TargetMode="External" Id="R4d47723d0adb4def" /><Relationship Type="http://schemas.openxmlformats.org/officeDocument/2006/relationships/hyperlink" Target="https://doi.org/10.1016/j.pce.2025.104182" TargetMode="External" Id="R24d0ca0023814a1d" /><Relationship Type="http://schemas.openxmlformats.org/officeDocument/2006/relationships/hyperlink" Target="https://github.com/omansharora5/ps_2/blob/main/VALIDATION.md" TargetMode="External" Id="R3639199921b146d5" /><Relationship Type="http://schemas.openxmlformats.org/officeDocument/2006/relationships/hyperlink" Target="https://github.com/omansharora5/ps_2/blob/main/VALIDATION.md" TargetMode="External" Id="R4b1a0b749e2144fb" /><Relationship Type="http://schemas.openxmlformats.org/officeDocument/2006/relationships/hyperlink" Target="https://github.com/omansharora5/ps_2/blob/main/VALIDATION.md" TargetMode="External" Id="Ref14ec3aaed24d62" /><Relationship Type="http://schemas.openxmlformats.org/officeDocument/2006/relationships/hyperlink" Target="https://github.com/omansharora5/ps_2/blob/main/VALIDATION.md" TargetMode="External" Id="Ra3e1183c3c5e48c6" /><Relationship Type="http://schemas.openxmlformats.org/officeDocument/2006/relationships/hyperlink" Target="https://github.com/omansharora5/ps_2/blob/main/VALIDATION.md" TargetMode="External" Id="R214a73df06cf4f5a" /><Relationship Type="http://schemas.openxmlformats.org/officeDocument/2006/relationships/hyperlink" Target="https://github.com/omansharora5/ps_2/blob/main/docs/PUBLIC_VERIFICATION_GUIDE.md" TargetMode="External" Id="R852f47c0cea44e16" /><Relationship Type="http://schemas.openxmlformats.org/officeDocument/2006/relationships/hyperlink" Target="https://github.com/omansharora5/ps_2/blob/main/docs/PUBLIC_VERIFICATION_GUIDE.md" TargetMode="External" Id="R1712b22c22fc4ea3" /><Relationship Type="http://schemas.openxmlformats.org/officeDocument/2006/relationships/hyperlink" Target="https://github.com/omansharora5/ps_2/blob/main/docs/PUBLIC_VERIFICATION_GUIDE.md" TargetMode="External" Id="R2ee5deeb4f184691" /><Relationship Type="http://schemas.openxmlformats.org/officeDocument/2006/relationships/hyperlink" Target="https://github.com/omansharora5/ps_2/blob/main/docs/PUBLIC_VERIFICATION_GUIDE.md" TargetMode="External" Id="R2fb5caf927ad4cde" /><Relationship Type="http://schemas.openxmlformats.org/officeDocument/2006/relationships/hyperlink" Target="https://github.com/omansharora5/ps_2/blob/main/docs/PUBLIC_VERIFICATION_GUIDE.md" TargetMode="External" Id="R15a9012063c6441c" /><Relationship Type="http://schemas.openxmlformats.org/officeDocument/2006/relationships/hyperlink" Target="https://github.com/omansharora5/ps_2/blob/main/docs/PUBLIC_VERIFICATION_GUIDE.md" TargetMode="External" Id="Rfc6a8f3695e74785" /><Relationship Type="http://schemas.openxmlformats.org/officeDocument/2006/relationships/notesSlide" Target="/ppt/notesSlides/notesSlide6.xml" Id="R0f0e82bf100e44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050" b="1">
                <a:solidFill>
                  <a:srgbClr val="172534"/>
                </a:solidFill>
                <a:latin typeface="Arial"/>
                <a:ea typeface="Arial"/>
                <a:cs typeface="Arial"/>
              </a:rPr>
              <a:t>Radar CSI vs lead time</a:t>
            </a:r>
          </a:p>
        </c:rich>
      </c:tx>
      <c:overlay val="0"/>
      <c:txPr>
        <a:bodyPr xmlns:a="http://schemas.openxmlformats.org/drawingml/2006/main" anchorCtr="1"/>
        <a:lstStyle xmlns:a="http://schemas.openxmlformats.org/drawingml/2006/main"/>
        <a:p xmlns:a="http://schemas.openxmlformats.org/drawingml/2006/main">
          <a:pPr>
            <a:defRPr sz="1050" b="1">
              <a:solidFill>
                <a:srgbClr val="172534"/>
              </a:solidFill>
              <a:latin typeface="Arial"/>
              <a:ea typeface="Arial"/>
              <a:cs typeface="Arial"/>
            </a:defRPr>
          </a:pPr>
        </a:p>
      </c:txPr>
    </c:title>
    <c:plotArea>
      <c:lineChart>
        <c:grouping val="standard"/>
        <c:varyColors val="0"/>
        <c:ser>
          <c:idx val="0"/>
          <c:order val="0"/>
          <c:tx>
            <c:v>Motion</c:v>
          </c:tx>
          <c:spPr>
            <a:ln xmlns:a="http://schemas.openxmlformats.org/drawingml/2006/main" w="19050">
              <a:solidFill>
                <a:srgbClr val="0072BC"/>
              </a:solidFill>
            </a:ln>
          </c:spPr>
          <c:marker>
            <c:symbol val="circle"/>
            <c:size val="4"/>
          </c:marker>
          <c:cat>
            <c:numRef>
              <c:f>'Chart Data'!$A$2:$A$5</c:f>
              <c:numCache>
                <c:formatCode>General</c:formatCode>
                <c:ptCount val="4"/>
                <c:pt idx="0">
                  <c:v>5</c:v>
                </c:pt>
                <c:pt idx="1">
                  <c:v>10</c:v>
                </c:pt>
                <c:pt idx="2">
                  <c:v>15</c:v>
                </c:pt>
                <c:pt idx="3">
                  <c:v>20</c:v>
                </c:pt>
              </c:numCache>
            </c:numRef>
          </c:cat>
          <c:val>
            <c:numRef>
              <c:f>'Chart Data'!$B$2:$B$5</c:f>
              <c:numCache>
                <c:formatCode>0.0</c:formatCode>
                <c:ptCount val="4"/>
                <c:pt idx="0">
                  <c:v>0.710716</c:v>
                </c:pt>
                <c:pt idx="1">
                  <c:v>0.584645</c:v>
                </c:pt>
                <c:pt idx="2">
                  <c:v>0.555373</c:v>
                </c:pt>
                <c:pt idx="3">
                  <c:v>0.508291</c:v>
                </c:pt>
              </c:numCache>
            </c:numRef>
          </c:val>
        </c:ser>
        <c:ser>
          <c:idx val="1"/>
          <c:order val="1"/>
          <c:tx>
            <c:v>Persistence</c:v>
          </c:tx>
          <c:spPr>
            <a:ln xmlns:a="http://schemas.openxmlformats.org/drawingml/2006/main" w="19050">
              <a:solidFill>
                <a:srgbClr val="EF3E4E"/>
              </a:solidFill>
            </a:ln>
          </c:spPr>
          <c:marker>
            <c:symbol val="square"/>
            <c:size val="4"/>
          </c:marker>
          <c:cat>
            <c:numRef>
              <c:f>'Chart Data'!$C$2:$C$5</c:f>
              <c:numCache>
                <c:formatCode>General</c:formatCode>
                <c:ptCount val="4"/>
                <c:pt idx="0">
                  <c:v>5</c:v>
                </c:pt>
                <c:pt idx="1">
                  <c:v>10</c:v>
                </c:pt>
                <c:pt idx="2">
                  <c:v>15</c:v>
                </c:pt>
                <c:pt idx="3">
                  <c:v>20</c:v>
                </c:pt>
              </c:numCache>
            </c:numRef>
          </c:cat>
          <c:val>
            <c:numRef>
              <c:f>'Chart Data'!$D$2:$D$5</c:f>
              <c:numCache>
                <c:formatCode>0.0</c:formatCode>
                <c:ptCount val="4"/>
                <c:pt idx="0">
                  <c:v>0.637651</c:v>
                </c:pt>
                <c:pt idx="1">
                  <c:v>0.550681</c:v>
                </c:pt>
                <c:pt idx="2">
                  <c:v>0.506571</c:v>
                </c:pt>
                <c:pt idx="3">
                  <c:v>0.488428</c:v>
                </c:pt>
              </c:numCache>
            </c:numRef>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50">
                    <a:latin typeface="Arial"/>
                    <a:ea typeface="Arial"/>
                    <a:cs typeface="Arial"/>
                  </a:rPr>
                  <a:t>Lead time (minutes)</a:t>
                </a:r>
              </a:p>
            </c:rich>
          </c:tx>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DDE5E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17253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0" name="Google Shape;60;p1">
            <a:extLst xmlns:a="http://schemas.openxmlformats.org/drawingml/2006/main">
              <a:ext uri="{FF2B5EF4-FFF2-40B4-BE49-F238E27FC236}">
                <a16:creationId xmlns:a16="http://schemas.microsoft.com/office/drawing/2014/main" id="{E4CA7887-5017-4709-BB15-A04B72011902}"/>
              </a:ext>
            </a:extLst>
          </p:cNvPr>
          <p:cNvSpPr>
            <a:spLocks xmlns:a="http://schemas.openxmlformats.org/drawingml/2006/main" noGrp="1"/>
          </p:cNvSpPr>
          <p:nvPr/>
        </p:nvSpPr>
        <p:spPr>
          <a:xfrm xmlns:a="http://schemas.openxmlformats.org/drawingml/2006/main">
            <a:off x="5904180" y="1576146"/>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a:solidFill>
                <a:srgbClr val="FFFFFF"/>
              </a:solidFill>
              <a:latin typeface="Calibri"/>
              <a:ea typeface="Calibri"/>
              <a:cs typeface="Calibri"/>
            </a:endParaRPr>
          </a:p>
        </p:txBody>
      </p:sp>
      <p:pic>
        <p:nvPicPr>
          <p:cNvPr id="68" name="Google Shape;61;p1"/>
          <p:cNvPicPr>
            <a:picLocks xmlns:a="http://schemas.openxmlformats.org/drawingml/2006/main" noChangeAspect="1"/>
          </p:cNvPicPr>
          <p:nvPr/>
        </p:nvPicPr>
        <p:blipFill rotWithShape="1">
          <a:blip xmlns:r="http://schemas.openxmlformats.org/officeDocument/2006/relationships" xmlns:a="http://schemas.openxmlformats.org/drawingml/2006/main" r:embed="R4ad04784fa564eb6">
            <a:alphaModFix amt="38000"/>
          </a:blip>
          <a:srcRect xmlns:a="http://schemas.openxmlformats.org/drawingml/2006/main" l="0" t="0" r="59917" b="0"/>
          <a:stretch xmlns:a="http://schemas.openxmlformats.org/drawingml/2006/main"/>
        </p:blipFill>
        <p:spPr>
          <a:xfrm xmlns:a="http://schemas.openxmlformats.org/drawingml/2006/main">
            <a:off x="7124441" y="2706318"/>
            <a:ext cx="3203507" cy="3426237"/>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0"/>
              </a:srgbClr>
            </a:outerShdw>
          </a:effectLst>
        </p:spPr>
      </p:pic>
      <p:sp>
        <p:nvSpPr>
          <p:cNvPr id="62" name="Google Shape;62;p1">
            <a:extLst xmlns:a="http://schemas.openxmlformats.org/drawingml/2006/main">
              <a:ext uri="{FF2B5EF4-FFF2-40B4-BE49-F238E27FC236}">
                <a16:creationId xmlns:a16="http://schemas.microsoft.com/office/drawing/2014/main" id="{9A46C8AD-744A-4EB7-8D07-71472E056814}"/>
              </a:ext>
            </a:extLst>
          </p:cNvPr>
          <p:cNvSpPr>
            <a:spLocks xmlns:a="http://schemas.openxmlformats.org/drawingml/2006/main" noGrp="1"/>
          </p:cNvSpPr>
          <p:nvPr/>
        </p:nvSpPr>
        <p:spPr>
          <a:xfrm xmlns:a="http://schemas.openxmlformats.org/drawingml/2006/main">
            <a:off x="2335486" y="447089"/>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Arial"/>
              <a:buNone/>
            </a:pPr>
            <a:r>
              <a:t/>
            </a:r>
            <a:endParaRPr sz="3200" b="1" i="0" u="none" strike="noStrike" cap="none">
              <a:solidFill>
                <a:srgbClr val="000000"/>
              </a:solidFill>
              <a:latin typeface="Times New Roman"/>
              <a:ea typeface="Times New Roman"/>
              <a:cs typeface="Times New Roman"/>
            </a:endParaRPr>
          </a:p>
          <a:p xmlns:a="http://schemas.openxmlformats.org/drawingml/2006/main">
            <a:pPr marL="0" marR="0" lvl="0" indent="0" algn="ctr">
              <a:lnSpc>
                <a:spcPct val="100000"/>
              </a:lnSpc>
              <a:spcBef>
                <a:spcPts val="640"/>
              </a:spcBef>
              <a:spcAft>
                <a:spcPts val="0"/>
              </a:spcAft>
              <a:buClr>
                <a:srgbClr val="000000"/>
              </a:buClr>
              <a:buSzPts val="3200"/>
              <a:buFont typeface="Arial"/>
              <a:buNone/>
            </a:pPr>
            <a:r>
              <a:rPr sz="3200" b="1" i="0" u="none" strike="noStrike" cap="none">
                <a:solidFill>
                  <a:srgbClr val="000000"/>
                </a:solidFill>
                <a:latin typeface="Times New Roman"/>
                <a:ea typeface="Times New Roman"/>
                <a:cs typeface="Times New Roman"/>
              </a:rPr>
              <a:t>TITLE PAGE</a:t>
            </a:r>
            <a:endParaRPr sz="3200" b="1" i="0" u="none" strike="noStrike" cap="none">
              <a:solidFill>
                <a:srgbClr val="000000"/>
              </a:solidFill>
              <a:latin typeface="Times New Roman"/>
              <a:ea typeface="Times New Roman"/>
              <a:cs typeface="Times New Roman"/>
            </a:endParaRPr>
          </a:p>
        </p:txBody>
      </p:sp>
      <p:sp>
        <p:nvSpPr>
          <p:cNvPr id="63" name="Google Shape;63;p1">
            <a:extLst xmlns:a="http://schemas.openxmlformats.org/drawingml/2006/main">
              <a:ext uri="{FF2B5EF4-FFF2-40B4-BE49-F238E27FC236}">
                <a16:creationId xmlns:a16="http://schemas.microsoft.com/office/drawing/2014/main" id="{E689FABF-E643-4EBB-B93C-4DEB7E4C77E1}"/>
              </a:ext>
            </a:extLst>
          </p:cNvPr>
          <p:cNvSpPr>
            <a:spLocks xmlns:a="http://schemas.openxmlformats.org/drawingml/2006/main" noGrp="1"/>
          </p:cNvSpPr>
          <p:nvPr/>
        </p:nvSpPr>
        <p:spPr>
          <a:xfrm xmlns:a="http://schemas.openxmlformats.org/drawingml/2006/main">
            <a:off x="331286" y="-526757"/>
            <a:ext cx="10363200" cy="207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000"/>
              <a:buFont typeface="Arial"/>
              <a:buNone/>
            </a:pPr>
            <a:r>
              <a:rPr sz="4000" b="1" i="0" u="none" strike="noStrike" cap="none">
                <a:solidFill>
                  <a:srgbClr val="1F497D"/>
                </a:solidFill>
                <a:latin typeface="Garamond"/>
                <a:ea typeface="Garamond"/>
                <a:cs typeface="Garamond"/>
              </a:rPr>
              <a:t>SMART INDIA HACKATHON 2026</a:t>
            </a:r>
            <a:endParaRPr sz="4000" b="1" i="0" u="none" strike="noStrike" cap="none">
              <a:solidFill>
                <a:srgbClr val="1F497D"/>
              </a:solidFill>
              <a:latin typeface="Garamond"/>
              <a:ea typeface="Garamond"/>
              <a:cs typeface="Garamond"/>
            </a:endParaRPr>
          </a:p>
        </p:txBody>
      </p:sp>
      <p:sp>
        <p:nvSpPr>
          <p:cNvPr id="64" name="Google Shape;64;p1">
            <a:extLst xmlns:a="http://schemas.openxmlformats.org/drawingml/2006/main">
              <a:ext uri="{FF2B5EF4-FFF2-40B4-BE49-F238E27FC236}">
                <a16:creationId xmlns:a16="http://schemas.microsoft.com/office/drawing/2014/main" id="{82144BA2-7069-4567-917A-5E53BA694CDF}"/>
              </a:ext>
            </a:extLst>
          </p:cNvPr>
          <p:cNvSpPr>
            <a:spLocks xmlns:a="http://schemas.openxmlformats.org/drawingml/2006/main" noGrp="1"/>
          </p:cNvSpPr>
          <p:nvPr/>
        </p:nvSpPr>
        <p:spPr>
          <a:xfrm xmlns:a="http://schemas.openxmlformats.org/drawingml/2006/main">
            <a:off x="-84652" y="1445844"/>
            <a:ext cx="12030000" cy="527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strike="noStrike" cap="none">
              <a:solidFill>
                <a:srgbClr val="000000"/>
              </a:solidFill>
              <a:latin typeface="Calibri"/>
              <a:ea typeface="Calibri"/>
              <a:cs typeface="Calibri"/>
            </a:endParaRPr>
          </a:p>
          <a:p xmlns:a="http://schemas.openxmlformats.org/drawingml/2006/main">
            <a:pPr marL="457200" marR="0" lvl="0" indent="-361950" algn="just">
              <a:lnSpc>
                <a:spcPct val="200000"/>
              </a:lnSpc>
              <a:spcBef>
                <a:spcPts val="0"/>
              </a:spcBef>
              <a:spcAft>
                <a:spcPts val="0"/>
              </a:spcAft>
              <a:buClr>
                <a:srgbClr val="000000"/>
              </a:buClr>
              <a:buSzPts val="2100"/>
              <a:buFont typeface="Arial"/>
              <a:buChar char="•"/>
            </a:pPr>
            <a:r>
              <a:rPr sz="2400" b="1" i="0" u="none" strike="noStrike" cap="none">
                <a:solidFill>
                  <a:srgbClr val="000000"/>
                </a:solidFill>
                <a:latin typeface="Arial"/>
                <a:ea typeface="Arial"/>
                <a:cs typeface="Arial"/>
              </a:rPr>
              <a:t>Problem Statement ID – </a:t>
            </a:r>
            <a:r>
              <a:rPr sz="2400" b="0" i="0" u="none" strike="noStrike" cap="none">
                <a:solidFill>
                  <a:srgbClr val="212529"/>
                </a:solidFill>
                <a:latin typeface="Arial"/>
                <a:ea typeface="Arial"/>
                <a:cs typeface="Arial"/>
              </a:rPr>
              <a:t>SIH26072</a:t>
            </a:r>
            <a:r>
              <a:rPr sz="2800" b="1" i="0" u="none" strike="noStrike" cap="none">
                <a:solidFill>
                  <a:srgbClr val="000000"/>
                </a:solidFill>
                <a:latin typeface="Arial"/>
                <a:ea typeface="Arial"/>
                <a:cs typeface="Arial"/>
              </a:rPr>
              <a:t> </a:t>
            </a:r>
            <a:endParaRPr sz="3100" b="1" i="0" u="none" strike="noStrike" cap="none">
              <a:solidFill>
                <a:srgbClr val="000000"/>
              </a:solidFill>
              <a:latin typeface="Arial"/>
              <a:ea typeface="Arial"/>
              <a:cs typeface="Arial"/>
            </a:endParaRPr>
          </a:p>
          <a:p xmlns:a="http://schemas.openxmlformats.org/drawingml/2006/main">
            <a:pPr marL="457200" marR="0" lvl="0" indent="-361950" algn="just">
              <a:lnSpc>
                <a:spcPct val="100000"/>
              </a:lnSpc>
              <a:spcBef>
                <a:spcPts val="0"/>
              </a:spcBef>
              <a:spcAft>
                <a:spcPts val="0"/>
              </a:spcAft>
              <a:buClr>
                <a:srgbClr val="000000"/>
              </a:buClr>
              <a:buSzPts val="2100"/>
              <a:buFont typeface="Arial"/>
              <a:buChar char="•"/>
            </a:pPr>
            <a:r>
              <a:rPr sz="2400" b="1" i="0" u="none" strike="noStrike" cap="none">
                <a:solidFill>
                  <a:srgbClr val="000000"/>
                </a:solidFill>
                <a:latin typeface="Arial"/>
                <a:ea typeface="Arial"/>
                <a:cs typeface="Arial"/>
              </a:rPr>
              <a:t>Problem Statement Title - </a:t>
            </a:r>
            <a:r>
              <a:rPr sz="2400" b="0" i="0" u="none" strike="noStrike" cap="none">
                <a:solidFill>
                  <a:srgbClr val="172534"/>
                </a:solidFill>
                <a:latin typeface="Arial"/>
                <a:ea typeface="Arial"/>
                <a:cs typeface="Arial"/>
              </a:rPr>
              <a:t>AIML based Nowcasting of thunderstorm and lightning using atmospheric observation including multiple radars, satellite, lightning and model data.</a:t>
            </a:r>
            <a:r>
              <a:rPr sz="2200" b="0" i="0" u="none" strike="noStrike" cap="none">
                <a:solidFill>
                  <a:srgbClr val="212529"/>
                </a:solidFill>
                <a:highlight>
                  <a:srgbClr val="FFFFFF"/>
                </a:highlight>
                <a:latin typeface="Times New Roman"/>
                <a:ea typeface="Times New Roman"/>
                <a:cs typeface="Times New Roman"/>
              </a:rPr>
              <a:t> </a:t>
            </a:r>
            <a:endParaRPr sz="2200" b="0" i="0" u="none" strike="noStrike" cap="none">
              <a:solidFill>
                <a:srgbClr val="212529"/>
              </a:solidFill>
              <a:highlight>
                <a:srgbClr val="FFFFFF"/>
              </a:highlight>
              <a:latin typeface="Times New Roman"/>
              <a:ea typeface="Times New Roman"/>
              <a:cs typeface="Times New Roman"/>
            </a:endParaRPr>
          </a:p>
          <a:p xmlns:a="http://schemas.openxmlformats.org/drawingml/2006/main">
            <a:pPr marL="457200" marR="0" lvl="0" indent="0" algn="just">
              <a:lnSpc>
                <a:spcPct val="100000"/>
              </a:lnSpc>
              <a:spcBef>
                <a:spcPts val="0"/>
              </a:spcBef>
              <a:spcAft>
                <a:spcPts val="0"/>
              </a:spcAft>
              <a:buClr>
                <a:srgbClr val="000000"/>
              </a:buClr>
              <a:buSzPts val="2200"/>
              <a:buFont typeface="Arial"/>
              <a:buNone/>
            </a:pPr>
            <a:r>
              <a:t/>
            </a:r>
            <a:endParaRPr sz="2200" b="0" i="0" u="none" strike="noStrike" cap="none">
              <a:solidFill>
                <a:srgbClr val="212529"/>
              </a:solidFill>
              <a:highlight>
                <a:srgbClr val="FFFFFF"/>
              </a:highlight>
              <a:latin typeface="Times New Roman"/>
              <a:ea typeface="Times New Roman"/>
              <a:cs typeface="Times New Roman"/>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Theme-</a:t>
            </a:r>
            <a:r>
              <a:rPr sz="2400" b="0" i="0" u="none" strike="noStrike" cap="none">
                <a:solidFill>
                  <a:srgbClr val="000000"/>
                </a:solidFill>
                <a:latin typeface="Arial"/>
                <a:ea typeface="Arial"/>
                <a:cs typeface="Arial"/>
              </a:rPr>
              <a:t> </a:t>
            </a:r>
            <a:r>
              <a:rPr sz="2400" b="0" i="0" u="none" strike="noStrike" cap="none">
                <a:solidFill>
                  <a:srgbClr val="212529"/>
                </a:solidFill>
                <a:latin typeface="Arial"/>
                <a:ea typeface="Arial"/>
                <a:cs typeface="Arial"/>
              </a:rPr>
              <a:t>Disaster Management</a:t>
            </a:r>
            <a:r>
              <a:rPr sz="2400" b="0" i="0" u="none" strike="noStrike" cap="none">
                <a:solidFill>
                  <a:srgbClr val="000000"/>
                </a:solidFill>
                <a:latin typeface="Arial"/>
                <a:ea typeface="Arial"/>
                <a:cs typeface="Arial"/>
              </a:rPr>
              <a:t> </a:t>
            </a:r>
            <a:endParaRPr sz="2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PS Category-</a:t>
            </a:r>
            <a:r>
              <a:rPr sz="2400" b="0" i="0" u="none" strike="noStrike" cap="none">
                <a:solidFill>
                  <a:srgbClr val="000000"/>
                </a:solidFill>
                <a:latin typeface="Arial"/>
                <a:ea typeface="Arial"/>
                <a:cs typeface="Arial"/>
              </a:rPr>
              <a:t> Software</a:t>
            </a:r>
            <a:endParaRPr sz="2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Team ID- </a:t>
            </a:r>
            <a:endParaRPr sz="1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Team Name - </a:t>
            </a:r>
            <a:r>
              <a:rPr sz="2400" b="0" i="0" u="none" strike="noStrike" cap="none">
                <a:solidFill>
                  <a:srgbClr val="000000"/>
                </a:solidFill>
                <a:latin typeface="Arial"/>
                <a:ea typeface="Arial"/>
                <a:cs typeface="Arial"/>
              </a:rPr>
              <a:t>Tensor Titian</a:t>
            </a:r>
            <a:endParaRPr sz="2400" b="0" i="0" u="none" strike="noStrike" cap="none">
              <a:solidFill>
                <a:srgbClr val="000000"/>
              </a:solidFill>
              <a:latin typeface="Arial"/>
              <a:ea typeface="Arial"/>
              <a:cs typeface="Arial"/>
            </a:endParaRPr>
          </a:p>
        </p:txBody>
      </p:sp>
      <p:pic>
        <p:nvPicPr>
          <p:cNvPr id="72" name="Google Shape;65;p1"/>
          <p:cNvPicPr>
            <a:picLocks xmlns:a="http://schemas.openxmlformats.org/drawingml/2006/main" noChangeAspect="1"/>
          </p:cNvPicPr>
          <p:nvPr/>
        </p:nvPicPr>
        <p:blipFill rotWithShape="1">
          <a:blip xmlns:r="http://schemas.openxmlformats.org/officeDocument/2006/relationships" xmlns:a="http://schemas.openxmlformats.org/drawingml/2006/main" r:embed="Rc59c232b53b04365">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811778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CB466183-5DF8-4057-85C5-3FEE2517BD03}"/>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71" name="Google Shape;71;p2">
            <a:extLst xmlns:a="http://schemas.openxmlformats.org/drawingml/2006/main">
              <a:ext uri="{FF2B5EF4-FFF2-40B4-BE49-F238E27FC236}">
                <a16:creationId xmlns:a16="http://schemas.microsoft.com/office/drawing/2014/main" id="{8CCC40AE-B335-4E1A-AF7F-7E09698AD20A}"/>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72" name="Google Shape;72;p2">
            <a:extLst xmlns:a="http://schemas.openxmlformats.org/drawingml/2006/main">
              <a:ext uri="{FF2B5EF4-FFF2-40B4-BE49-F238E27FC236}">
                <a16:creationId xmlns:a16="http://schemas.microsoft.com/office/drawing/2014/main" id="{9C20083C-9444-49F2-8E67-D00F5CF20D65}"/>
              </a:ext>
            </a:extLst>
          </p:cNvPr>
          <p:cNvSpPr>
            <a:spLocks xmlns:a="http://schemas.openxmlformats.org/drawingml/2006/main" noGrp="1"/>
          </p:cNvSpPr>
          <p:nvPr>
            <p:ph type="title" idx="0"/>
          </p:nvPr>
        </p:nvSpPr>
        <p:spPr>
          <a:xfrm xmlns:a="http://schemas.openxmlformats.org/drawingml/2006/main">
            <a:off x="2994950" y="-53057"/>
            <a:ext cx="60198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Clr>
                <a:schemeClr val="dk1"/>
              </a:buClr>
              <a:buSzPct val="55556"/>
              <a:buFont typeface="Arial"/>
              <a:buNone/>
            </a:pPr>
            <a:r>
              <a:rPr sz="3600" b="1">
                <a:solidFill>
                  <a:schemeClr val="dk1"/>
                </a:solidFill>
                <a:latin typeface="Times New Roman"/>
                <a:ea typeface="Times New Roman"/>
                <a:cs typeface="Times New Roman"/>
              </a:rPr>
              <a:t>IDEA TITLE: VAJRA</a:t>
            </a:r>
            <a:endParaRPr/>
          </a:p>
        </p:txBody>
      </p:sp>
      <p:sp>
        <p:nvSpPr>
          <p:cNvPr id="73" name="Google Shape;73;p2">
            <a:extLst xmlns:a="http://schemas.openxmlformats.org/drawingml/2006/main">
              <a:ext uri="{FF2B5EF4-FFF2-40B4-BE49-F238E27FC236}">
                <a16:creationId xmlns:a16="http://schemas.microsoft.com/office/drawing/2014/main" id="{92FFF961-F3AA-4537-B463-62A6E2A85483}"/>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74" name="Google Shape;74;p2">
            <a:extLst xmlns:a="http://schemas.openxmlformats.org/drawingml/2006/main">
              <a:ext uri="{FF2B5EF4-FFF2-40B4-BE49-F238E27FC236}">
                <a16:creationId xmlns:a16="http://schemas.microsoft.com/office/drawing/2014/main" id="{F5BA0880-91B5-491E-84E7-1A49D588B83A}"/>
              </a:ext>
            </a:extLst>
          </p:cNvPr>
          <p:cNvSpPr>
            <a:spLocks xmlns:a="http://schemas.openxmlformats.org/drawingml/2006/main" noGrp="1"/>
          </p:cNvSpPr>
          <p:nvPr/>
        </p:nvSpPr>
        <p:spPr>
          <a:xfrm xmlns:a="http://schemas.openxmlformats.org/drawingml/2006/main">
            <a:off x="172975" y="853150"/>
            <a:ext cx="6690300" cy="43239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5" name="Google Shape;75;p2">
            <a:extLst xmlns:a="http://schemas.openxmlformats.org/drawingml/2006/main">
              <a:ext uri="{FF2B5EF4-FFF2-40B4-BE49-F238E27FC236}">
                <a16:creationId xmlns:a16="http://schemas.microsoft.com/office/drawing/2014/main" id="{6A4865A6-A4C9-4221-B521-F5E5096CD352}"/>
              </a:ext>
            </a:extLst>
          </p:cNvPr>
          <p:cNvSpPr>
            <a:spLocks xmlns:a="http://schemas.openxmlformats.org/drawingml/2006/main" noGrp="1"/>
          </p:cNvSpPr>
          <p:nvPr/>
        </p:nvSpPr>
        <p:spPr>
          <a:xfrm xmlns:a="http://schemas.openxmlformats.org/drawingml/2006/main">
            <a:off x="331484" y="929575"/>
            <a:ext cx="60198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Problem Definition </a:t>
            </a:r>
            <a:endParaRPr sz="1400" b="0" i="0" u="none" strike="noStrike" cap="none">
              <a:solidFill>
                <a:srgbClr val="000000"/>
              </a:solidFill>
              <a:latin typeface="Arial"/>
              <a:ea typeface="Arial"/>
              <a:cs typeface="Arial"/>
            </a:endParaRPr>
          </a:p>
        </p:txBody>
      </p:sp>
      <p:sp>
        <p:nvSpPr>
          <p:cNvPr id="76" name="Google Shape;76;p2">
            <a:extLst xmlns:a="http://schemas.openxmlformats.org/drawingml/2006/main">
              <a:ext uri="{FF2B5EF4-FFF2-40B4-BE49-F238E27FC236}">
                <a16:creationId xmlns:a16="http://schemas.microsoft.com/office/drawing/2014/main" id="{FCA6ABE8-2FDD-4BC0-8EC1-67C429A21D79}"/>
              </a:ext>
            </a:extLst>
          </p:cNvPr>
          <p:cNvSpPr>
            <a:spLocks xmlns:a="http://schemas.openxmlformats.org/drawingml/2006/main" noGrp="1"/>
          </p:cNvSpPr>
          <p:nvPr/>
        </p:nvSpPr>
        <p:spPr>
          <a:xfrm xmlns:a="http://schemas.openxmlformats.org/drawingml/2006/main">
            <a:off x="326925" y="1249700"/>
            <a:ext cx="6577500" cy="1274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0000"/>
              </a:lnSpc>
              <a:spcBef>
                <a:spcPts val="0"/>
              </a:spcBef>
              <a:spcAft>
                <a:spcPts val="0"/>
              </a:spcAft>
              <a:buClr>
                <a:srgbClr val="000000"/>
              </a:buClr>
              <a:buSzPts val="1400"/>
              <a:buFont typeface="Arial"/>
              <a:buNone/>
            </a:pPr>
            <a:r>
              <a:rPr sz="1600" b="1" i="0" u="none" strike="noStrike" cap="none">
                <a:solidFill>
                  <a:srgbClr val="000000"/>
                </a:solidFill>
                <a:latin typeface="Arial"/>
                <a:ea typeface="Arial"/>
                <a:cs typeface="Arial"/>
              </a:rPr>
              <a:t>Who needs it:</a:t>
            </a:r>
            <a:r>
              <a:rPr sz="1600" b="0" i="0" u="none" strike="noStrike" cap="none">
                <a:solidFill>
                  <a:srgbClr val="000000"/>
                </a:solidFill>
                <a:latin typeface="Arial"/>
                <a:ea typeface="Arial"/>
                <a:cs typeface="Arial"/>
              </a:rPr>
              <a:t> Weather officers and people outdoors.</a:t>
            </a:r>
            <a:endParaRPr sz="1600" b="0" i="0" u="none" strike="noStrike" cap="none">
              <a:solidFill>
                <a:srgbClr val="000000"/>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000000"/>
              </a:buClr>
              <a:buSzPts val="1400"/>
              <a:buFont typeface="Arial"/>
              <a:buNone/>
            </a:pPr>
            <a:r>
              <a:rPr sz="1600" b="1" i="0" u="none" strike="noStrike" cap="none">
                <a:solidFill>
                  <a:srgbClr val="000000"/>
                </a:solidFill>
                <a:latin typeface="Arial"/>
                <a:ea typeface="Arial"/>
                <a:cs typeface="Arial"/>
              </a:rPr>
              <a:t>Problem:</a:t>
            </a:r>
            <a:r>
              <a:rPr sz="1600" b="0" i="0" u="none" strike="noStrike" cap="none">
                <a:solidFill>
                  <a:srgbClr val="000000"/>
                </a:solidFill>
                <a:latin typeface="Arial"/>
                <a:ea typeface="Arial"/>
                <a:cs typeface="Arial"/>
              </a:rPr>
              <a:t> Storm risk can change within a broad warning area. Local decisions need recent evidence, useful lead time and clear uncertainty.</a:t>
            </a:r>
            <a:endParaRPr sz="1600" b="0" i="0" u="none" strike="noStrike" cap="none">
              <a:solidFill>
                <a:schemeClr val="dk1"/>
              </a:solidFill>
              <a:highlight>
                <a:schemeClr val="lt1"/>
              </a:highlight>
              <a:latin typeface="Arial"/>
              <a:ea typeface="Arial"/>
              <a:cs typeface="Arial"/>
            </a:endParaRPr>
          </a:p>
          <a:p xmlns:a="http://schemas.openxmlformats.org/drawingml/2006/main">
            <a:pPr marL="0" marR="0" lvl="0" indent="0" algn="l">
              <a:lnSpc>
                <a:spcPct val="110000"/>
              </a:lnSpc>
              <a:spcBef>
                <a:spcPts val="0"/>
              </a:spcBef>
              <a:spcAft>
                <a:spcPts val="0"/>
              </a:spcAft>
              <a:buClr>
                <a:srgbClr val="000000"/>
              </a:buClr>
              <a:buSzPts val="1400"/>
              <a:buFont typeface="Arial"/>
              <a:buNone/>
            </a:pPr>
            <a:r>
              <a:rPr b="1"/>
              <a:t>Evidence:</a:t>
            </a:r>
            <a:r>
              <a:rPr b="0"/>
              <a:t> India recorded 2,862 lightning deaths in 2020 [1]. Local forecast skill must be measured.</a:t>
            </a:r>
            <a:endParaRPr sz="1600" b="0" i="0" u="none" strike="noStrike" cap="none">
              <a:solidFill>
                <a:srgbClr val="000000"/>
              </a:solidFill>
              <a:latin typeface="Arial"/>
              <a:ea typeface="Arial"/>
              <a:cs typeface="Arial"/>
            </a:endParaRPr>
          </a:p>
        </p:txBody>
      </p:sp>
      <p:sp>
        <p:nvSpPr>
          <p:cNvPr id="77" name="Google Shape;77;p2">
            <a:extLst xmlns:a="http://schemas.openxmlformats.org/drawingml/2006/main">
              <a:ext uri="{FF2B5EF4-FFF2-40B4-BE49-F238E27FC236}">
                <a16:creationId xmlns:a16="http://schemas.microsoft.com/office/drawing/2014/main" id="{4F38FEBB-9EFF-4CC3-96D3-4A326D305640}"/>
              </a:ext>
            </a:extLst>
          </p:cNvPr>
          <p:cNvSpPr>
            <a:spLocks xmlns:a="http://schemas.openxmlformats.org/drawingml/2006/main" noGrp="1"/>
          </p:cNvSpPr>
          <p:nvPr/>
        </p:nvSpPr>
        <p:spPr>
          <a:xfrm xmlns:a="http://schemas.openxmlformats.org/drawingml/2006/main">
            <a:off x="309250" y="3266001"/>
            <a:ext cx="624540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0" i="0" u="none" strike="noStrike" cap="none">
                <a:solidFill>
                  <a:srgbClr val="000000"/>
                </a:solidFill>
                <a:latin typeface="Arial"/>
                <a:ea typeface="Arial"/>
                <a:cs typeface="Arial"/>
              </a:rPr>
              <a:t>A local prediction model for the next 30 minutes.</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Combine radar, INSAT, lightning and weather context.</a:t>
            </a:r>
            <a:endParaRPr sz="1500" b="0" i="0" u="none" strike="noStrike" cap="none">
              <a:solidFill>
                <a:schemeClr val="dk1"/>
              </a:solidFill>
              <a:highlight>
                <a:schemeClr val="lt1"/>
              </a:highlight>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chemeClr val="dk1"/>
                </a:solidFill>
                <a:highlight>
                  <a:schemeClr val="lt1"/>
                </a:highlight>
                <a:latin typeface="Arial"/>
                <a:ea typeface="Arial"/>
                <a:cs typeface="Arial"/>
              </a:rPr>
              <a:t>Estimate risk and an onset window for each covered cell.</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Show data age, gaps and reasons to the officer.</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Review public rain reports before training use.</a:t>
            </a:r>
            <a:endParaRPr sz="15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500"/>
              <a:buFont typeface="Arial"/>
              <a:buNone/>
            </a:pPr>
            <a:r>
              <a:rPr b="0" u="none"/>
              <a:t>Research prototype. NCR accuracy is still unmeasured.</a:t>
            </a:r>
            <a:endParaRPr sz="1500" b="0" i="0" u="none" strike="noStrike" cap="none">
              <a:solidFill>
                <a:srgbClr val="000000"/>
              </a:solidFill>
              <a:latin typeface="Arial"/>
              <a:ea typeface="Arial"/>
              <a:cs typeface="Arial"/>
            </a:endParaRPr>
          </a:p>
        </p:txBody>
      </p:sp>
      <p:sp>
        <p:nvSpPr>
          <p:cNvPr id="78" name="Google Shape;78;p2">
            <a:extLst xmlns:a="http://schemas.openxmlformats.org/drawingml/2006/main">
              <a:ext uri="{FF2B5EF4-FFF2-40B4-BE49-F238E27FC236}">
                <a16:creationId xmlns:a16="http://schemas.microsoft.com/office/drawing/2014/main" id="{B22CB76D-EE42-4755-AC04-A2815CE1EBFA}"/>
              </a:ext>
            </a:extLst>
          </p:cNvPr>
          <p:cNvSpPr>
            <a:spLocks xmlns:a="http://schemas.openxmlformats.org/drawingml/2006/main" noGrp="1"/>
          </p:cNvSpPr>
          <p:nvPr/>
        </p:nvSpPr>
        <p:spPr>
          <a:xfrm xmlns:a="http://schemas.openxmlformats.org/drawingml/2006/main">
            <a:off x="172950" y="5244900"/>
            <a:ext cx="6690300" cy="10284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1" name="Google Shape;81;p2">
            <a:extLst xmlns:a="http://schemas.openxmlformats.org/drawingml/2006/main">
              <a:ext uri="{FF2B5EF4-FFF2-40B4-BE49-F238E27FC236}">
                <a16:creationId xmlns:a16="http://schemas.microsoft.com/office/drawing/2014/main" id="{390B494F-0A20-4612-BED5-3F0E878E4E22}"/>
              </a:ext>
            </a:extLst>
          </p:cNvPr>
          <p:cNvSpPr>
            <a:spLocks xmlns:a="http://schemas.openxmlformats.org/drawingml/2006/main" noGrp="1"/>
          </p:cNvSpPr>
          <p:nvPr/>
        </p:nvSpPr>
        <p:spPr>
          <a:xfrm xmlns:a="http://schemas.openxmlformats.org/drawingml/2006/main">
            <a:off x="335787" y="2970694"/>
            <a:ext cx="60198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Proposed Solution </a:t>
            </a:r>
            <a:endParaRPr sz="1400" b="0" i="0" u="none" strike="noStrike" cap="none">
              <a:solidFill>
                <a:srgbClr val="000000"/>
              </a:solidFill>
              <a:latin typeface="Arial"/>
              <a:ea typeface="Arial"/>
              <a:cs typeface="Arial"/>
            </a:endParaRPr>
          </a:p>
        </p:txBody>
      </p:sp>
      <p:pic>
        <p:nvPicPr>
          <p:cNvPr id="355" name="Google Shape;98;p2"/>
          <p:cNvPicPr>
            <a:picLocks xmlns:a="http://schemas.openxmlformats.org/drawingml/2006/main" noChangeAspect="1"/>
          </p:cNvPicPr>
          <p:nvPr/>
        </p:nvPicPr>
        <p:blipFill rotWithShape="1">
          <a:blip xmlns:r="http://schemas.openxmlformats.org/officeDocument/2006/relationships" xmlns:a="http://schemas.openxmlformats.org/drawingml/2006/main" r:embed="Rf58f63490522459b">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99" name="Google Shape;99;p2">
            <a:extLst xmlns:a="http://schemas.openxmlformats.org/drawingml/2006/main">
              <a:ext uri="{FF2B5EF4-FFF2-40B4-BE49-F238E27FC236}">
                <a16:creationId xmlns:a16="http://schemas.microsoft.com/office/drawing/2014/main" id="{3BD781E7-B6C3-4EF6-A4B4-0905B8B6BCB3}"/>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cxnSp>
        <p:nvCxnSpPr>
          <p:cNvPr id="357" name="Google Shape;100;p2"/>
          <p:cNvCxnSpPr/>
          <p:nvPr/>
        </p:nvCxnSpPr>
        <p:spPr>
          <a:xfrm xmlns:a="http://schemas.openxmlformats.org/drawingml/2006/main">
            <a:off x="12763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58" name="Google Shape;101;p2"/>
          <p:cNvCxnSpPr/>
          <p:nvPr/>
        </p:nvCxnSpPr>
        <p:spPr>
          <a:xfrm xmlns:a="http://schemas.openxmlformats.org/drawingml/2006/main">
            <a:off x="1466850" y="5657850"/>
            <a:ext cx="0" cy="49530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59" name="Google Shape;102;p2"/>
          <p:cNvCxnSpPr/>
          <p:nvPr/>
        </p:nvCxnSpPr>
        <p:spPr>
          <a:xfrm xmlns:a="http://schemas.openxmlformats.org/drawingml/2006/main">
            <a:off x="5086350" y="5657850"/>
            <a:ext cx="0" cy="49530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60" name="Google Shape;103;p2"/>
          <p:cNvCxnSpPr/>
          <p:nvPr/>
        </p:nvCxnSpPr>
        <p:spPr>
          <a:xfrm xmlns:a="http://schemas.openxmlformats.org/drawingml/2006/main">
            <a:off x="1466850" y="56578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361" name="Google Shape;104;p2"/>
          <p:cNvCxnSpPr/>
          <p:nvPr/>
        </p:nvCxnSpPr>
        <p:spPr>
          <a:xfrm xmlns:a="http://schemas.openxmlformats.org/drawingml/2006/main">
            <a:off x="4895850" y="56578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62" name="Google Shape;105;p2"/>
          <p:cNvCxnSpPr/>
          <p:nvPr/>
        </p:nvCxnSpPr>
        <p:spPr>
          <a:xfrm xmlns:a="http://schemas.openxmlformats.org/drawingml/2006/main">
            <a:off x="14668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363" name="Google Shape;106;p2"/>
          <p:cNvCxnSpPr/>
          <p:nvPr/>
        </p:nvCxnSpPr>
        <p:spPr>
          <a:xfrm xmlns:a="http://schemas.openxmlformats.org/drawingml/2006/main">
            <a:off x="48958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64" name="Google Shape;107;p2"/>
          <p:cNvCxnSpPr/>
          <p:nvPr/>
        </p:nvCxnSpPr>
        <p:spPr>
          <a:xfrm xmlns:a="http://schemas.openxmlformats.org/drawingml/2006/main">
            <a:off x="1466850" y="61531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365" name="Google Shape;108;p2"/>
          <p:cNvCxnSpPr/>
          <p:nvPr/>
        </p:nvCxnSpPr>
        <p:spPr>
          <a:xfrm xmlns:a="http://schemas.openxmlformats.org/drawingml/2006/main">
            <a:off x="4895850" y="61531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66" name="Google Shape;109;p2"/>
          <p:cNvCxnSpPr/>
          <p:nvPr/>
        </p:nvCxnSpPr>
        <p:spPr>
          <a:xfrm xmlns:a="http://schemas.openxmlformats.org/drawingml/2006/main">
            <a:off x="5086350" y="5905500"/>
            <a:ext cx="238125"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sp>
        <p:nvSpPr>
          <p:cNvPr id="110" name="Google Shape;110;p2">
            <a:extLst xmlns:a="http://schemas.openxmlformats.org/drawingml/2006/main">
              <a:ext uri="{FF2B5EF4-FFF2-40B4-BE49-F238E27FC236}">
                <a16:creationId xmlns:a16="http://schemas.microsoft.com/office/drawing/2014/main" id="{FD652649-4E94-492D-83DC-0D3E95BF3E42}"/>
              </a:ext>
            </a:extLst>
          </p:cNvPr>
          <p:cNvSpPr>
            <a:spLocks xmlns:a="http://schemas.openxmlformats.org/drawingml/2006/main" noGrp="1"/>
          </p:cNvSpPr>
          <p:nvPr/>
        </p:nvSpPr>
        <p:spPr>
          <a:xfrm xmlns:a="http://schemas.openxmlformats.org/drawingml/2006/main">
            <a:off x="323850" y="5286564"/>
            <a:ext cx="6191400" cy="26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214E83"/>
                </a:solidFill>
                <a:latin typeface="Arial"/>
                <a:ea typeface="Arial"/>
                <a:cs typeface="Arial"/>
              </a:rPr>
              <a:t>Weather observations to local guidance</a:t>
            </a:r>
            <a:endParaRPr sz="1575" b="0" i="0" u="none" strike="noStrike" cap="none">
              <a:solidFill>
                <a:srgbClr val="000000"/>
              </a:solidFill>
              <a:latin typeface="Arial"/>
              <a:ea typeface="Arial"/>
              <a:cs typeface="Arial"/>
            </a:endParaRPr>
          </a:p>
        </p:txBody>
      </p:sp>
      <p:sp>
        <p:nvSpPr>
          <p:cNvPr id="111" name="Google Shape;111;p2">
            <a:extLst xmlns:a="http://schemas.openxmlformats.org/drawingml/2006/main">
              <a:ext uri="{FF2B5EF4-FFF2-40B4-BE49-F238E27FC236}">
                <a16:creationId xmlns:a16="http://schemas.microsoft.com/office/drawing/2014/main" id="{3610E02B-8D07-4AD1-933A-F38F02971AB4}"/>
              </a:ext>
            </a:extLst>
          </p:cNvPr>
          <p:cNvSpPr>
            <a:spLocks xmlns:a="http://schemas.openxmlformats.org/drawingml/2006/main" noGrp="1"/>
          </p:cNvSpPr>
          <p:nvPr/>
        </p:nvSpPr>
        <p:spPr>
          <a:xfrm xmlns:a="http://schemas.openxmlformats.org/drawingml/2006/main">
            <a:off x="400050" y="5705475"/>
            <a:ext cx="876300" cy="400050"/>
          </a:xfrm>
          <a:prstGeom xmlns:a="http://schemas.openxmlformats.org/drawingml/2006/main" prst="rect">
            <a:avLst/>
          </a:prstGeom>
          <a:solidFill xmlns:a="http://schemas.openxmlformats.org/drawingml/2006/main">
            <a:srgbClr val="EAF2FC"/>
          </a:solidFill>
          <a:ln xmlns:a="http://schemas.openxmlformats.org/drawingml/2006/main" w="9525" cap="flat" cmpd="sng">
            <a:solidFill>
              <a:srgbClr val="86A9C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 name="Google Shape;112;p2">
            <a:extLst xmlns:a="http://schemas.openxmlformats.org/drawingml/2006/main">
              <a:ext uri="{FF2B5EF4-FFF2-40B4-BE49-F238E27FC236}">
                <a16:creationId xmlns:a16="http://schemas.microsoft.com/office/drawing/2014/main" id="{80BDF160-C242-4368-AD80-91B2DBC9D153}"/>
              </a:ext>
            </a:extLst>
          </p:cNvPr>
          <p:cNvSpPr>
            <a:spLocks xmlns:a="http://schemas.openxmlformats.org/drawingml/2006/main" noGrp="1"/>
          </p:cNvSpPr>
          <p:nvPr/>
        </p:nvSpPr>
        <p:spPr>
          <a:xfrm xmlns:a="http://schemas.openxmlformats.org/drawingml/2006/main">
            <a:off x="438150" y="5715000"/>
            <a:ext cx="800100" cy="185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25"/>
              <a:buFont typeface="Arial"/>
              <a:buNone/>
            </a:pPr>
            <a:r>
              <a:rPr sz="1125" b="1" i="0" u="none" strike="noStrike" cap="none">
                <a:solidFill>
                  <a:srgbClr val="214E83"/>
                </a:solidFill>
                <a:latin typeface="Arial"/>
                <a:ea typeface="Arial"/>
                <a:cs typeface="Arial"/>
              </a:rPr>
              <a:t>Sources</a:t>
            </a:r>
            <a:endParaRPr sz="1125" b="0" i="0" u="none" strike="noStrike" cap="none">
              <a:solidFill>
                <a:srgbClr val="000000"/>
              </a:solidFill>
              <a:latin typeface="Arial"/>
              <a:ea typeface="Arial"/>
              <a:cs typeface="Arial"/>
            </a:endParaRPr>
          </a:p>
        </p:txBody>
      </p:sp>
      <p:sp>
        <p:nvSpPr>
          <p:cNvPr id="113" name="Google Shape;113;p2">
            <a:extLst xmlns:a="http://schemas.openxmlformats.org/drawingml/2006/main">
              <a:ext uri="{FF2B5EF4-FFF2-40B4-BE49-F238E27FC236}">
                <a16:creationId xmlns:a16="http://schemas.microsoft.com/office/drawing/2014/main" id="{0601F539-36AD-4FC4-BE8E-8DE915B74B64}"/>
              </a:ext>
            </a:extLst>
          </p:cNvPr>
          <p:cNvSpPr>
            <a:spLocks xmlns:a="http://schemas.openxmlformats.org/drawingml/2006/main" noGrp="1"/>
          </p:cNvSpPr>
          <p:nvPr/>
        </p:nvSpPr>
        <p:spPr>
          <a:xfrm xmlns:a="http://schemas.openxmlformats.org/drawingml/2006/main">
            <a:off x="438150" y="5900738"/>
            <a:ext cx="800100" cy="1547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38"/>
              <a:buFont typeface="Arial"/>
              <a:buNone/>
            </a:pPr>
            <a:r>
              <a:rPr sz="938" b="0" i="0" u="none" strike="noStrike" cap="none">
                <a:solidFill>
                  <a:srgbClr val="42576B"/>
                </a:solidFill>
                <a:latin typeface="Arial"/>
                <a:ea typeface="Arial"/>
                <a:cs typeface="Arial"/>
              </a:rPr>
              <a:t>India</a:t>
            </a:r>
            <a:endParaRPr sz="938" b="0" i="0" u="none" strike="noStrike" cap="none">
              <a:solidFill>
                <a:srgbClr val="000000"/>
              </a:solidFill>
              <a:latin typeface="Arial"/>
              <a:ea typeface="Arial"/>
              <a:cs typeface="Arial"/>
            </a:endParaRPr>
          </a:p>
        </p:txBody>
      </p:sp>
      <p:sp>
        <p:nvSpPr>
          <p:cNvPr id="114" name="Google Shape;114;p2">
            <a:extLst xmlns:a="http://schemas.openxmlformats.org/drawingml/2006/main">
              <a:ext uri="{FF2B5EF4-FFF2-40B4-BE49-F238E27FC236}">
                <a16:creationId xmlns:a16="http://schemas.microsoft.com/office/drawing/2014/main" id="{47A15488-6165-46D2-9D04-02A5CE709B1D}"/>
              </a:ext>
            </a:extLst>
          </p:cNvPr>
          <p:cNvSpPr>
            <a:spLocks xmlns:a="http://schemas.openxmlformats.org/drawingml/2006/main" noGrp="1"/>
          </p:cNvSpPr>
          <p:nvPr/>
        </p:nvSpPr>
        <p:spPr>
          <a:xfrm xmlns:a="http://schemas.openxmlformats.org/drawingml/2006/main">
            <a:off x="1657350" y="5557838"/>
            <a:ext cx="3238500" cy="200025"/>
          </a:xfrm>
          <a:prstGeom xmlns:a="http://schemas.openxmlformats.org/drawingml/2006/main" prst="rect">
            <a:avLst/>
          </a:prstGeom>
          <a:solidFill xmlns:a="http://schemas.openxmlformats.org/drawingml/2006/main">
            <a:srgbClr val="EDF5FC"/>
          </a:solidFill>
          <a:ln xmlns:a="http://schemas.openxmlformats.org/drawingml/2006/main" w="9525" cap="flat" cmpd="sng">
            <a:solidFill>
              <a:srgbClr val="8CB1D4"/>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2">
            <a:extLst xmlns:a="http://schemas.openxmlformats.org/drawingml/2006/main">
              <a:ext uri="{FF2B5EF4-FFF2-40B4-BE49-F238E27FC236}">
                <a16:creationId xmlns:a16="http://schemas.microsoft.com/office/drawing/2014/main" id="{D8035448-EB21-4267-B683-AEFB0290466A}"/>
              </a:ext>
            </a:extLst>
          </p:cNvPr>
          <p:cNvSpPr>
            <a:spLocks xmlns:a="http://schemas.openxmlformats.org/drawingml/2006/main" noGrp="1"/>
          </p:cNvSpPr>
          <p:nvPr/>
        </p:nvSpPr>
        <p:spPr>
          <a:xfrm xmlns:a="http://schemas.openxmlformats.org/drawingml/2006/main">
            <a:off x="1752600" y="556831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285F91"/>
                </a:solidFill>
                <a:latin typeface="Arial"/>
                <a:ea typeface="Arial"/>
                <a:cs typeface="Arial"/>
              </a:rPr>
              <a:t>Motion</a:t>
            </a:r>
            <a:endParaRPr sz="1050" b="0" i="0" u="none" strike="noStrike" cap="none">
              <a:solidFill>
                <a:srgbClr val="000000"/>
              </a:solidFill>
              <a:latin typeface="Arial"/>
              <a:ea typeface="Arial"/>
              <a:cs typeface="Arial"/>
            </a:endParaRPr>
          </a:p>
        </p:txBody>
      </p:sp>
      <p:sp>
        <p:nvSpPr>
          <p:cNvPr id="116" name="Google Shape;116;p2">
            <a:extLst xmlns:a="http://schemas.openxmlformats.org/drawingml/2006/main">
              <a:ext uri="{FF2B5EF4-FFF2-40B4-BE49-F238E27FC236}">
                <a16:creationId xmlns:a16="http://schemas.microsoft.com/office/drawing/2014/main" id="{21F44BFC-024C-40B1-963D-2825EB74B77F}"/>
              </a:ext>
            </a:extLst>
          </p:cNvPr>
          <p:cNvSpPr>
            <a:spLocks xmlns:a="http://schemas.openxmlformats.org/drawingml/2006/main" noGrp="1"/>
          </p:cNvSpPr>
          <p:nvPr/>
        </p:nvSpPr>
        <p:spPr>
          <a:xfrm xmlns:a="http://schemas.openxmlformats.org/drawingml/2006/main">
            <a:off x="2409825" y="557498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Echo movement + change</a:t>
            </a:r>
            <a:endParaRPr sz="975" b="0" i="0" u="none" strike="noStrike" cap="none">
              <a:solidFill>
                <a:srgbClr val="000000"/>
              </a:solidFill>
              <a:latin typeface="Arial"/>
              <a:ea typeface="Arial"/>
              <a:cs typeface="Arial"/>
            </a:endParaRPr>
          </a:p>
        </p:txBody>
      </p:sp>
      <p:sp>
        <p:nvSpPr>
          <p:cNvPr id="117" name="Google Shape;117;p2">
            <a:extLst xmlns:a="http://schemas.openxmlformats.org/drawingml/2006/main">
              <a:ext uri="{FF2B5EF4-FFF2-40B4-BE49-F238E27FC236}">
                <a16:creationId xmlns:a16="http://schemas.microsoft.com/office/drawing/2014/main" id="{9207E269-1711-41FA-ABB4-FA647EB5B3F2}"/>
              </a:ext>
            </a:extLst>
          </p:cNvPr>
          <p:cNvSpPr>
            <a:spLocks xmlns:a="http://schemas.openxmlformats.org/drawingml/2006/main" noGrp="1"/>
          </p:cNvSpPr>
          <p:nvPr/>
        </p:nvSpPr>
        <p:spPr>
          <a:xfrm xmlns:a="http://schemas.openxmlformats.org/drawingml/2006/main">
            <a:off x="1657350" y="5805488"/>
            <a:ext cx="3238500" cy="200025"/>
          </a:xfrm>
          <a:prstGeom xmlns:a="http://schemas.openxmlformats.org/drawingml/2006/main" prst="rect">
            <a:avLst/>
          </a:prstGeom>
          <a:solidFill xmlns:a="http://schemas.openxmlformats.org/drawingml/2006/main">
            <a:srgbClr val="FFF6E8"/>
          </a:solidFill>
          <a:ln xmlns:a="http://schemas.openxmlformats.org/drawingml/2006/main" w="9525" cap="flat" cmpd="sng">
            <a:solidFill>
              <a:srgbClr val="D9B47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8" name="Google Shape;118;p2">
            <a:extLst xmlns:a="http://schemas.openxmlformats.org/drawingml/2006/main">
              <a:ext uri="{FF2B5EF4-FFF2-40B4-BE49-F238E27FC236}">
                <a16:creationId xmlns:a16="http://schemas.microsoft.com/office/drawing/2014/main" id="{61999A91-905A-42F5-BB78-49FDBAE09400}"/>
              </a:ext>
            </a:extLst>
          </p:cNvPr>
          <p:cNvSpPr>
            <a:spLocks xmlns:a="http://schemas.openxmlformats.org/drawingml/2006/main" noGrp="1"/>
          </p:cNvSpPr>
          <p:nvPr/>
        </p:nvSpPr>
        <p:spPr>
          <a:xfrm xmlns:a="http://schemas.openxmlformats.org/drawingml/2006/main">
            <a:off x="1752600" y="581596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96601F"/>
                </a:solidFill>
                <a:latin typeface="Arial"/>
                <a:ea typeface="Arial"/>
                <a:cs typeface="Arial"/>
              </a:rPr>
              <a:t>Clouds</a:t>
            </a:r>
            <a:endParaRPr sz="1050" b="0" i="0" u="none" strike="noStrike" cap="none">
              <a:solidFill>
                <a:srgbClr val="000000"/>
              </a:solidFill>
              <a:latin typeface="Arial"/>
              <a:ea typeface="Arial"/>
              <a:cs typeface="Arial"/>
            </a:endParaRPr>
          </a:p>
        </p:txBody>
      </p:sp>
      <p:sp>
        <p:nvSpPr>
          <p:cNvPr id="119" name="Google Shape;119;p2">
            <a:extLst xmlns:a="http://schemas.openxmlformats.org/drawingml/2006/main">
              <a:ext uri="{FF2B5EF4-FFF2-40B4-BE49-F238E27FC236}">
                <a16:creationId xmlns:a16="http://schemas.microsoft.com/office/drawing/2014/main" id="{B6C7EAE1-508A-4013-B144-5E5AABD4CD75}"/>
              </a:ext>
            </a:extLst>
          </p:cNvPr>
          <p:cNvSpPr>
            <a:spLocks xmlns:a="http://schemas.openxmlformats.org/drawingml/2006/main" noGrp="1"/>
          </p:cNvSpPr>
          <p:nvPr/>
        </p:nvSpPr>
        <p:spPr>
          <a:xfrm xmlns:a="http://schemas.openxmlformats.org/drawingml/2006/main">
            <a:off x="2409825" y="582263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Growth + moisture</a:t>
            </a:r>
            <a:endParaRPr sz="975" b="0" i="0" u="none" strike="noStrike" cap="none">
              <a:solidFill>
                <a:srgbClr val="000000"/>
              </a:solidFill>
              <a:latin typeface="Arial"/>
              <a:ea typeface="Arial"/>
              <a:cs typeface="Arial"/>
            </a:endParaRPr>
          </a:p>
        </p:txBody>
      </p:sp>
      <p:sp>
        <p:nvSpPr>
          <p:cNvPr id="120" name="Google Shape;120;p2">
            <a:extLst xmlns:a="http://schemas.openxmlformats.org/drawingml/2006/main">
              <a:ext uri="{FF2B5EF4-FFF2-40B4-BE49-F238E27FC236}">
                <a16:creationId xmlns:a16="http://schemas.microsoft.com/office/drawing/2014/main" id="{EE26B3A2-7E06-42CF-925E-E7F07BBE90F2}"/>
              </a:ext>
            </a:extLst>
          </p:cNvPr>
          <p:cNvSpPr>
            <a:spLocks xmlns:a="http://schemas.openxmlformats.org/drawingml/2006/main" noGrp="1"/>
          </p:cNvSpPr>
          <p:nvPr/>
        </p:nvSpPr>
        <p:spPr>
          <a:xfrm xmlns:a="http://schemas.openxmlformats.org/drawingml/2006/main">
            <a:off x="1657350" y="6053138"/>
            <a:ext cx="3238500" cy="200025"/>
          </a:xfrm>
          <a:prstGeom xmlns:a="http://schemas.openxmlformats.org/drawingml/2006/main" prst="rect">
            <a:avLst/>
          </a:prstGeom>
          <a:solidFill xmlns:a="http://schemas.openxmlformats.org/drawingml/2006/main">
            <a:srgbClr val="F3EFFB"/>
          </a:solidFill>
          <a:ln xmlns:a="http://schemas.openxmlformats.org/drawingml/2006/main" w="9525" cap="flat" cmpd="sng">
            <a:solidFill>
              <a:srgbClr val="B09AC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 name="Google Shape;121;p2">
            <a:extLst xmlns:a="http://schemas.openxmlformats.org/drawingml/2006/main">
              <a:ext uri="{FF2B5EF4-FFF2-40B4-BE49-F238E27FC236}">
                <a16:creationId xmlns:a16="http://schemas.microsoft.com/office/drawing/2014/main" id="{73258675-3652-49E5-978F-D7DFA1A420E8}"/>
              </a:ext>
            </a:extLst>
          </p:cNvPr>
          <p:cNvSpPr>
            <a:spLocks xmlns:a="http://schemas.openxmlformats.org/drawingml/2006/main" noGrp="1"/>
          </p:cNvSpPr>
          <p:nvPr/>
        </p:nvSpPr>
        <p:spPr>
          <a:xfrm xmlns:a="http://schemas.openxmlformats.org/drawingml/2006/main">
            <a:off x="1752600" y="606361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7250A0"/>
                </a:solidFill>
                <a:latin typeface="Arial"/>
                <a:ea typeface="Arial"/>
                <a:cs typeface="Arial"/>
              </a:rPr>
              <a:t>History</a:t>
            </a:r>
            <a:endParaRPr sz="1050" b="0" i="0" u="none" strike="noStrike" cap="none">
              <a:solidFill>
                <a:srgbClr val="000000"/>
              </a:solidFill>
              <a:latin typeface="Arial"/>
              <a:ea typeface="Arial"/>
              <a:cs typeface="Arial"/>
            </a:endParaRPr>
          </a:p>
        </p:txBody>
      </p:sp>
      <p:sp>
        <p:nvSpPr>
          <p:cNvPr id="122" name="Google Shape;122;p2">
            <a:extLst xmlns:a="http://schemas.openxmlformats.org/drawingml/2006/main">
              <a:ext uri="{FF2B5EF4-FFF2-40B4-BE49-F238E27FC236}">
                <a16:creationId xmlns:a16="http://schemas.microsoft.com/office/drawing/2014/main" id="{998E1366-2E99-474C-BDCC-8A81177805EA}"/>
              </a:ext>
            </a:extLst>
          </p:cNvPr>
          <p:cNvSpPr>
            <a:spLocks xmlns:a="http://schemas.openxmlformats.org/drawingml/2006/main" noGrp="1"/>
          </p:cNvSpPr>
          <p:nvPr/>
        </p:nvSpPr>
        <p:spPr>
          <a:xfrm xmlns:a="http://schemas.openxmlformats.org/drawingml/2006/main">
            <a:off x="2409825" y="607028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Past rain / strikes / coverage</a:t>
            </a:r>
            <a:endParaRPr sz="975" b="0" i="0" u="none" strike="noStrike" cap="none">
              <a:solidFill>
                <a:srgbClr val="000000"/>
              </a:solidFill>
              <a:latin typeface="Arial"/>
              <a:ea typeface="Arial"/>
              <a:cs typeface="Arial"/>
            </a:endParaRPr>
          </a:p>
        </p:txBody>
      </p:sp>
      <p:sp>
        <p:nvSpPr>
          <p:cNvPr id="123" name="Google Shape;123;p2">
            <a:extLst xmlns:a="http://schemas.openxmlformats.org/drawingml/2006/main">
              <a:ext uri="{FF2B5EF4-FFF2-40B4-BE49-F238E27FC236}">
                <a16:creationId xmlns:a16="http://schemas.microsoft.com/office/drawing/2014/main" id="{412352AF-1803-4F7B-8E1A-2D319C46FD07}"/>
              </a:ext>
            </a:extLst>
          </p:cNvPr>
          <p:cNvSpPr>
            <a:spLocks xmlns:a="http://schemas.openxmlformats.org/drawingml/2006/main" noGrp="1"/>
          </p:cNvSpPr>
          <p:nvPr/>
        </p:nvSpPr>
        <p:spPr>
          <a:xfrm xmlns:a="http://schemas.openxmlformats.org/drawingml/2006/main">
            <a:off x="5324475" y="5705475"/>
            <a:ext cx="1400175" cy="400050"/>
          </a:xfrm>
          <a:prstGeom xmlns:a="http://schemas.openxmlformats.org/drawingml/2006/main" prst="rect">
            <a:avLst/>
          </a:prstGeom>
          <a:solidFill xmlns:a="http://schemas.openxmlformats.org/drawingml/2006/main">
            <a:srgbClr val="EAF6F0"/>
          </a:solidFill>
          <a:ln xmlns:a="http://schemas.openxmlformats.org/drawingml/2006/main" w="9525" cap="flat" cmpd="sng">
            <a:solidFill>
              <a:srgbClr val="80B39A"/>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2">
            <a:extLst xmlns:a="http://schemas.openxmlformats.org/drawingml/2006/main">
              <a:ext uri="{FF2B5EF4-FFF2-40B4-BE49-F238E27FC236}">
                <a16:creationId xmlns:a16="http://schemas.microsoft.com/office/drawing/2014/main" id="{5AA9FEA8-6205-4D4C-82E2-733BF4CE78EC}"/>
              </a:ext>
            </a:extLst>
          </p:cNvPr>
          <p:cNvSpPr>
            <a:spLocks xmlns:a="http://schemas.openxmlformats.org/drawingml/2006/main" noGrp="1"/>
          </p:cNvSpPr>
          <p:nvPr/>
        </p:nvSpPr>
        <p:spPr>
          <a:xfrm xmlns:a="http://schemas.openxmlformats.org/drawingml/2006/main">
            <a:off x="5381625" y="5715000"/>
            <a:ext cx="1285875" cy="185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25"/>
              <a:buFont typeface="Arial"/>
              <a:buNone/>
            </a:pPr>
            <a:r>
              <a:rPr sz="1125" b="1" i="0" u="none" strike="noStrike" cap="none">
                <a:solidFill>
                  <a:srgbClr val="267654"/>
                </a:solidFill>
                <a:latin typeface="Arial"/>
                <a:ea typeface="Arial"/>
                <a:cs typeface="Arial"/>
              </a:rPr>
              <a:t>Nowcast</a:t>
            </a:r>
            <a:endParaRPr sz="1125" b="0" i="0" u="none" strike="noStrike" cap="none">
              <a:solidFill>
                <a:srgbClr val="000000"/>
              </a:solidFill>
              <a:latin typeface="Arial"/>
              <a:ea typeface="Arial"/>
              <a:cs typeface="Arial"/>
            </a:endParaRPr>
          </a:p>
        </p:txBody>
      </p:sp>
      <p:sp>
        <p:nvSpPr>
          <p:cNvPr id="125" name="Google Shape;125;p2">
            <a:extLst xmlns:a="http://schemas.openxmlformats.org/drawingml/2006/main">
              <a:ext uri="{FF2B5EF4-FFF2-40B4-BE49-F238E27FC236}">
                <a16:creationId xmlns:a16="http://schemas.microsoft.com/office/drawing/2014/main" id="{B1F7B06B-7819-486D-AF3B-EBAFA6818479}"/>
              </a:ext>
            </a:extLst>
          </p:cNvPr>
          <p:cNvSpPr>
            <a:spLocks xmlns:a="http://schemas.openxmlformats.org/drawingml/2006/main" noGrp="1"/>
          </p:cNvSpPr>
          <p:nvPr/>
        </p:nvSpPr>
        <p:spPr>
          <a:xfrm xmlns:a="http://schemas.openxmlformats.org/drawingml/2006/main">
            <a:off x="5381625" y="5907405"/>
            <a:ext cx="1285875" cy="1461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85"/>
              <a:buFont typeface="Arial"/>
              <a:buNone/>
            </a:pPr>
            <a:r>
              <a:rPr sz="885" b="0" i="0" u="none" strike="noStrike" cap="none">
                <a:solidFill>
                  <a:srgbClr val="42576B"/>
                </a:solidFill>
                <a:latin typeface="Arial"/>
                <a:ea typeface="Arial"/>
                <a:cs typeface="Arial"/>
              </a:rPr>
              <a:t>Risk + onset + evidence</a:t>
            </a:r>
            <a:endParaRPr sz="885" b="0" i="0" u="none" strike="noStrike" cap="none">
              <a:solidFill>
                <a:srgbClr val="000000"/>
              </a:solidFill>
              <a:latin typeface="Arial"/>
              <a:ea typeface="Arial"/>
              <a:cs typeface="Arial"/>
            </a:endParaRPr>
          </a:p>
        </p:txBody>
      </p:sp>
      <p:sp>
        <p:nvSpPr>
          <p:cNvPr id="239" name="Value proposition frame">
            <a:extLst xmlns:a="http://schemas.openxmlformats.org/drawingml/2006/main">
              <a:ext uri="{FF2B5EF4-FFF2-40B4-BE49-F238E27FC236}">
                <a16:creationId xmlns:a16="http://schemas.microsoft.com/office/drawing/2014/main" id="{812A73FC-DAE1-4A2E-BB69-680CE6BCC38A}"/>
              </a:ext>
            </a:extLst>
          </p:cNvPr>
          <p:cNvSpPr>
            <a:spLocks xmlns:a="http://schemas.openxmlformats.org/drawingml/2006/main" noGrp="1"/>
          </p:cNvSpPr>
          <p:nvPr/>
        </p:nvSpPr>
        <p:spPr>
          <a:xfrm xmlns:a="http://schemas.openxmlformats.org/drawingml/2006/main">
            <a:off x="6949916" y="846677"/>
            <a:ext cx="5048060" cy="2638425"/>
          </a:xfrm>
          <a:prstGeom xmlns:a="http://schemas.openxmlformats.org/drawingml/2006/main" prst="rect">
            <a:avLst/>
          </a:prstGeom>
          <a:solidFill xmlns:a="http://schemas.openxmlformats.org/drawingml/2006/main">
            <a:srgbClr val="FFFFFF"/>
          </a:solidFill>
          <a:ln xmlns:a="http://schemas.openxmlformats.org/drawingml/2006/main" w="10478">
            <a:solidFill>
              <a:srgbClr val="B8CCDC"/>
            </a:solidFill>
            <a:prstDash val="solid"/>
          </a:ln>
        </p:spPr>
      </p:sp>
      <p:sp>
        <p:nvSpPr>
          <p:cNvPr id="240" name="Key Value Proposition">
            <a:extLst xmlns:a="http://schemas.openxmlformats.org/drawingml/2006/main">
              <a:ext uri="{FF2B5EF4-FFF2-40B4-BE49-F238E27FC236}">
                <a16:creationId xmlns:a16="http://schemas.microsoft.com/office/drawing/2014/main" id="{44CFCF58-1CFF-4631-B845-33ED2C370399}"/>
              </a:ext>
            </a:extLst>
          </p:cNvPr>
          <p:cNvSpPr>
            <a:spLocks xmlns:a="http://schemas.openxmlformats.org/drawingml/2006/main" noGrp="1"/>
          </p:cNvSpPr>
          <p:nvPr/>
        </p:nvSpPr>
        <p:spPr>
          <a:xfrm xmlns:a="http://schemas.openxmlformats.org/drawingml/2006/main">
            <a:off x="7086600" y="952500"/>
            <a:ext cx="4733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23568F"/>
                </a:solidFill>
                <a:latin typeface="Arial"/>
                <a:ea typeface="Arial"/>
                <a:cs typeface="Arial"/>
              </a:defRPr>
            </a:pPr>
            <a:r>
              <a:rPr sz="1800" b="1">
                <a:solidFill>
                  <a:srgbClr val="23568F"/>
                </a:solidFill>
                <a:latin typeface="Arial"/>
                <a:ea typeface="Arial"/>
                <a:cs typeface="Arial"/>
              </a:rPr>
              <a:t>Key Value Proposition</a:t>
            </a:r>
          </a:p>
        </p:txBody>
      </p:sp>
      <p:sp>
        <p:nvSpPr>
          <p:cNvPr id="241" name="Feature marker 0-0">
            <a:extLst xmlns:a="http://schemas.openxmlformats.org/drawingml/2006/main">
              <a:ext uri="{FF2B5EF4-FFF2-40B4-BE49-F238E27FC236}">
                <a16:creationId xmlns:a16="http://schemas.microsoft.com/office/drawing/2014/main" id="{7373E854-ADA7-448C-91F5-B1F30A2CFD57}"/>
              </a:ext>
            </a:extLst>
          </p:cNvPr>
          <p:cNvSpPr>
            <a:spLocks xmlns:a="http://schemas.openxmlformats.org/drawingml/2006/main" noGrp="1"/>
          </p:cNvSpPr>
          <p:nvPr/>
        </p:nvSpPr>
        <p:spPr>
          <a:xfrm xmlns:a="http://schemas.openxmlformats.org/drawingml/2006/main">
            <a:off x="7086600" y="140017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2" name="Feature 0-0">
            <a:extLst xmlns:a="http://schemas.openxmlformats.org/drawingml/2006/main">
              <a:ext uri="{FF2B5EF4-FFF2-40B4-BE49-F238E27FC236}">
                <a16:creationId xmlns:a16="http://schemas.microsoft.com/office/drawing/2014/main" id="{74AF25F3-F081-4F27-8424-795F4B732F0C}"/>
              </a:ext>
            </a:extLst>
          </p:cNvPr>
          <p:cNvSpPr>
            <a:spLocks xmlns:a="http://schemas.openxmlformats.org/drawingml/2006/main" noGrp="1"/>
          </p:cNvSpPr>
          <p:nvPr/>
        </p:nvSpPr>
        <p:spPr>
          <a:xfrm xmlns:a="http://schemas.openxmlformats.org/drawingml/2006/main">
            <a:off x="7181850" y="13239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30-min Outlook</a:t>
            </a:r>
          </a:p>
        </p:txBody>
      </p:sp>
      <p:sp>
        <p:nvSpPr>
          <p:cNvPr id="243" name="Feature marker 0-1">
            <a:extLst xmlns:a="http://schemas.openxmlformats.org/drawingml/2006/main">
              <a:ext uri="{FF2B5EF4-FFF2-40B4-BE49-F238E27FC236}">
                <a16:creationId xmlns:a16="http://schemas.microsoft.com/office/drawing/2014/main" id="{41029071-8E4D-4300-A5CB-E66119D59E96}"/>
              </a:ext>
            </a:extLst>
          </p:cNvPr>
          <p:cNvSpPr>
            <a:spLocks xmlns:a="http://schemas.openxmlformats.org/drawingml/2006/main" noGrp="1"/>
          </p:cNvSpPr>
          <p:nvPr/>
        </p:nvSpPr>
        <p:spPr>
          <a:xfrm xmlns:a="http://schemas.openxmlformats.org/drawingml/2006/main">
            <a:off x="7086600" y="163830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4" name="Feature 0-1">
            <a:extLst xmlns:a="http://schemas.openxmlformats.org/drawingml/2006/main">
              <a:ext uri="{FF2B5EF4-FFF2-40B4-BE49-F238E27FC236}">
                <a16:creationId xmlns:a16="http://schemas.microsoft.com/office/drawing/2014/main" id="{E66807C8-7DE0-4887-A9D2-A188909C40B9}"/>
              </a:ext>
            </a:extLst>
          </p:cNvPr>
          <p:cNvSpPr>
            <a:spLocks xmlns:a="http://schemas.openxmlformats.org/drawingml/2006/main" noGrp="1"/>
          </p:cNvSpPr>
          <p:nvPr/>
        </p:nvSpPr>
        <p:spPr>
          <a:xfrm xmlns:a="http://schemas.openxmlformats.org/drawingml/2006/main">
            <a:off x="7181850" y="1562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5-min Refresh*</a:t>
            </a:r>
          </a:p>
        </p:txBody>
      </p:sp>
      <p:sp>
        <p:nvSpPr>
          <p:cNvPr id="245" name="Feature marker 0-2">
            <a:extLst xmlns:a="http://schemas.openxmlformats.org/drawingml/2006/main">
              <a:ext uri="{FF2B5EF4-FFF2-40B4-BE49-F238E27FC236}">
                <a16:creationId xmlns:a16="http://schemas.microsoft.com/office/drawing/2014/main" id="{D5EA8972-425F-4E7D-B2EF-1D5C0B4AD714}"/>
              </a:ext>
            </a:extLst>
          </p:cNvPr>
          <p:cNvSpPr>
            <a:spLocks xmlns:a="http://schemas.openxmlformats.org/drawingml/2006/main" noGrp="1"/>
          </p:cNvSpPr>
          <p:nvPr/>
        </p:nvSpPr>
        <p:spPr>
          <a:xfrm xmlns:a="http://schemas.openxmlformats.org/drawingml/2006/main">
            <a:off x="7086600" y="187642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6" name="Feature 0-2">
            <a:extLst xmlns:a="http://schemas.openxmlformats.org/drawingml/2006/main">
              <a:ext uri="{FF2B5EF4-FFF2-40B4-BE49-F238E27FC236}">
                <a16:creationId xmlns:a16="http://schemas.microsoft.com/office/drawing/2014/main" id="{2CC70C65-FDBB-4C6D-8C84-A33F92AFB5BE}"/>
              </a:ext>
            </a:extLst>
          </p:cNvPr>
          <p:cNvSpPr>
            <a:spLocks xmlns:a="http://schemas.openxmlformats.org/drawingml/2006/main" noGrp="1"/>
          </p:cNvSpPr>
          <p:nvPr/>
        </p:nvSpPr>
        <p:spPr>
          <a:xfrm xmlns:a="http://schemas.openxmlformats.org/drawingml/2006/main">
            <a:off x="7181850" y="18002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10-min Updates*</a:t>
            </a:r>
          </a:p>
        </p:txBody>
      </p:sp>
      <p:sp>
        <p:nvSpPr>
          <p:cNvPr id="247" name="Feature marker 0-3">
            <a:extLst xmlns:a="http://schemas.openxmlformats.org/drawingml/2006/main">
              <a:ext uri="{FF2B5EF4-FFF2-40B4-BE49-F238E27FC236}">
                <a16:creationId xmlns:a16="http://schemas.microsoft.com/office/drawing/2014/main" id="{B3182773-47FB-43B2-8BCB-B68A27AA01AE}"/>
              </a:ext>
            </a:extLst>
          </p:cNvPr>
          <p:cNvSpPr>
            <a:spLocks xmlns:a="http://schemas.openxmlformats.org/drawingml/2006/main" noGrp="1"/>
          </p:cNvSpPr>
          <p:nvPr/>
        </p:nvSpPr>
        <p:spPr>
          <a:xfrm xmlns:a="http://schemas.openxmlformats.org/drawingml/2006/main">
            <a:off x="7086600" y="211455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8" name="Feature 0-3">
            <a:extLst xmlns:a="http://schemas.openxmlformats.org/drawingml/2006/main">
              <a:ext uri="{FF2B5EF4-FFF2-40B4-BE49-F238E27FC236}">
                <a16:creationId xmlns:a16="http://schemas.microsoft.com/office/drawing/2014/main" id="{FB1179BA-B5AB-4E04-BB94-798EA9146FEE}"/>
              </a:ext>
            </a:extLst>
          </p:cNvPr>
          <p:cNvSpPr>
            <a:spLocks xmlns:a="http://schemas.openxmlformats.org/drawingml/2006/main" noGrp="1"/>
          </p:cNvSpPr>
          <p:nvPr/>
        </p:nvSpPr>
        <p:spPr>
          <a:xfrm xmlns:a="http://schemas.openxmlformats.org/drawingml/2006/main">
            <a:off x="7181850" y="20383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Rolling Forecasts*</a:t>
            </a:r>
          </a:p>
        </p:txBody>
      </p:sp>
      <p:sp>
        <p:nvSpPr>
          <p:cNvPr id="249" name="Feature marker 0-4">
            <a:extLst xmlns:a="http://schemas.openxmlformats.org/drawingml/2006/main">
              <a:ext uri="{FF2B5EF4-FFF2-40B4-BE49-F238E27FC236}">
                <a16:creationId xmlns:a16="http://schemas.microsoft.com/office/drawing/2014/main" id="{99F88ED2-95CB-45F8-8C5B-E9B4807A86EE}"/>
              </a:ext>
            </a:extLst>
          </p:cNvPr>
          <p:cNvSpPr>
            <a:spLocks xmlns:a="http://schemas.openxmlformats.org/drawingml/2006/main" noGrp="1"/>
          </p:cNvSpPr>
          <p:nvPr/>
        </p:nvSpPr>
        <p:spPr>
          <a:xfrm xmlns:a="http://schemas.openxmlformats.org/drawingml/2006/main">
            <a:off x="7086600" y="235267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0" name="Feature 0-4">
            <a:extLst xmlns:a="http://schemas.openxmlformats.org/drawingml/2006/main">
              <a:ext uri="{FF2B5EF4-FFF2-40B4-BE49-F238E27FC236}">
                <a16:creationId xmlns:a16="http://schemas.microsoft.com/office/drawing/2014/main" id="{F10F7135-4B12-4886-B8BB-FE9ED6252177}"/>
              </a:ext>
            </a:extLst>
          </p:cNvPr>
          <p:cNvSpPr>
            <a:spLocks xmlns:a="http://schemas.openxmlformats.org/drawingml/2006/main" noGrp="1"/>
          </p:cNvSpPr>
          <p:nvPr/>
        </p:nvSpPr>
        <p:spPr>
          <a:xfrm xmlns:a="http://schemas.openxmlformats.org/drawingml/2006/main">
            <a:off x="7181850" y="2276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Lightning Lead</a:t>
            </a:r>
          </a:p>
        </p:txBody>
      </p:sp>
      <p:sp>
        <p:nvSpPr>
          <p:cNvPr id="251" name="Feature marker 0-5">
            <a:extLst xmlns:a="http://schemas.openxmlformats.org/drawingml/2006/main">
              <a:ext uri="{FF2B5EF4-FFF2-40B4-BE49-F238E27FC236}">
                <a16:creationId xmlns:a16="http://schemas.microsoft.com/office/drawing/2014/main" id="{1E80690D-102D-4CD5-AAD0-140BE093B24E}"/>
              </a:ext>
            </a:extLst>
          </p:cNvPr>
          <p:cNvSpPr>
            <a:spLocks xmlns:a="http://schemas.openxmlformats.org/drawingml/2006/main" noGrp="1"/>
          </p:cNvSpPr>
          <p:nvPr/>
        </p:nvSpPr>
        <p:spPr>
          <a:xfrm xmlns:a="http://schemas.openxmlformats.org/drawingml/2006/main">
            <a:off x="7086600" y="259080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2" name="Feature 0-5">
            <a:extLst xmlns:a="http://schemas.openxmlformats.org/drawingml/2006/main">
              <a:ext uri="{FF2B5EF4-FFF2-40B4-BE49-F238E27FC236}">
                <a16:creationId xmlns:a16="http://schemas.microsoft.com/office/drawing/2014/main" id="{C7FF1DCE-3F45-4E1F-A9C0-F3398183A38A}"/>
              </a:ext>
            </a:extLst>
          </p:cNvPr>
          <p:cNvSpPr>
            <a:spLocks xmlns:a="http://schemas.openxmlformats.org/drawingml/2006/main" noGrp="1"/>
          </p:cNvSpPr>
          <p:nvPr/>
        </p:nvSpPr>
        <p:spPr>
          <a:xfrm xmlns:a="http://schemas.openxmlformats.org/drawingml/2006/main">
            <a:off x="7181850" y="25146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Onset Windows</a:t>
            </a:r>
          </a:p>
        </p:txBody>
      </p:sp>
      <p:sp>
        <p:nvSpPr>
          <p:cNvPr id="253" name="Feature marker 0-6">
            <a:extLst xmlns:a="http://schemas.openxmlformats.org/drawingml/2006/main">
              <a:ext uri="{FF2B5EF4-FFF2-40B4-BE49-F238E27FC236}">
                <a16:creationId xmlns:a16="http://schemas.microsoft.com/office/drawing/2014/main" id="{0F26CEAD-8386-4676-BE80-BC8EB1B65C78}"/>
              </a:ext>
            </a:extLst>
          </p:cNvPr>
          <p:cNvSpPr>
            <a:spLocks xmlns:a="http://schemas.openxmlformats.org/drawingml/2006/main" noGrp="1"/>
          </p:cNvSpPr>
          <p:nvPr/>
        </p:nvSpPr>
        <p:spPr>
          <a:xfrm xmlns:a="http://schemas.openxmlformats.org/drawingml/2006/main">
            <a:off x="7086600" y="282892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4" name="Feature 0-6">
            <a:extLst xmlns:a="http://schemas.openxmlformats.org/drawingml/2006/main">
              <a:ext uri="{FF2B5EF4-FFF2-40B4-BE49-F238E27FC236}">
                <a16:creationId xmlns:a16="http://schemas.microsoft.com/office/drawing/2014/main" id="{FAEF4517-C2CF-4A21-B7AF-36156B29E9F6}"/>
              </a:ext>
            </a:extLst>
          </p:cNvPr>
          <p:cNvSpPr>
            <a:spLocks xmlns:a="http://schemas.openxmlformats.org/drawingml/2006/main" noGrp="1"/>
          </p:cNvSpPr>
          <p:nvPr/>
        </p:nvSpPr>
        <p:spPr>
          <a:xfrm xmlns:a="http://schemas.openxmlformats.org/drawingml/2006/main">
            <a:off x="7181850" y="27527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Monsoon-aware</a:t>
            </a:r>
          </a:p>
        </p:txBody>
      </p:sp>
      <p:sp>
        <p:nvSpPr>
          <p:cNvPr id="255" name="Feature marker 0-7">
            <a:extLst xmlns:a="http://schemas.openxmlformats.org/drawingml/2006/main">
              <a:ext uri="{FF2B5EF4-FFF2-40B4-BE49-F238E27FC236}">
                <a16:creationId xmlns:a16="http://schemas.microsoft.com/office/drawing/2014/main" id="{B955B2A5-000E-4D61-9DBD-FE9FA928B131}"/>
              </a:ext>
            </a:extLst>
          </p:cNvPr>
          <p:cNvSpPr>
            <a:spLocks xmlns:a="http://schemas.openxmlformats.org/drawingml/2006/main" noGrp="1"/>
          </p:cNvSpPr>
          <p:nvPr/>
        </p:nvSpPr>
        <p:spPr>
          <a:xfrm xmlns:a="http://schemas.openxmlformats.org/drawingml/2006/main">
            <a:off x="7086600" y="306705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6" name="Feature 0-7">
            <a:extLst xmlns:a="http://schemas.openxmlformats.org/drawingml/2006/main">
              <a:ext uri="{FF2B5EF4-FFF2-40B4-BE49-F238E27FC236}">
                <a16:creationId xmlns:a16="http://schemas.microsoft.com/office/drawing/2014/main" id="{9EEEAA2D-C04D-4272-A262-8F9CEA90EEE1}"/>
              </a:ext>
            </a:extLst>
          </p:cNvPr>
          <p:cNvSpPr>
            <a:spLocks xmlns:a="http://schemas.openxmlformats.org/drawingml/2006/main" noGrp="1"/>
          </p:cNvSpPr>
          <p:nvPr/>
        </p:nvSpPr>
        <p:spPr>
          <a:xfrm xmlns:a="http://schemas.openxmlformats.org/drawingml/2006/main">
            <a:off x="7181850" y="29908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Seasonal Z-R</a:t>
            </a:r>
          </a:p>
        </p:txBody>
      </p:sp>
      <p:sp>
        <p:nvSpPr>
          <p:cNvPr id="257" name="Feature marker 1-0">
            <a:extLst xmlns:a="http://schemas.openxmlformats.org/drawingml/2006/main">
              <a:ext uri="{FF2B5EF4-FFF2-40B4-BE49-F238E27FC236}">
                <a16:creationId xmlns:a16="http://schemas.microsoft.com/office/drawing/2014/main" id="{4FD19919-A7E9-4C11-A9C3-4C7CD7B4ED79}"/>
              </a:ext>
            </a:extLst>
          </p:cNvPr>
          <p:cNvSpPr>
            <a:spLocks xmlns:a="http://schemas.openxmlformats.org/drawingml/2006/main" noGrp="1"/>
          </p:cNvSpPr>
          <p:nvPr/>
        </p:nvSpPr>
        <p:spPr>
          <a:xfrm xmlns:a="http://schemas.openxmlformats.org/drawingml/2006/main">
            <a:off x="8696325" y="140017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58" name="Feature 1-0">
            <a:extLst xmlns:a="http://schemas.openxmlformats.org/drawingml/2006/main">
              <a:ext uri="{FF2B5EF4-FFF2-40B4-BE49-F238E27FC236}">
                <a16:creationId xmlns:a16="http://schemas.microsoft.com/office/drawing/2014/main" id="{EA9973F8-7AF5-4634-81AE-AE152EB42C2C}"/>
              </a:ext>
            </a:extLst>
          </p:cNvPr>
          <p:cNvSpPr>
            <a:spLocks xmlns:a="http://schemas.openxmlformats.org/drawingml/2006/main" noGrp="1"/>
          </p:cNvSpPr>
          <p:nvPr/>
        </p:nvSpPr>
        <p:spPr>
          <a:xfrm xmlns:a="http://schemas.openxmlformats.org/drawingml/2006/main">
            <a:off x="8791575" y="13239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Warm-rain Checks</a:t>
            </a:r>
          </a:p>
        </p:txBody>
      </p:sp>
      <p:sp>
        <p:nvSpPr>
          <p:cNvPr id="259" name="Feature marker 1-1">
            <a:extLst xmlns:a="http://schemas.openxmlformats.org/drawingml/2006/main">
              <a:ext uri="{FF2B5EF4-FFF2-40B4-BE49-F238E27FC236}">
                <a16:creationId xmlns:a16="http://schemas.microsoft.com/office/drawing/2014/main" id="{493091C7-B4BE-4710-84E9-1765F6800A83}"/>
              </a:ext>
            </a:extLst>
          </p:cNvPr>
          <p:cNvSpPr>
            <a:spLocks xmlns:a="http://schemas.openxmlformats.org/drawingml/2006/main" noGrp="1"/>
          </p:cNvSpPr>
          <p:nvPr/>
        </p:nvSpPr>
        <p:spPr>
          <a:xfrm xmlns:a="http://schemas.openxmlformats.org/drawingml/2006/main">
            <a:off x="8696325" y="163830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0" name="Feature 1-1">
            <a:extLst xmlns:a="http://schemas.openxmlformats.org/drawingml/2006/main">
              <a:ext uri="{FF2B5EF4-FFF2-40B4-BE49-F238E27FC236}">
                <a16:creationId xmlns:a16="http://schemas.microsoft.com/office/drawing/2014/main" id="{301A375C-0D52-4DD0-815D-13C9151B5F8F}"/>
              </a:ext>
            </a:extLst>
          </p:cNvPr>
          <p:cNvSpPr>
            <a:spLocks xmlns:a="http://schemas.openxmlformats.org/drawingml/2006/main" noGrp="1"/>
          </p:cNvSpPr>
          <p:nvPr/>
        </p:nvSpPr>
        <p:spPr>
          <a:xfrm xmlns:a="http://schemas.openxmlformats.org/drawingml/2006/main">
            <a:off x="8791575" y="1562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Dust Flags</a:t>
            </a:r>
          </a:p>
        </p:txBody>
      </p:sp>
      <p:sp>
        <p:nvSpPr>
          <p:cNvPr id="261" name="Feature marker 1-2">
            <a:extLst xmlns:a="http://schemas.openxmlformats.org/drawingml/2006/main">
              <a:ext uri="{FF2B5EF4-FFF2-40B4-BE49-F238E27FC236}">
                <a16:creationId xmlns:a16="http://schemas.microsoft.com/office/drawing/2014/main" id="{D54B12A1-2B32-46DD-9E7F-CAC42B113284}"/>
              </a:ext>
            </a:extLst>
          </p:cNvPr>
          <p:cNvSpPr>
            <a:spLocks xmlns:a="http://schemas.openxmlformats.org/drawingml/2006/main" noGrp="1"/>
          </p:cNvSpPr>
          <p:nvPr/>
        </p:nvSpPr>
        <p:spPr>
          <a:xfrm xmlns:a="http://schemas.openxmlformats.org/drawingml/2006/main">
            <a:off x="8696325" y="187642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2" name="Feature 1-2">
            <a:extLst xmlns:a="http://schemas.openxmlformats.org/drawingml/2006/main">
              <a:ext uri="{FF2B5EF4-FFF2-40B4-BE49-F238E27FC236}">
                <a16:creationId xmlns:a16="http://schemas.microsoft.com/office/drawing/2014/main" id="{F32F48D7-4BEE-4B4E-B112-3DE001EFD2C3}"/>
              </a:ext>
            </a:extLst>
          </p:cNvPr>
          <p:cNvSpPr>
            <a:spLocks xmlns:a="http://schemas.openxmlformats.org/drawingml/2006/main" noGrp="1"/>
          </p:cNvSpPr>
          <p:nvPr/>
        </p:nvSpPr>
        <p:spPr>
          <a:xfrm xmlns:a="http://schemas.openxmlformats.org/drawingml/2006/main">
            <a:off x="8791575" y="18002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Evidence Cards</a:t>
            </a:r>
          </a:p>
        </p:txBody>
      </p:sp>
      <p:sp>
        <p:nvSpPr>
          <p:cNvPr id="263" name="Feature marker 1-3">
            <a:extLst xmlns:a="http://schemas.openxmlformats.org/drawingml/2006/main">
              <a:ext uri="{FF2B5EF4-FFF2-40B4-BE49-F238E27FC236}">
                <a16:creationId xmlns:a16="http://schemas.microsoft.com/office/drawing/2014/main" id="{B162C734-5B9B-4785-8802-B75AA702A3B6}"/>
              </a:ext>
            </a:extLst>
          </p:cNvPr>
          <p:cNvSpPr>
            <a:spLocks xmlns:a="http://schemas.openxmlformats.org/drawingml/2006/main" noGrp="1"/>
          </p:cNvSpPr>
          <p:nvPr/>
        </p:nvSpPr>
        <p:spPr>
          <a:xfrm xmlns:a="http://schemas.openxmlformats.org/drawingml/2006/main">
            <a:off x="8696325" y="211455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4" name="Feature 1-3">
            <a:extLst xmlns:a="http://schemas.openxmlformats.org/drawingml/2006/main">
              <a:ext uri="{FF2B5EF4-FFF2-40B4-BE49-F238E27FC236}">
                <a16:creationId xmlns:a16="http://schemas.microsoft.com/office/drawing/2014/main" id="{4C1BDAB2-FF44-4598-966B-06A7EF8FFF6E}"/>
              </a:ext>
            </a:extLst>
          </p:cNvPr>
          <p:cNvSpPr>
            <a:spLocks xmlns:a="http://schemas.openxmlformats.org/drawingml/2006/main" noGrp="1"/>
          </p:cNvSpPr>
          <p:nvPr/>
        </p:nvSpPr>
        <p:spPr>
          <a:xfrm xmlns:a="http://schemas.openxmlformats.org/drawingml/2006/main">
            <a:off x="8791575" y="20383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Public Scorecards*</a:t>
            </a:r>
          </a:p>
        </p:txBody>
      </p:sp>
      <p:sp>
        <p:nvSpPr>
          <p:cNvPr id="265" name="Feature marker 1-4">
            <a:extLst xmlns:a="http://schemas.openxmlformats.org/drawingml/2006/main">
              <a:ext uri="{FF2B5EF4-FFF2-40B4-BE49-F238E27FC236}">
                <a16:creationId xmlns:a16="http://schemas.microsoft.com/office/drawing/2014/main" id="{A30A1881-238E-4EEA-BCFC-AFFF09C1C6C5}"/>
              </a:ext>
            </a:extLst>
          </p:cNvPr>
          <p:cNvSpPr>
            <a:spLocks xmlns:a="http://schemas.openxmlformats.org/drawingml/2006/main" noGrp="1"/>
          </p:cNvSpPr>
          <p:nvPr/>
        </p:nvSpPr>
        <p:spPr>
          <a:xfrm xmlns:a="http://schemas.openxmlformats.org/drawingml/2006/main">
            <a:off x="8696325" y="235267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6" name="Feature 1-4">
            <a:extLst xmlns:a="http://schemas.openxmlformats.org/drawingml/2006/main">
              <a:ext uri="{FF2B5EF4-FFF2-40B4-BE49-F238E27FC236}">
                <a16:creationId xmlns:a16="http://schemas.microsoft.com/office/drawing/2014/main" id="{3E31CCB9-9A8F-48CB-9C99-2632172459CA}"/>
              </a:ext>
            </a:extLst>
          </p:cNvPr>
          <p:cNvSpPr>
            <a:spLocks xmlns:a="http://schemas.openxmlformats.org/drawingml/2006/main" noGrp="1"/>
          </p:cNvSpPr>
          <p:nvPr/>
        </p:nvSpPr>
        <p:spPr>
          <a:xfrm xmlns:a="http://schemas.openxmlformats.org/drawingml/2006/main">
            <a:off x="8791575" y="2276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Local Heatmaps*</a:t>
            </a:r>
          </a:p>
        </p:txBody>
      </p:sp>
      <p:sp>
        <p:nvSpPr>
          <p:cNvPr id="267" name="Feature marker 1-5">
            <a:extLst xmlns:a="http://schemas.openxmlformats.org/drawingml/2006/main">
              <a:ext uri="{FF2B5EF4-FFF2-40B4-BE49-F238E27FC236}">
                <a16:creationId xmlns:a16="http://schemas.microsoft.com/office/drawing/2014/main" id="{A41A7EE3-9AB1-428F-A328-4C466D02541F}"/>
              </a:ext>
            </a:extLst>
          </p:cNvPr>
          <p:cNvSpPr>
            <a:spLocks xmlns:a="http://schemas.openxmlformats.org/drawingml/2006/main" noGrp="1"/>
          </p:cNvSpPr>
          <p:nvPr/>
        </p:nvSpPr>
        <p:spPr>
          <a:xfrm xmlns:a="http://schemas.openxmlformats.org/drawingml/2006/main">
            <a:off x="8696325" y="259080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8" name="Feature 1-5">
            <a:extLst xmlns:a="http://schemas.openxmlformats.org/drawingml/2006/main">
              <a:ext uri="{FF2B5EF4-FFF2-40B4-BE49-F238E27FC236}">
                <a16:creationId xmlns:a16="http://schemas.microsoft.com/office/drawing/2014/main" id="{9CD3806A-2158-4839-8D2D-91AA94867937}"/>
              </a:ext>
            </a:extLst>
          </p:cNvPr>
          <p:cNvSpPr>
            <a:spLocks xmlns:a="http://schemas.openxmlformats.org/drawingml/2006/main" noGrp="1"/>
          </p:cNvSpPr>
          <p:nvPr/>
        </p:nvSpPr>
        <p:spPr>
          <a:xfrm xmlns:a="http://schemas.openxmlformats.org/drawingml/2006/main">
            <a:off x="8791575" y="25146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Citizen Feedback</a:t>
            </a:r>
          </a:p>
        </p:txBody>
      </p:sp>
      <p:sp>
        <p:nvSpPr>
          <p:cNvPr id="269" name="Feature marker 1-6">
            <a:extLst xmlns:a="http://schemas.openxmlformats.org/drawingml/2006/main">
              <a:ext uri="{FF2B5EF4-FFF2-40B4-BE49-F238E27FC236}">
                <a16:creationId xmlns:a16="http://schemas.microsoft.com/office/drawing/2014/main" id="{6015979E-B4DF-48D3-B688-9EF92F2A4FE1}"/>
              </a:ext>
            </a:extLst>
          </p:cNvPr>
          <p:cNvSpPr>
            <a:spLocks xmlns:a="http://schemas.openxmlformats.org/drawingml/2006/main" noGrp="1"/>
          </p:cNvSpPr>
          <p:nvPr/>
        </p:nvSpPr>
        <p:spPr>
          <a:xfrm xmlns:a="http://schemas.openxmlformats.org/drawingml/2006/main">
            <a:off x="8696325" y="282892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70" name="Feature 1-6">
            <a:extLst xmlns:a="http://schemas.openxmlformats.org/drawingml/2006/main">
              <a:ext uri="{FF2B5EF4-FFF2-40B4-BE49-F238E27FC236}">
                <a16:creationId xmlns:a16="http://schemas.microsoft.com/office/drawing/2014/main" id="{5A5FEBAA-7179-44D0-B167-2B57378EB767}"/>
              </a:ext>
            </a:extLst>
          </p:cNvPr>
          <p:cNvSpPr>
            <a:spLocks xmlns:a="http://schemas.openxmlformats.org/drawingml/2006/main" noGrp="1"/>
          </p:cNvSpPr>
          <p:nvPr/>
        </p:nvSpPr>
        <p:spPr>
          <a:xfrm xmlns:a="http://schemas.openxmlformats.org/drawingml/2006/main">
            <a:off x="8791575" y="27527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Reviewed Learning</a:t>
            </a:r>
          </a:p>
        </p:txBody>
      </p:sp>
      <p:sp>
        <p:nvSpPr>
          <p:cNvPr id="271" name="Feature marker 1-7">
            <a:extLst xmlns:a="http://schemas.openxmlformats.org/drawingml/2006/main">
              <a:ext uri="{FF2B5EF4-FFF2-40B4-BE49-F238E27FC236}">
                <a16:creationId xmlns:a16="http://schemas.microsoft.com/office/drawing/2014/main" id="{A8D5BF4C-3F49-4D6E-BDF4-04EB1DBF5BE1}"/>
              </a:ext>
            </a:extLst>
          </p:cNvPr>
          <p:cNvSpPr>
            <a:spLocks xmlns:a="http://schemas.openxmlformats.org/drawingml/2006/main" noGrp="1"/>
          </p:cNvSpPr>
          <p:nvPr/>
        </p:nvSpPr>
        <p:spPr>
          <a:xfrm xmlns:a="http://schemas.openxmlformats.org/drawingml/2006/main">
            <a:off x="8696325" y="306705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72" name="Feature 1-7">
            <a:extLst xmlns:a="http://schemas.openxmlformats.org/drawingml/2006/main">
              <a:ext uri="{FF2B5EF4-FFF2-40B4-BE49-F238E27FC236}">
                <a16:creationId xmlns:a16="http://schemas.microsoft.com/office/drawing/2014/main" id="{D8BBBA81-B6FC-4A37-943E-BE930052CCBC}"/>
              </a:ext>
            </a:extLst>
          </p:cNvPr>
          <p:cNvSpPr>
            <a:spLocks xmlns:a="http://schemas.openxmlformats.org/drawingml/2006/main" noGrp="1"/>
          </p:cNvSpPr>
          <p:nvPr/>
        </p:nvSpPr>
        <p:spPr>
          <a:xfrm xmlns:a="http://schemas.openxmlformats.org/drawingml/2006/main">
            <a:off x="8791575" y="29908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Model Benchmarks*</a:t>
            </a:r>
          </a:p>
        </p:txBody>
      </p:sp>
      <p:sp>
        <p:nvSpPr>
          <p:cNvPr id="273" name="Feature marker 2-0">
            <a:extLst xmlns:a="http://schemas.openxmlformats.org/drawingml/2006/main">
              <a:ext uri="{FF2B5EF4-FFF2-40B4-BE49-F238E27FC236}">
                <a16:creationId xmlns:a16="http://schemas.microsoft.com/office/drawing/2014/main" id="{72154ED8-BFF1-4CB2-888C-D552A7481CEF}"/>
              </a:ext>
            </a:extLst>
          </p:cNvPr>
          <p:cNvSpPr>
            <a:spLocks xmlns:a="http://schemas.openxmlformats.org/drawingml/2006/main" noGrp="1"/>
          </p:cNvSpPr>
          <p:nvPr/>
        </p:nvSpPr>
        <p:spPr>
          <a:xfrm xmlns:a="http://schemas.openxmlformats.org/drawingml/2006/main">
            <a:off x="10306050" y="140017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74" name="Feature 2-0">
            <a:extLst xmlns:a="http://schemas.openxmlformats.org/drawingml/2006/main">
              <a:ext uri="{FF2B5EF4-FFF2-40B4-BE49-F238E27FC236}">
                <a16:creationId xmlns:a16="http://schemas.microsoft.com/office/drawing/2014/main" id="{9DA5E05A-BF79-4834-B87E-FD3E3D2DAA54}"/>
              </a:ext>
            </a:extLst>
          </p:cNvPr>
          <p:cNvSpPr>
            <a:spLocks xmlns:a="http://schemas.openxmlformats.org/drawingml/2006/main" noGrp="1"/>
          </p:cNvSpPr>
          <p:nvPr/>
        </p:nvSpPr>
        <p:spPr>
          <a:xfrm xmlns:a="http://schemas.openxmlformats.org/drawingml/2006/main">
            <a:off x="10401300" y="13239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Native App</a:t>
            </a:r>
          </a:p>
        </p:txBody>
      </p:sp>
      <p:sp>
        <p:nvSpPr>
          <p:cNvPr id="275" name="Feature marker 2-1">
            <a:extLst xmlns:a="http://schemas.openxmlformats.org/drawingml/2006/main">
              <a:ext uri="{FF2B5EF4-FFF2-40B4-BE49-F238E27FC236}">
                <a16:creationId xmlns:a16="http://schemas.microsoft.com/office/drawing/2014/main" id="{84C5A25C-E21E-4AE2-BDA1-BF1AA6A2F38B}"/>
              </a:ext>
            </a:extLst>
          </p:cNvPr>
          <p:cNvSpPr>
            <a:spLocks xmlns:a="http://schemas.openxmlformats.org/drawingml/2006/main" noGrp="1"/>
          </p:cNvSpPr>
          <p:nvPr/>
        </p:nvSpPr>
        <p:spPr>
          <a:xfrm xmlns:a="http://schemas.openxmlformats.org/drawingml/2006/main">
            <a:off x="10306050" y="163830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76" name="Feature 2-1">
            <a:extLst xmlns:a="http://schemas.openxmlformats.org/drawingml/2006/main">
              <a:ext uri="{FF2B5EF4-FFF2-40B4-BE49-F238E27FC236}">
                <a16:creationId xmlns:a16="http://schemas.microsoft.com/office/drawing/2014/main" id="{2558EF6B-27B3-4595-93C1-BE30681AB870}"/>
              </a:ext>
            </a:extLst>
          </p:cNvPr>
          <p:cNvSpPr>
            <a:spLocks xmlns:a="http://schemas.openxmlformats.org/drawingml/2006/main" noGrp="1"/>
          </p:cNvSpPr>
          <p:nvPr/>
        </p:nvSpPr>
        <p:spPr>
          <a:xfrm xmlns:a="http://schemas.openxmlformats.org/drawingml/2006/main">
            <a:off x="10401300" y="1562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12 Languages</a:t>
            </a:r>
          </a:p>
        </p:txBody>
      </p:sp>
      <p:sp>
        <p:nvSpPr>
          <p:cNvPr id="277" name="Feature marker 2-2">
            <a:extLst xmlns:a="http://schemas.openxmlformats.org/drawingml/2006/main">
              <a:ext uri="{FF2B5EF4-FFF2-40B4-BE49-F238E27FC236}">
                <a16:creationId xmlns:a16="http://schemas.microsoft.com/office/drawing/2014/main" id="{F1377A94-4969-4256-B22D-9D81280E4DFA}"/>
              </a:ext>
            </a:extLst>
          </p:cNvPr>
          <p:cNvSpPr>
            <a:spLocks xmlns:a="http://schemas.openxmlformats.org/drawingml/2006/main" noGrp="1"/>
          </p:cNvSpPr>
          <p:nvPr/>
        </p:nvSpPr>
        <p:spPr>
          <a:xfrm xmlns:a="http://schemas.openxmlformats.org/drawingml/2006/main">
            <a:off x="10306050" y="187642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78" name="Feature 2-2">
            <a:extLst xmlns:a="http://schemas.openxmlformats.org/drawingml/2006/main">
              <a:ext uri="{FF2B5EF4-FFF2-40B4-BE49-F238E27FC236}">
                <a16:creationId xmlns:a16="http://schemas.microsoft.com/office/drawing/2014/main" id="{F0F401B6-8BA4-46FE-9724-7197782639AF}"/>
              </a:ext>
            </a:extLst>
          </p:cNvPr>
          <p:cNvSpPr>
            <a:spLocks xmlns:a="http://schemas.openxmlformats.org/drawingml/2006/main" noGrp="1"/>
          </p:cNvSpPr>
          <p:nvPr/>
        </p:nvSpPr>
        <p:spPr>
          <a:xfrm xmlns:a="http://schemas.openxmlformats.org/drawingml/2006/main">
            <a:off x="10401300" y="18002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Voice Alerts*</a:t>
            </a:r>
          </a:p>
        </p:txBody>
      </p:sp>
      <p:sp>
        <p:nvSpPr>
          <p:cNvPr id="279" name="Feature marker 2-3">
            <a:extLst xmlns:a="http://schemas.openxmlformats.org/drawingml/2006/main">
              <a:ext uri="{FF2B5EF4-FFF2-40B4-BE49-F238E27FC236}">
                <a16:creationId xmlns:a16="http://schemas.microsoft.com/office/drawing/2014/main" id="{D5F3084C-F46F-4C7C-8942-3EDE0AF8E55A}"/>
              </a:ext>
            </a:extLst>
          </p:cNvPr>
          <p:cNvSpPr>
            <a:spLocks xmlns:a="http://schemas.openxmlformats.org/drawingml/2006/main" noGrp="1"/>
          </p:cNvSpPr>
          <p:nvPr/>
        </p:nvSpPr>
        <p:spPr>
          <a:xfrm xmlns:a="http://schemas.openxmlformats.org/drawingml/2006/main">
            <a:off x="10306050" y="211455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0" name="Feature 2-3">
            <a:extLst xmlns:a="http://schemas.openxmlformats.org/drawingml/2006/main">
              <a:ext uri="{FF2B5EF4-FFF2-40B4-BE49-F238E27FC236}">
                <a16:creationId xmlns:a16="http://schemas.microsoft.com/office/drawing/2014/main" id="{BA2E6EC2-59E0-46ED-8AB8-5CAD0CBB008B}"/>
              </a:ext>
            </a:extLst>
          </p:cNvPr>
          <p:cNvSpPr>
            <a:spLocks xmlns:a="http://schemas.openxmlformats.org/drawingml/2006/main" noGrp="1"/>
          </p:cNvSpPr>
          <p:nvPr/>
        </p:nvSpPr>
        <p:spPr>
          <a:xfrm xmlns:a="http://schemas.openxmlformats.org/drawingml/2006/main">
            <a:off x="10401300" y="20383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Offline Relay*</a:t>
            </a:r>
          </a:p>
        </p:txBody>
      </p:sp>
      <p:sp>
        <p:nvSpPr>
          <p:cNvPr id="281" name="Feature marker 2-4">
            <a:extLst xmlns:a="http://schemas.openxmlformats.org/drawingml/2006/main">
              <a:ext uri="{FF2B5EF4-FFF2-40B4-BE49-F238E27FC236}">
                <a16:creationId xmlns:a16="http://schemas.microsoft.com/office/drawing/2014/main" id="{C425A9B9-4EDA-4CC0-8799-A8EABD0E766D}"/>
              </a:ext>
            </a:extLst>
          </p:cNvPr>
          <p:cNvSpPr>
            <a:spLocks xmlns:a="http://schemas.openxmlformats.org/drawingml/2006/main" noGrp="1"/>
          </p:cNvSpPr>
          <p:nvPr/>
        </p:nvSpPr>
        <p:spPr>
          <a:xfrm xmlns:a="http://schemas.openxmlformats.org/drawingml/2006/main">
            <a:off x="10306050" y="235267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2" name="Feature 2-4">
            <a:extLst xmlns:a="http://schemas.openxmlformats.org/drawingml/2006/main">
              <a:ext uri="{FF2B5EF4-FFF2-40B4-BE49-F238E27FC236}">
                <a16:creationId xmlns:a16="http://schemas.microsoft.com/office/drawing/2014/main" id="{AFBCA637-843F-463C-A7D6-F1C896E91BA7}"/>
              </a:ext>
            </a:extLst>
          </p:cNvPr>
          <p:cNvSpPr>
            <a:spLocks xmlns:a="http://schemas.openxmlformats.org/drawingml/2006/main" noGrp="1"/>
          </p:cNvSpPr>
          <p:nvPr/>
        </p:nvSpPr>
        <p:spPr>
          <a:xfrm xmlns:a="http://schemas.openxmlformats.org/drawingml/2006/main">
            <a:off x="10401300" y="2276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Open Stack</a:t>
            </a:r>
          </a:p>
        </p:txBody>
      </p:sp>
      <p:sp>
        <p:nvSpPr>
          <p:cNvPr id="283" name="Feature marker 2-5">
            <a:extLst xmlns:a="http://schemas.openxmlformats.org/drawingml/2006/main">
              <a:ext uri="{FF2B5EF4-FFF2-40B4-BE49-F238E27FC236}">
                <a16:creationId xmlns:a16="http://schemas.microsoft.com/office/drawing/2014/main" id="{B6CE7549-079D-4E61-B352-A8EF5A0A679F}"/>
              </a:ext>
            </a:extLst>
          </p:cNvPr>
          <p:cNvSpPr>
            <a:spLocks xmlns:a="http://schemas.openxmlformats.org/drawingml/2006/main" noGrp="1"/>
          </p:cNvSpPr>
          <p:nvPr/>
        </p:nvSpPr>
        <p:spPr>
          <a:xfrm xmlns:a="http://schemas.openxmlformats.org/drawingml/2006/main">
            <a:off x="10306050" y="259080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4" name="Feature 2-5">
            <a:extLst xmlns:a="http://schemas.openxmlformats.org/drawingml/2006/main">
              <a:ext uri="{FF2B5EF4-FFF2-40B4-BE49-F238E27FC236}">
                <a16:creationId xmlns:a16="http://schemas.microsoft.com/office/drawing/2014/main" id="{9D6F230A-B333-4AA9-82F5-C3A3BAD1493E}"/>
              </a:ext>
            </a:extLst>
          </p:cNvPr>
          <p:cNvSpPr>
            <a:spLocks xmlns:a="http://schemas.openxmlformats.org/drawingml/2006/main" noGrp="1"/>
          </p:cNvSpPr>
          <p:nvPr/>
        </p:nvSpPr>
        <p:spPr>
          <a:xfrm xmlns:a="http://schemas.openxmlformats.org/drawingml/2006/main">
            <a:off x="10401300" y="25146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Graceful Fallback*</a:t>
            </a:r>
          </a:p>
        </p:txBody>
      </p:sp>
      <p:sp>
        <p:nvSpPr>
          <p:cNvPr id="285" name="Feature marker 2-6">
            <a:extLst xmlns:a="http://schemas.openxmlformats.org/drawingml/2006/main">
              <a:ext uri="{FF2B5EF4-FFF2-40B4-BE49-F238E27FC236}">
                <a16:creationId xmlns:a16="http://schemas.microsoft.com/office/drawing/2014/main" id="{2EF70BD0-0B7F-4489-BE64-1967F9C8FA36}"/>
              </a:ext>
            </a:extLst>
          </p:cNvPr>
          <p:cNvSpPr>
            <a:spLocks xmlns:a="http://schemas.openxmlformats.org/drawingml/2006/main" noGrp="1"/>
          </p:cNvSpPr>
          <p:nvPr/>
        </p:nvSpPr>
        <p:spPr>
          <a:xfrm xmlns:a="http://schemas.openxmlformats.org/drawingml/2006/main">
            <a:off x="10306050" y="282892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6" name="Feature 2-6">
            <a:extLst xmlns:a="http://schemas.openxmlformats.org/drawingml/2006/main">
              <a:ext uri="{FF2B5EF4-FFF2-40B4-BE49-F238E27FC236}">
                <a16:creationId xmlns:a16="http://schemas.microsoft.com/office/drawing/2014/main" id="{DA369A41-105E-4176-92F1-2663DE5C2E88}"/>
              </a:ext>
            </a:extLst>
          </p:cNvPr>
          <p:cNvSpPr>
            <a:spLocks xmlns:a="http://schemas.openxmlformats.org/drawingml/2006/main" noGrp="1"/>
          </p:cNvSpPr>
          <p:nvPr/>
        </p:nvSpPr>
        <p:spPr>
          <a:xfrm xmlns:a="http://schemas.openxmlformats.org/drawingml/2006/main">
            <a:off x="10401300" y="27527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Compact Models</a:t>
            </a:r>
          </a:p>
        </p:txBody>
      </p:sp>
      <p:sp>
        <p:nvSpPr>
          <p:cNvPr id="287" name="Feature marker 2-7">
            <a:extLst xmlns:a="http://schemas.openxmlformats.org/drawingml/2006/main">
              <a:ext uri="{FF2B5EF4-FFF2-40B4-BE49-F238E27FC236}">
                <a16:creationId xmlns:a16="http://schemas.microsoft.com/office/drawing/2014/main" id="{B0B8A637-DCC7-4C6D-899D-F334FC0E1EFB}"/>
              </a:ext>
            </a:extLst>
          </p:cNvPr>
          <p:cNvSpPr>
            <a:spLocks xmlns:a="http://schemas.openxmlformats.org/drawingml/2006/main" noGrp="1"/>
          </p:cNvSpPr>
          <p:nvPr/>
        </p:nvSpPr>
        <p:spPr>
          <a:xfrm xmlns:a="http://schemas.openxmlformats.org/drawingml/2006/main">
            <a:off x="10306050" y="306705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8" name="Feature 2-7">
            <a:extLst xmlns:a="http://schemas.openxmlformats.org/drawingml/2006/main">
              <a:ext uri="{FF2B5EF4-FFF2-40B4-BE49-F238E27FC236}">
                <a16:creationId xmlns:a16="http://schemas.microsoft.com/office/drawing/2014/main" id="{77F5FE1A-FB3C-4A8B-A2A8-B1FA923C9537}"/>
              </a:ext>
            </a:extLst>
          </p:cNvPr>
          <p:cNvSpPr>
            <a:spLocks xmlns:a="http://schemas.openxmlformats.org/drawingml/2006/main" noGrp="1"/>
          </p:cNvSpPr>
          <p:nvPr/>
        </p:nvSpPr>
        <p:spPr>
          <a:xfrm xmlns:a="http://schemas.openxmlformats.org/drawingml/2006/main">
            <a:off x="10401300" y="29908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Decision Research*</a:t>
            </a:r>
          </a:p>
        </p:txBody>
      </p:sp>
      <p:sp>
        <p:nvSpPr>
          <p:cNvPr id="289" name="Feature status legend">
            <a:extLst xmlns:a="http://schemas.openxmlformats.org/drawingml/2006/main">
              <a:ext uri="{FF2B5EF4-FFF2-40B4-BE49-F238E27FC236}">
                <a16:creationId xmlns:a16="http://schemas.microsoft.com/office/drawing/2014/main" id="{DB34FC61-CE31-4558-BA25-2A5CC6F34133}"/>
              </a:ext>
            </a:extLst>
          </p:cNvPr>
          <p:cNvSpPr>
            <a:spLocks xmlns:a="http://schemas.openxmlformats.org/drawingml/2006/main" noGrp="1"/>
          </p:cNvSpPr>
          <p:nvPr/>
        </p:nvSpPr>
        <p:spPr>
          <a:xfrm xmlns:a="http://schemas.openxmlformats.org/drawingml/2006/main">
            <a:off x="7086600" y="3257550"/>
            <a:ext cx="476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85" b="0">
                <a:solidFill>
                  <a:srgbClr val="536A7E"/>
                </a:solidFill>
                <a:latin typeface="Arial"/>
                <a:ea typeface="Arial"/>
                <a:cs typeface="Arial"/>
              </a:defRPr>
            </a:pPr>
            <a:r>
              <a:rPr sz="885" b="0">
                <a:solidFill>
                  <a:srgbClr val="536A7E"/>
                </a:solidFill>
                <a:latin typeface="Arial"/>
                <a:ea typeface="Arial"/>
                <a:cs typeface="Arial"/>
              </a:rPr>
              <a:t>* Deployment target / research hypothesis. See notes for status.</a:t>
            </a:r>
          </a:p>
        </p:txBody>
      </p:sp>
      <p:sp>
        <p:nvSpPr>
          <p:cNvPr id="290" name="NCR satellite frame">
            <a:extLst xmlns:a="http://schemas.openxmlformats.org/drawingml/2006/main">
              <a:ext uri="{FF2B5EF4-FFF2-40B4-BE49-F238E27FC236}">
                <a16:creationId xmlns:a16="http://schemas.microsoft.com/office/drawing/2014/main" id="{C1AE6604-562B-44D2-AC4D-30D0C7750734}"/>
              </a:ext>
            </a:extLst>
          </p:cNvPr>
          <p:cNvSpPr>
            <a:spLocks xmlns:a="http://schemas.openxmlformats.org/drawingml/2006/main" noGrp="1"/>
          </p:cNvSpPr>
          <p:nvPr/>
        </p:nvSpPr>
        <p:spPr>
          <a:xfrm xmlns:a="http://schemas.openxmlformats.org/drawingml/2006/main">
            <a:off x="6949916" y="3562350"/>
            <a:ext cx="5048060" cy="2710815"/>
          </a:xfrm>
          <a:prstGeom xmlns:a="http://schemas.openxmlformats.org/drawingml/2006/main" prst="rect">
            <a:avLst/>
          </a:prstGeom>
          <a:solidFill xmlns:a="http://schemas.openxmlformats.org/drawingml/2006/main">
            <a:srgbClr val="FFFFFF"/>
          </a:solidFill>
          <a:ln xmlns:a="http://schemas.openxmlformats.org/drawingml/2006/main" w="10478">
            <a:solidFill>
              <a:srgbClr val="B8CCDC"/>
            </a:solidFill>
            <a:prstDash val="solid"/>
          </a:ln>
        </p:spPr>
      </p:sp>
      <p:pic>
        <p:nvPicPr>
          <p:cNvPr id="435" name=""/>
          <p:cNvPicPr>
            <a:picLocks xmlns:a="http://schemas.openxmlformats.org/drawingml/2006/main" noChangeAspect="1"/>
          </p:cNvPicPr>
          <p:nvPr/>
        </p:nvPicPr>
        <p:blipFill>
          <a:blip xmlns:r="http://schemas.openxmlformats.org/officeDocument/2006/relationships" xmlns:a="http://schemas.openxmlformats.org/drawingml/2006/main" r:embed="R25aacf5e199b4f8c"/>
          <a:stretch xmlns:a="http://schemas.openxmlformats.org/drawingml/2006/main"/>
        </p:blipFill>
        <p:spPr>
          <a:xfrm xmlns:a="http://schemas.openxmlformats.org/drawingml/2006/main">
            <a:off x="7058025" y="3667125"/>
            <a:ext cx="4819650" cy="2238375"/>
          </a:xfrm>
          <a:prstGeom xmlns:a="http://schemas.openxmlformats.org/drawingml/2006/main" prst="rect">
            <a:avLst/>
          </a:prstGeom>
        </p:spPr>
      </p:pic>
      <p:sp>
        <p:nvSpPr>
          <p:cNvPr id="292" name="Satellite title background">
            <a:extLst xmlns:a="http://schemas.openxmlformats.org/drawingml/2006/main">
              <a:ext uri="{FF2B5EF4-FFF2-40B4-BE49-F238E27FC236}">
                <a16:creationId xmlns:a16="http://schemas.microsoft.com/office/drawing/2014/main" id="{D9F67564-51EC-43C0-88F6-B96FCCF06834}"/>
              </a:ext>
            </a:extLst>
          </p:cNvPr>
          <p:cNvSpPr>
            <a:spLocks xmlns:a="http://schemas.openxmlformats.org/drawingml/2006/main" noGrp="1"/>
          </p:cNvSpPr>
          <p:nvPr/>
        </p:nvSpPr>
        <p:spPr>
          <a:xfrm xmlns:a="http://schemas.openxmlformats.org/drawingml/2006/main">
            <a:off x="7058025" y="3667125"/>
            <a:ext cx="4819650" cy="2571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293" name="Satellite title">
            <a:extLst xmlns:a="http://schemas.openxmlformats.org/drawingml/2006/main">
              <a:ext uri="{FF2B5EF4-FFF2-40B4-BE49-F238E27FC236}">
                <a16:creationId xmlns:a16="http://schemas.microsoft.com/office/drawing/2014/main" id="{C6669C62-F0FF-4483-A49F-962B66AC1CAB}"/>
              </a:ext>
            </a:extLst>
          </p:cNvPr>
          <p:cNvSpPr>
            <a:spLocks xmlns:a="http://schemas.openxmlformats.org/drawingml/2006/main" noGrp="1"/>
          </p:cNvSpPr>
          <p:nvPr/>
        </p:nvSpPr>
        <p:spPr>
          <a:xfrm xmlns:a="http://schemas.openxmlformats.org/drawingml/2006/main">
            <a:off x="7134225" y="3695700"/>
            <a:ext cx="4667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98" b="1">
                <a:solidFill>
                  <a:srgbClr val="FFFFFF"/>
                </a:solidFill>
                <a:latin typeface="Arial"/>
                <a:ea typeface="Arial"/>
                <a:cs typeface="Arial"/>
              </a:defRPr>
            </a:pPr>
            <a:r>
              <a:rPr sz="998" b="1">
                <a:solidFill>
                  <a:srgbClr val="FFFFFF"/>
                </a:solidFill>
                <a:latin typeface="Arial"/>
                <a:ea typeface="Arial"/>
                <a:cs typeface="Arial"/>
              </a:rPr>
              <a:t>DELHI NCR / VIIRS / 27 JUN 2024</a:t>
            </a:r>
          </a:p>
        </p:txBody>
      </p:sp>
      <p:sp>
        <p:nvSpPr>
          <p:cNvPr id="294" name="Dwarka sample cell">
            <a:extLst xmlns:a="http://schemas.openxmlformats.org/drawingml/2006/main">
              <a:ext uri="{FF2B5EF4-FFF2-40B4-BE49-F238E27FC236}">
                <a16:creationId xmlns:a16="http://schemas.microsoft.com/office/drawing/2014/main" id="{76C5F8B7-54DA-4727-8EAF-701CF06E9809}"/>
              </a:ext>
            </a:extLst>
          </p:cNvPr>
          <p:cNvSpPr>
            <a:spLocks xmlns:a="http://schemas.openxmlformats.org/drawingml/2006/main" noGrp="1"/>
          </p:cNvSpPr>
          <p:nvPr/>
        </p:nvSpPr>
        <p:spPr>
          <a:xfrm xmlns:a="http://schemas.openxmlformats.org/drawingml/2006/main">
            <a:off x="9022461" y="4496542"/>
            <a:ext cx="238125" cy="238125"/>
          </a:xfrm>
          <a:prstGeom xmlns:a="http://schemas.openxmlformats.org/drawingml/2006/main" prst="rect">
            <a:avLst/>
          </a:prstGeom>
          <a:noFill xmlns:a="http://schemas.openxmlformats.org/drawingml/2006/main"/>
          <a:ln xmlns:a="http://schemas.openxmlformats.org/drawingml/2006/main" w="10478">
            <a:solidFill>
              <a:srgbClr val="FFFFFF"/>
            </a:solidFill>
            <a:prstDash val="dash"/>
          </a:ln>
        </p:spPr>
      </p:sp>
      <p:sp>
        <p:nvSpPr>
          <p:cNvPr id="295" name="Dwarka marker">
            <a:extLst xmlns:a="http://schemas.openxmlformats.org/drawingml/2006/main">
              <a:ext uri="{FF2B5EF4-FFF2-40B4-BE49-F238E27FC236}">
                <a16:creationId xmlns:a16="http://schemas.microsoft.com/office/drawing/2014/main" id="{41F020D0-29BF-42C0-874F-A8E42D8D6F2E}"/>
              </a:ext>
            </a:extLst>
          </p:cNvPr>
          <p:cNvSpPr>
            <a:spLocks xmlns:a="http://schemas.openxmlformats.org/drawingml/2006/main" noGrp="1"/>
          </p:cNvSpPr>
          <p:nvPr/>
        </p:nvSpPr>
        <p:spPr>
          <a:xfrm xmlns:a="http://schemas.openxmlformats.org/drawingml/2006/main">
            <a:off x="9098661" y="4572742"/>
            <a:ext cx="76200" cy="76200"/>
          </a:xfrm>
          <a:prstGeom xmlns:a="http://schemas.openxmlformats.org/drawingml/2006/main" prst="ellipse">
            <a:avLst/>
          </a:prstGeom>
          <a:solidFill xmlns:a="http://schemas.openxmlformats.org/drawingml/2006/main">
            <a:srgbClr val="FFDA48"/>
          </a:solidFill>
          <a:ln xmlns:a="http://schemas.openxmlformats.org/drawingml/2006/main" w="10478">
            <a:solidFill>
              <a:srgbClr val="FFFFFF"/>
            </a:solidFill>
            <a:prstDash val="solid"/>
          </a:ln>
        </p:spPr>
      </p:sp>
      <p:sp>
        <p:nvSpPr>
          <p:cNvPr id="296" name="Dwarka label background">
            <a:extLst xmlns:a="http://schemas.openxmlformats.org/drawingml/2006/main">
              <a:ext uri="{FF2B5EF4-FFF2-40B4-BE49-F238E27FC236}">
                <a16:creationId xmlns:a16="http://schemas.microsoft.com/office/drawing/2014/main" id="{7576CA69-BE6A-4AC5-B53E-C3E813832CCF}"/>
              </a:ext>
            </a:extLst>
          </p:cNvPr>
          <p:cNvSpPr>
            <a:spLocks xmlns:a="http://schemas.openxmlformats.org/drawingml/2006/main" noGrp="1"/>
          </p:cNvSpPr>
          <p:nvPr/>
        </p:nvSpPr>
        <p:spPr>
          <a:xfrm xmlns:a="http://schemas.openxmlformats.org/drawingml/2006/main">
            <a:off x="9279636" y="4534642"/>
            <a:ext cx="1219200" cy="3333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297" name="Dwarka label">
            <a:extLst xmlns:a="http://schemas.openxmlformats.org/drawingml/2006/main">
              <a:ext uri="{FF2B5EF4-FFF2-40B4-BE49-F238E27FC236}">
                <a16:creationId xmlns:a16="http://schemas.microsoft.com/office/drawing/2014/main" id="{DB754A2C-C3C5-4D06-BC59-C1FD099B64A0}"/>
              </a:ext>
            </a:extLst>
          </p:cNvPr>
          <p:cNvSpPr>
            <a:spLocks xmlns:a="http://schemas.openxmlformats.org/drawingml/2006/main" noGrp="1"/>
          </p:cNvSpPr>
          <p:nvPr/>
        </p:nvSpPr>
        <p:spPr>
          <a:xfrm xmlns:a="http://schemas.openxmlformats.org/drawingml/2006/main">
            <a:off x="9336786" y="4553692"/>
            <a:ext cx="11334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85" b="0">
                <a:solidFill>
                  <a:srgbClr val="FFFFFF"/>
                </a:solidFill>
                <a:latin typeface="Arial"/>
                <a:ea typeface="Arial"/>
                <a:cs typeface="Arial"/>
              </a:defRPr>
            </a:pPr>
            <a:r>
              <a:rPr sz="885" b="0">
                <a:solidFill>
                  <a:srgbClr val="FFFFFF"/>
                </a:solidFill>
                <a:latin typeface="Arial"/>
                <a:ea typeface="Arial"/>
                <a:cs typeface="Arial"/>
              </a:rPr>
              <a:t>Dwarka</a:t>
            </a:r>
          </a:p>
          <a:p xmlns:a="http://schemas.openxmlformats.org/drawingml/2006/main">
            <a:pPr algn="l">
              <a:buNone/>
              <a:defRPr sz="885" b="0">
                <a:solidFill>
                  <a:srgbClr val="FFFFFF"/>
                </a:solidFill>
                <a:latin typeface="Arial"/>
                <a:ea typeface="Arial"/>
                <a:cs typeface="Arial"/>
              </a:defRPr>
            </a:pPr>
            <a:r>
              <a:rPr sz="885" b="0">
                <a:solidFill>
                  <a:srgbClr val="FFFFFF"/>
                </a:solidFill>
                <a:latin typeface="Arial"/>
                <a:ea typeface="Arial"/>
                <a:cs typeface="Arial"/>
              </a:rPr>
              <a:t>sample research cell</a:t>
            </a:r>
          </a:p>
        </p:txBody>
      </p:sp>
      <p:sp>
        <p:nvSpPr>
          <p:cNvPr id="298" name="Delhi marker">
            <a:extLst xmlns:a="http://schemas.openxmlformats.org/drawingml/2006/main">
              <a:ext uri="{FF2B5EF4-FFF2-40B4-BE49-F238E27FC236}">
                <a16:creationId xmlns:a16="http://schemas.microsoft.com/office/drawing/2014/main" id="{21BE135C-AB00-41D8-97BE-ABF27E569BF6}"/>
              </a:ext>
            </a:extLst>
          </p:cNvPr>
          <p:cNvSpPr>
            <a:spLocks xmlns:a="http://schemas.openxmlformats.org/drawingml/2006/main" noGrp="1"/>
          </p:cNvSpPr>
          <p:nvPr/>
        </p:nvSpPr>
        <p:spPr>
          <a:xfrm xmlns:a="http://schemas.openxmlformats.org/drawingml/2006/main">
            <a:off x="9800844" y="4487923"/>
            <a:ext cx="38100" cy="38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99" name="Delhi backplate">
            <a:extLst xmlns:a="http://schemas.openxmlformats.org/drawingml/2006/main">
              <a:ext uri="{FF2B5EF4-FFF2-40B4-BE49-F238E27FC236}">
                <a16:creationId xmlns:a16="http://schemas.microsoft.com/office/drawing/2014/main" id="{E3FD2C11-FE65-4516-936A-59BF87956F87}"/>
              </a:ext>
            </a:extLst>
          </p:cNvPr>
          <p:cNvSpPr>
            <a:spLocks xmlns:a="http://schemas.openxmlformats.org/drawingml/2006/main" noGrp="1"/>
          </p:cNvSpPr>
          <p:nvPr/>
        </p:nvSpPr>
        <p:spPr>
          <a:xfrm xmlns:a="http://schemas.openxmlformats.org/drawingml/2006/main">
            <a:off x="9886569" y="4306948"/>
            <a:ext cx="419100" cy="16192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00" name="Delhi map label">
            <a:extLst xmlns:a="http://schemas.openxmlformats.org/drawingml/2006/main">
              <a:ext uri="{FF2B5EF4-FFF2-40B4-BE49-F238E27FC236}">
                <a16:creationId xmlns:a16="http://schemas.microsoft.com/office/drawing/2014/main" id="{88F3D2D4-C4D2-4BB9-B99B-C02669727D33}"/>
              </a:ext>
            </a:extLst>
          </p:cNvPr>
          <p:cNvSpPr>
            <a:spLocks xmlns:a="http://schemas.openxmlformats.org/drawingml/2006/main" noGrp="1"/>
          </p:cNvSpPr>
          <p:nvPr/>
        </p:nvSpPr>
        <p:spPr>
          <a:xfrm xmlns:a="http://schemas.openxmlformats.org/drawingml/2006/main">
            <a:off x="9915144" y="4306948"/>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63" b="0">
                <a:solidFill>
                  <a:srgbClr val="FFFFFF"/>
                </a:solidFill>
                <a:latin typeface="Arial"/>
                <a:ea typeface="Arial"/>
                <a:cs typeface="Arial"/>
              </a:defRPr>
            </a:pPr>
            <a:r>
              <a:rPr sz="863" b="0">
                <a:solidFill>
                  <a:srgbClr val="FFFFFF"/>
                </a:solidFill>
                <a:latin typeface="Arial"/>
                <a:ea typeface="Arial"/>
                <a:cs typeface="Arial"/>
              </a:rPr>
              <a:t>Delhi</a:t>
            </a:r>
          </a:p>
        </p:txBody>
      </p:sp>
      <p:sp>
        <p:nvSpPr>
          <p:cNvPr id="301" name="Gurugram marker">
            <a:extLst xmlns:a="http://schemas.openxmlformats.org/drawingml/2006/main">
              <a:ext uri="{FF2B5EF4-FFF2-40B4-BE49-F238E27FC236}">
                <a16:creationId xmlns:a16="http://schemas.microsoft.com/office/drawing/2014/main" id="{29A38960-48EB-4C41-BA82-EF9EB121226B}"/>
              </a:ext>
            </a:extLst>
          </p:cNvPr>
          <p:cNvSpPr>
            <a:spLocks xmlns:a="http://schemas.openxmlformats.org/drawingml/2006/main" noGrp="1"/>
          </p:cNvSpPr>
          <p:nvPr/>
        </p:nvSpPr>
        <p:spPr>
          <a:xfrm xmlns:a="http://schemas.openxmlformats.org/drawingml/2006/main">
            <a:off x="9036406" y="5223122"/>
            <a:ext cx="38100" cy="38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302" name="Gurugram backplate">
            <a:extLst xmlns:a="http://schemas.openxmlformats.org/drawingml/2006/main">
              <a:ext uri="{FF2B5EF4-FFF2-40B4-BE49-F238E27FC236}">
                <a16:creationId xmlns:a16="http://schemas.microsoft.com/office/drawing/2014/main" id="{78314E2B-0ABB-4655-9379-08DA23369D0A}"/>
              </a:ext>
            </a:extLst>
          </p:cNvPr>
          <p:cNvSpPr>
            <a:spLocks xmlns:a="http://schemas.openxmlformats.org/drawingml/2006/main" noGrp="1"/>
          </p:cNvSpPr>
          <p:nvPr/>
        </p:nvSpPr>
        <p:spPr>
          <a:xfrm xmlns:a="http://schemas.openxmlformats.org/drawingml/2006/main">
            <a:off x="9112606" y="5261222"/>
            <a:ext cx="647700" cy="16192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03" name="Gurugram map label">
            <a:extLst xmlns:a="http://schemas.openxmlformats.org/drawingml/2006/main">
              <a:ext uri="{FF2B5EF4-FFF2-40B4-BE49-F238E27FC236}">
                <a16:creationId xmlns:a16="http://schemas.microsoft.com/office/drawing/2014/main" id="{0AE20929-09E6-4681-B3EC-687D5A60CE08}"/>
              </a:ext>
            </a:extLst>
          </p:cNvPr>
          <p:cNvSpPr>
            <a:spLocks xmlns:a="http://schemas.openxmlformats.org/drawingml/2006/main" noGrp="1"/>
          </p:cNvSpPr>
          <p:nvPr/>
        </p:nvSpPr>
        <p:spPr>
          <a:xfrm xmlns:a="http://schemas.openxmlformats.org/drawingml/2006/main">
            <a:off x="9141181" y="5261222"/>
            <a:ext cx="60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63" b="0">
                <a:solidFill>
                  <a:srgbClr val="FFFFFF"/>
                </a:solidFill>
                <a:latin typeface="Arial"/>
                <a:ea typeface="Arial"/>
                <a:cs typeface="Arial"/>
              </a:defRPr>
            </a:pPr>
            <a:r>
              <a:rPr sz="863" b="0">
                <a:solidFill>
                  <a:srgbClr val="FFFFFF"/>
                </a:solidFill>
                <a:latin typeface="Arial"/>
                <a:ea typeface="Arial"/>
                <a:cs typeface="Arial"/>
              </a:rPr>
              <a:t>Gurugram</a:t>
            </a:r>
          </a:p>
        </p:txBody>
      </p:sp>
      <p:sp>
        <p:nvSpPr>
          <p:cNvPr id="304" name="Noida marker">
            <a:extLst xmlns:a="http://schemas.openxmlformats.org/drawingml/2006/main">
              <a:ext uri="{FF2B5EF4-FFF2-40B4-BE49-F238E27FC236}">
                <a16:creationId xmlns:a16="http://schemas.microsoft.com/office/drawing/2014/main" id="{D4FBD27F-652C-4E1D-A450-43474E930D57}"/>
              </a:ext>
            </a:extLst>
          </p:cNvPr>
          <p:cNvSpPr>
            <a:spLocks xmlns:a="http://schemas.openxmlformats.org/drawingml/2006/main" noGrp="1"/>
          </p:cNvSpPr>
          <p:nvPr/>
        </p:nvSpPr>
        <p:spPr>
          <a:xfrm xmlns:a="http://schemas.openxmlformats.org/drawingml/2006/main">
            <a:off x="10563606" y="4861371"/>
            <a:ext cx="38100" cy="38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305" name="Noida backplate">
            <a:extLst xmlns:a="http://schemas.openxmlformats.org/drawingml/2006/main">
              <a:ext uri="{FF2B5EF4-FFF2-40B4-BE49-F238E27FC236}">
                <a16:creationId xmlns:a16="http://schemas.microsoft.com/office/drawing/2014/main" id="{0D54E4CF-C187-4C11-AF89-7EC6C9BE7DC2}"/>
              </a:ext>
            </a:extLst>
          </p:cNvPr>
          <p:cNvSpPr>
            <a:spLocks xmlns:a="http://schemas.openxmlformats.org/drawingml/2006/main" noGrp="1"/>
          </p:cNvSpPr>
          <p:nvPr/>
        </p:nvSpPr>
        <p:spPr>
          <a:xfrm xmlns:a="http://schemas.openxmlformats.org/drawingml/2006/main">
            <a:off x="10639806" y="4899471"/>
            <a:ext cx="419100" cy="16192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06" name="Noida map label">
            <a:extLst xmlns:a="http://schemas.openxmlformats.org/drawingml/2006/main">
              <a:ext uri="{FF2B5EF4-FFF2-40B4-BE49-F238E27FC236}">
                <a16:creationId xmlns:a16="http://schemas.microsoft.com/office/drawing/2014/main" id="{B159EBDE-A42B-4B13-97B5-672892B04615}"/>
              </a:ext>
            </a:extLst>
          </p:cNvPr>
          <p:cNvSpPr>
            <a:spLocks xmlns:a="http://schemas.openxmlformats.org/drawingml/2006/main" noGrp="1"/>
          </p:cNvSpPr>
          <p:nvPr/>
        </p:nvSpPr>
        <p:spPr>
          <a:xfrm xmlns:a="http://schemas.openxmlformats.org/drawingml/2006/main">
            <a:off x="10668381" y="4899471"/>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63" b="0">
                <a:solidFill>
                  <a:srgbClr val="FFFFFF"/>
                </a:solidFill>
                <a:latin typeface="Arial"/>
                <a:ea typeface="Arial"/>
                <a:cs typeface="Arial"/>
              </a:defRPr>
            </a:pPr>
            <a:r>
              <a:rPr sz="863" b="0">
                <a:solidFill>
                  <a:srgbClr val="FFFFFF"/>
                </a:solidFill>
                <a:latin typeface="Arial"/>
                <a:ea typeface="Arial"/>
                <a:cs typeface="Arial"/>
              </a:rPr>
              <a:t>Noida</a:t>
            </a:r>
          </a:p>
        </p:txBody>
      </p:sp>
      <p:sp>
        <p:nvSpPr>
          <p:cNvPr id="307" name="Illustrative cloud approach">
            <a:extLst xmlns:a="http://schemas.openxmlformats.org/drawingml/2006/main">
              <a:ext uri="{FF2B5EF4-FFF2-40B4-BE49-F238E27FC236}">
                <a16:creationId xmlns:a16="http://schemas.microsoft.com/office/drawing/2014/main" id="{8AA75128-C105-4196-99CD-732E1DBA5D89}"/>
              </a:ext>
            </a:extLst>
          </p:cNvPr>
          <p:cNvSpPr>
            <a:spLocks xmlns:a="http://schemas.openxmlformats.org/drawingml/2006/main" noGrp="1"/>
          </p:cNvSpPr>
          <p:nvPr/>
        </p:nvSpPr>
        <p:spPr>
          <a:xfrm xmlns:a="http://schemas.openxmlformats.org/drawingml/2006/main">
            <a:off x="7391400" y="4648942"/>
            <a:ext cx="1650111" cy="399308"/>
          </a:xfrm>
          <a:custGeom xmlns:a="http://schemas.openxmlformats.org/drawingml/2006/main">
            <a:pathLst>
              <a:path w="1650111" h="399308">
                <a:moveTo>
                  <a:pt x="0" y="399308"/>
                </a:moveTo>
                <a:lnTo>
                  <a:pt x="352425" y="237383"/>
                </a:lnTo>
                <a:lnTo>
                  <a:pt x="742950" y="75458"/>
                </a:lnTo>
                <a:lnTo>
                  <a:pt x="1650111" y="0"/>
                </a:lnTo>
              </a:path>
            </a:pathLst>
          </a:custGeom>
          <a:noFill xmlns:a="http://schemas.openxmlformats.org/drawingml/2006/main"/>
          <a:ln xmlns:a="http://schemas.openxmlformats.org/drawingml/2006/main" w="23813">
            <a:solidFill>
              <a:srgbClr val="FFE34D"/>
            </a:solidFill>
            <a:prstDash val="dash"/>
          </a:ln>
        </p:spPr>
      </p:sp>
      <p:sp>
        <p:nvSpPr>
          <p:cNvPr id="308" name="Illustrative cloud approach arrow">
            <a:extLst xmlns:a="http://schemas.openxmlformats.org/drawingml/2006/main">
              <a:ext uri="{FF2B5EF4-FFF2-40B4-BE49-F238E27FC236}">
                <a16:creationId xmlns:a16="http://schemas.microsoft.com/office/drawing/2014/main" id="{2B68AE07-DEC6-4533-93D3-EAF592BD0511}"/>
              </a:ext>
            </a:extLst>
          </p:cNvPr>
          <p:cNvSpPr>
            <a:spLocks xmlns:a="http://schemas.openxmlformats.org/drawingml/2006/main" noGrp="1"/>
          </p:cNvSpPr>
          <p:nvPr/>
        </p:nvSpPr>
        <p:spPr>
          <a:xfrm xmlns:a="http://schemas.openxmlformats.org/drawingml/2006/main">
            <a:off x="8972302" y="4621247"/>
            <a:ext cx="69209" cy="66446"/>
          </a:xfrm>
          <a:custGeom xmlns:a="http://schemas.openxmlformats.org/drawingml/2006/main">
            <a:pathLst>
              <a:path w="69209" h="66446">
                <a:moveTo>
                  <a:pt x="69209" y="27696"/>
                </a:moveTo>
                <a:lnTo>
                  <a:pt x="0" y="0"/>
                </a:lnTo>
                <a:lnTo>
                  <a:pt x="5527" y="66446"/>
                </a:lnTo>
                <a:lnTo>
                  <a:pt x="69209" y="27696"/>
                </a:lnTo>
              </a:path>
            </a:pathLst>
          </a:custGeom>
          <a:solidFill xmlns:a="http://schemas.openxmlformats.org/drawingml/2006/main">
            <a:srgbClr val="FFE34D"/>
          </a:solidFill>
          <a:ln xmlns:a="http://schemas.openxmlformats.org/drawingml/2006/main" w="0">
            <a:noFill/>
          </a:ln>
        </p:spPr>
      </p:sp>
      <p:sp>
        <p:nvSpPr>
          <p:cNvPr id="309" name="Scenario +10 min rain area">
            <a:extLst xmlns:a="http://schemas.openxmlformats.org/drawingml/2006/main">
              <a:ext uri="{FF2B5EF4-FFF2-40B4-BE49-F238E27FC236}">
                <a16:creationId xmlns:a16="http://schemas.microsoft.com/office/drawing/2014/main" id="{3FD7ABA7-9866-4531-9C6F-C91C05FAF1E6}"/>
              </a:ext>
            </a:extLst>
          </p:cNvPr>
          <p:cNvSpPr>
            <a:spLocks xmlns:a="http://schemas.openxmlformats.org/drawingml/2006/main" noGrp="1"/>
          </p:cNvSpPr>
          <p:nvPr/>
        </p:nvSpPr>
        <p:spPr>
          <a:xfrm xmlns:a="http://schemas.openxmlformats.org/drawingml/2006/main">
            <a:off x="7305675" y="5000625"/>
            <a:ext cx="219075" cy="123825"/>
          </a:xfrm>
          <a:prstGeom xmlns:a="http://schemas.openxmlformats.org/drawingml/2006/main" prst="ellipse">
            <a:avLst/>
          </a:prstGeom>
          <a:noFill xmlns:a="http://schemas.openxmlformats.org/drawingml/2006/main"/>
          <a:ln xmlns:a="http://schemas.openxmlformats.org/drawingml/2006/main" w="10478">
            <a:solidFill>
              <a:srgbClr val="35C5DC"/>
            </a:solidFill>
            <a:prstDash val="dash"/>
          </a:ln>
        </p:spPr>
      </p:sp>
      <p:sp>
        <p:nvSpPr>
          <p:cNvPr id="310" name="+10 min backplate">
            <a:extLst xmlns:a="http://schemas.openxmlformats.org/drawingml/2006/main">
              <a:ext uri="{FF2B5EF4-FFF2-40B4-BE49-F238E27FC236}">
                <a16:creationId xmlns:a16="http://schemas.microsoft.com/office/drawing/2014/main" id="{5C308174-A766-4561-BAE9-1BD70A892B60}"/>
              </a:ext>
            </a:extLst>
          </p:cNvPr>
          <p:cNvSpPr>
            <a:spLocks xmlns:a="http://schemas.openxmlformats.org/drawingml/2006/main" noGrp="1"/>
          </p:cNvSpPr>
          <p:nvPr/>
        </p:nvSpPr>
        <p:spPr>
          <a:xfrm xmlns:a="http://schemas.openxmlformats.org/drawingml/2006/main">
            <a:off x="7296150" y="5210175"/>
            <a:ext cx="714375" cy="2952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1" name="+10 min scenario label">
            <a:extLst xmlns:a="http://schemas.openxmlformats.org/drawingml/2006/main">
              <a:ext uri="{FF2B5EF4-FFF2-40B4-BE49-F238E27FC236}">
                <a16:creationId xmlns:a16="http://schemas.microsoft.com/office/drawing/2014/main" id="{193019CC-59F9-4D97-86DC-4A8FFE32BFE5}"/>
              </a:ext>
            </a:extLst>
          </p:cNvPr>
          <p:cNvSpPr>
            <a:spLocks xmlns:a="http://schemas.openxmlformats.org/drawingml/2006/main" noGrp="1"/>
          </p:cNvSpPr>
          <p:nvPr/>
        </p:nvSpPr>
        <p:spPr>
          <a:xfrm xmlns:a="http://schemas.openxmlformats.org/drawingml/2006/main">
            <a:off x="7334250" y="5219700"/>
            <a:ext cx="657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10" b="1">
                <a:solidFill>
                  <a:srgbClr val="35C5DC"/>
                </a:solidFill>
                <a:latin typeface="Arial"/>
                <a:ea typeface="Arial"/>
                <a:cs typeface="Arial"/>
              </a:defRPr>
            </a:pPr>
            <a:r>
              <a:rPr sz="810" b="1">
                <a:solidFill>
                  <a:srgbClr val="35C5DC"/>
                </a:solidFill>
                <a:latin typeface="Arial"/>
                <a:ea typeface="Arial"/>
                <a:cs typeface="Arial"/>
              </a:rPr>
              <a:t>+10 min</a:t>
            </a:r>
          </a:p>
          <a:p xmlns:a="http://schemas.openxmlformats.org/drawingml/2006/main">
            <a:pPr algn="l">
              <a:buNone/>
              <a:defRPr sz="810" b="1">
                <a:solidFill>
                  <a:srgbClr val="35C5DC"/>
                </a:solidFill>
                <a:latin typeface="Arial"/>
                <a:ea typeface="Arial"/>
                <a:cs typeface="Arial"/>
              </a:defRPr>
            </a:pPr>
            <a:r>
              <a:rPr sz="810" b="1">
                <a:solidFill>
                  <a:srgbClr val="35C5DC"/>
                </a:solidFill>
                <a:latin typeface="Arial"/>
                <a:ea typeface="Arial"/>
                <a:cs typeface="Arial"/>
              </a:rPr>
              <a:t>Light</a:t>
            </a:r>
          </a:p>
        </p:txBody>
      </p:sp>
      <p:sp>
        <p:nvSpPr>
          <p:cNvPr id="312" name="Scenario +20 min rain area">
            <a:extLst xmlns:a="http://schemas.openxmlformats.org/drawingml/2006/main">
              <a:ext uri="{FF2B5EF4-FFF2-40B4-BE49-F238E27FC236}">
                <a16:creationId xmlns:a16="http://schemas.microsoft.com/office/drawing/2014/main" id="{62980895-6CB8-4BF6-A9C8-34EF4C766D3C}"/>
              </a:ext>
            </a:extLst>
          </p:cNvPr>
          <p:cNvSpPr>
            <a:spLocks xmlns:a="http://schemas.openxmlformats.org/drawingml/2006/main" noGrp="1"/>
          </p:cNvSpPr>
          <p:nvPr/>
        </p:nvSpPr>
        <p:spPr>
          <a:xfrm xmlns:a="http://schemas.openxmlformats.org/drawingml/2006/main">
            <a:off x="7781925" y="4791075"/>
            <a:ext cx="219075" cy="123825"/>
          </a:xfrm>
          <a:prstGeom xmlns:a="http://schemas.openxmlformats.org/drawingml/2006/main" prst="ellipse">
            <a:avLst/>
          </a:prstGeom>
          <a:noFill xmlns:a="http://schemas.openxmlformats.org/drawingml/2006/main"/>
          <a:ln xmlns:a="http://schemas.openxmlformats.org/drawingml/2006/main" w="10478">
            <a:solidFill>
              <a:srgbClr val="FFA52E"/>
            </a:solidFill>
            <a:prstDash val="dash"/>
          </a:ln>
        </p:spPr>
      </p:sp>
      <p:sp>
        <p:nvSpPr>
          <p:cNvPr id="313" name="+20 min backplate">
            <a:extLst xmlns:a="http://schemas.openxmlformats.org/drawingml/2006/main">
              <a:ext uri="{FF2B5EF4-FFF2-40B4-BE49-F238E27FC236}">
                <a16:creationId xmlns:a16="http://schemas.microsoft.com/office/drawing/2014/main" id="{C5238F4C-6684-4924-997C-3B7DE708D786}"/>
              </a:ext>
            </a:extLst>
          </p:cNvPr>
          <p:cNvSpPr>
            <a:spLocks xmlns:a="http://schemas.openxmlformats.org/drawingml/2006/main" noGrp="1"/>
          </p:cNvSpPr>
          <p:nvPr/>
        </p:nvSpPr>
        <p:spPr>
          <a:xfrm xmlns:a="http://schemas.openxmlformats.org/drawingml/2006/main">
            <a:off x="7772400" y="5000625"/>
            <a:ext cx="714375" cy="2952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4" name="+20 min scenario label">
            <a:extLst xmlns:a="http://schemas.openxmlformats.org/drawingml/2006/main">
              <a:ext uri="{FF2B5EF4-FFF2-40B4-BE49-F238E27FC236}">
                <a16:creationId xmlns:a16="http://schemas.microsoft.com/office/drawing/2014/main" id="{62440438-D580-4F16-8EA6-F1480C639DEF}"/>
              </a:ext>
            </a:extLst>
          </p:cNvPr>
          <p:cNvSpPr>
            <a:spLocks xmlns:a="http://schemas.openxmlformats.org/drawingml/2006/main" noGrp="1"/>
          </p:cNvSpPr>
          <p:nvPr/>
        </p:nvSpPr>
        <p:spPr>
          <a:xfrm xmlns:a="http://schemas.openxmlformats.org/drawingml/2006/main">
            <a:off x="7810500" y="5010150"/>
            <a:ext cx="657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10" b="1">
                <a:solidFill>
                  <a:srgbClr val="FFA52E"/>
                </a:solidFill>
                <a:latin typeface="Arial"/>
                <a:ea typeface="Arial"/>
                <a:cs typeface="Arial"/>
              </a:defRPr>
            </a:pPr>
            <a:r>
              <a:rPr sz="810" b="1">
                <a:solidFill>
                  <a:srgbClr val="FFA52E"/>
                </a:solidFill>
                <a:latin typeface="Arial"/>
                <a:ea typeface="Arial"/>
                <a:cs typeface="Arial"/>
              </a:rPr>
              <a:t>+20 min</a:t>
            </a:r>
          </a:p>
          <a:p xmlns:a="http://schemas.openxmlformats.org/drawingml/2006/main">
            <a:pPr algn="l">
              <a:buNone/>
              <a:defRPr sz="810" b="1">
                <a:solidFill>
                  <a:srgbClr val="FFA52E"/>
                </a:solidFill>
                <a:latin typeface="Arial"/>
                <a:ea typeface="Arial"/>
                <a:cs typeface="Arial"/>
              </a:defRPr>
            </a:pPr>
            <a:r>
              <a:rPr sz="810" b="1">
                <a:solidFill>
                  <a:srgbClr val="FFA52E"/>
                </a:solidFill>
                <a:latin typeface="Arial"/>
                <a:ea typeface="Arial"/>
                <a:cs typeface="Arial"/>
              </a:rPr>
              <a:t>Moderate</a:t>
            </a:r>
          </a:p>
        </p:txBody>
      </p:sp>
      <p:sp>
        <p:nvSpPr>
          <p:cNvPr id="315" name="Scenario +30 min rain area">
            <a:extLst xmlns:a="http://schemas.openxmlformats.org/drawingml/2006/main">
              <a:ext uri="{FF2B5EF4-FFF2-40B4-BE49-F238E27FC236}">
                <a16:creationId xmlns:a16="http://schemas.microsoft.com/office/drawing/2014/main" id="{C57401EB-FAC3-4031-83E8-CB15A2EEBB0F}"/>
              </a:ext>
            </a:extLst>
          </p:cNvPr>
          <p:cNvSpPr>
            <a:spLocks xmlns:a="http://schemas.openxmlformats.org/drawingml/2006/main" noGrp="1"/>
          </p:cNvSpPr>
          <p:nvPr/>
        </p:nvSpPr>
        <p:spPr>
          <a:xfrm xmlns:a="http://schemas.openxmlformats.org/drawingml/2006/main">
            <a:off x="8879586" y="4648942"/>
            <a:ext cx="219075" cy="123825"/>
          </a:xfrm>
          <a:prstGeom xmlns:a="http://schemas.openxmlformats.org/drawingml/2006/main" prst="ellipse">
            <a:avLst/>
          </a:prstGeom>
          <a:noFill xmlns:a="http://schemas.openxmlformats.org/drawingml/2006/main"/>
          <a:ln xmlns:a="http://schemas.openxmlformats.org/drawingml/2006/main" w="10478">
            <a:solidFill>
              <a:srgbClr val="F76769"/>
            </a:solidFill>
            <a:prstDash val="dash"/>
          </a:ln>
        </p:spPr>
      </p:sp>
      <p:sp>
        <p:nvSpPr>
          <p:cNvPr id="316" name="+30 min backplate">
            <a:extLst xmlns:a="http://schemas.openxmlformats.org/drawingml/2006/main">
              <a:ext uri="{FF2B5EF4-FFF2-40B4-BE49-F238E27FC236}">
                <a16:creationId xmlns:a16="http://schemas.microsoft.com/office/drawing/2014/main" id="{7CF2A3D9-1C37-4F23-9D44-B6EF013998FB}"/>
              </a:ext>
            </a:extLst>
          </p:cNvPr>
          <p:cNvSpPr>
            <a:spLocks xmlns:a="http://schemas.openxmlformats.org/drawingml/2006/main" noGrp="1"/>
          </p:cNvSpPr>
          <p:nvPr/>
        </p:nvSpPr>
        <p:spPr>
          <a:xfrm xmlns:a="http://schemas.openxmlformats.org/drawingml/2006/main">
            <a:off x="8870061" y="4858492"/>
            <a:ext cx="714375" cy="2952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7" name="+30 min scenario label">
            <a:extLst xmlns:a="http://schemas.openxmlformats.org/drawingml/2006/main">
              <a:ext uri="{FF2B5EF4-FFF2-40B4-BE49-F238E27FC236}">
                <a16:creationId xmlns:a16="http://schemas.microsoft.com/office/drawing/2014/main" id="{74A4A974-B545-4475-9A9C-E72460585030}"/>
              </a:ext>
            </a:extLst>
          </p:cNvPr>
          <p:cNvSpPr>
            <a:spLocks xmlns:a="http://schemas.openxmlformats.org/drawingml/2006/main" noGrp="1"/>
          </p:cNvSpPr>
          <p:nvPr/>
        </p:nvSpPr>
        <p:spPr>
          <a:xfrm xmlns:a="http://schemas.openxmlformats.org/drawingml/2006/main">
            <a:off x="8908161" y="4868017"/>
            <a:ext cx="657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10" b="1">
                <a:solidFill>
                  <a:srgbClr val="F76769"/>
                </a:solidFill>
                <a:latin typeface="Arial"/>
                <a:ea typeface="Arial"/>
                <a:cs typeface="Arial"/>
              </a:defRPr>
            </a:pPr>
            <a:r>
              <a:rPr sz="810" b="1">
                <a:solidFill>
                  <a:srgbClr val="F76769"/>
                </a:solidFill>
                <a:latin typeface="Arial"/>
                <a:ea typeface="Arial"/>
                <a:cs typeface="Arial"/>
              </a:rPr>
              <a:t>+30 min</a:t>
            </a:r>
          </a:p>
          <a:p xmlns:a="http://schemas.openxmlformats.org/drawingml/2006/main">
            <a:pPr algn="l">
              <a:buNone/>
              <a:defRPr sz="810" b="1">
                <a:solidFill>
                  <a:srgbClr val="F76769"/>
                </a:solidFill>
                <a:latin typeface="Arial"/>
                <a:ea typeface="Arial"/>
                <a:cs typeface="Arial"/>
              </a:defRPr>
            </a:pPr>
            <a:r>
              <a:rPr sz="810" b="1">
                <a:solidFill>
                  <a:srgbClr val="F76769"/>
                </a:solidFill>
                <a:latin typeface="Arial"/>
                <a:ea typeface="Arial"/>
                <a:cs typeface="Arial"/>
              </a:rPr>
              <a:t>Heavy</a:t>
            </a:r>
          </a:p>
        </p:txBody>
      </p:sp>
      <p:sp>
        <p:nvSpPr>
          <p:cNvPr id="318" name="Forecast illustration banner">
            <a:extLst xmlns:a="http://schemas.openxmlformats.org/drawingml/2006/main">
              <a:ext uri="{FF2B5EF4-FFF2-40B4-BE49-F238E27FC236}">
                <a16:creationId xmlns:a16="http://schemas.microsoft.com/office/drawing/2014/main" id="{FEA22DFB-B205-4142-A4F1-1DFF354DBA43}"/>
              </a:ext>
            </a:extLst>
          </p:cNvPr>
          <p:cNvSpPr>
            <a:spLocks xmlns:a="http://schemas.openxmlformats.org/drawingml/2006/main" noGrp="1"/>
          </p:cNvSpPr>
          <p:nvPr/>
        </p:nvSpPr>
        <p:spPr>
          <a:xfrm xmlns:a="http://schemas.openxmlformats.org/drawingml/2006/main">
            <a:off x="7058025" y="5638800"/>
            <a:ext cx="4819650" cy="266700"/>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9" name="Forecast illustration text">
            <a:extLst xmlns:a="http://schemas.openxmlformats.org/drawingml/2006/main">
              <a:ext uri="{FF2B5EF4-FFF2-40B4-BE49-F238E27FC236}">
                <a16:creationId xmlns:a16="http://schemas.microsoft.com/office/drawing/2014/main" id="{829093B0-F0FA-4456-8519-310E01C13866}"/>
              </a:ext>
            </a:extLst>
          </p:cNvPr>
          <p:cNvSpPr>
            <a:spLocks xmlns:a="http://schemas.openxmlformats.org/drawingml/2006/main" noGrp="1"/>
          </p:cNvSpPr>
          <p:nvPr/>
        </p:nvSpPr>
        <p:spPr>
          <a:xfrm xmlns:a="http://schemas.openxmlformats.org/drawingml/2006/main">
            <a:off x="7134225" y="56578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38" b="1">
                <a:solidFill>
                  <a:srgbClr val="FFE34D"/>
                </a:solidFill>
                <a:latin typeface="Arial"/>
                <a:ea typeface="Arial"/>
                <a:cs typeface="Arial"/>
              </a:defRPr>
            </a:pPr>
            <a:r>
              <a:rPr sz="938" b="1">
                <a:solidFill>
                  <a:srgbClr val="FFE34D"/>
                </a:solidFill>
                <a:latin typeface="Arial"/>
                <a:ea typeface="Arial"/>
                <a:cs typeface="Arial"/>
              </a:rPr>
              <a:t>ILLUSTRATIVE PATH + RAIN CHANGES</a:t>
            </a:r>
          </a:p>
        </p:txBody>
      </p:sp>
      <p:sp>
        <p:nvSpPr>
          <p:cNvPr id="320" name="Satellite provenance caption">
            <a:extLst xmlns:a="http://schemas.openxmlformats.org/drawingml/2006/main">
              <a:ext uri="{FF2B5EF4-FFF2-40B4-BE49-F238E27FC236}">
                <a16:creationId xmlns:a16="http://schemas.microsoft.com/office/drawing/2014/main" id="{78F7A9B3-1249-4EAD-8CD7-CCB6476AAF7A}"/>
              </a:ext>
            </a:extLst>
          </p:cNvPr>
          <p:cNvSpPr>
            <a:spLocks xmlns:a="http://schemas.openxmlformats.org/drawingml/2006/main" noGrp="1"/>
          </p:cNvSpPr>
          <p:nvPr/>
        </p:nvSpPr>
        <p:spPr>
          <a:xfrm xmlns:a="http://schemas.openxmlformats.org/drawingml/2006/main">
            <a:off x="7067550" y="59531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15" b="0">
                <a:solidFill>
                  <a:srgbClr val="96352F"/>
                </a:solidFill>
                <a:latin typeface="Arial"/>
                <a:ea typeface="Arial"/>
                <a:cs typeface="Arial"/>
              </a:defRPr>
            </a:pPr>
            <a:r>
              <a:rPr sz="915" b="0">
                <a:solidFill>
                  <a:srgbClr val="96352F"/>
                </a:solidFill>
                <a:latin typeface="Arial"/>
                <a:ea typeface="Arial"/>
                <a:cs typeface="Arial"/>
              </a:rPr>
              <a:t>NASA observed backdrop. Overlay is a scenario, not a forecast result.</a:t>
            </a:r>
          </a:p>
        </p:txBody>
      </p:sp>
    </p:spTree>
    <p:extLst>
      <p:ext uri="{BB962C8B-B14F-4D97-AF65-F5344CB8AC3E}">
        <p14:creationId xmlns:p14="http://schemas.microsoft.com/office/powerpoint/2010/main" val="5427588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3" name="Google Shape;133;p4">
            <a:extLst xmlns:a="http://schemas.openxmlformats.org/drawingml/2006/main">
              <a:ext uri="{FF2B5EF4-FFF2-40B4-BE49-F238E27FC236}">
                <a16:creationId xmlns:a16="http://schemas.microsoft.com/office/drawing/2014/main" id="{65853CF6-FC9F-4691-B6DA-33C8E05148AB}"/>
              </a:ext>
            </a:extLst>
          </p:cNvPr>
          <p:cNvSpPr>
            <a:spLocks xmlns:a="http://schemas.openxmlformats.org/drawingml/2006/main" noGrp="1"/>
          </p:cNvSpPr>
          <p:nvPr/>
        </p:nvSpPr>
        <p:spPr>
          <a:xfrm xmlns:a="http://schemas.openxmlformats.org/drawingml/2006/main">
            <a:off x="4693925" y="6404314"/>
            <a:ext cx="3112500" cy="26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34" name="Google Shape;134;p4">
            <a:extLst xmlns:a="http://schemas.openxmlformats.org/drawingml/2006/main">
              <a:ext uri="{FF2B5EF4-FFF2-40B4-BE49-F238E27FC236}">
                <a16:creationId xmlns:a16="http://schemas.microsoft.com/office/drawing/2014/main" id="{A6EE1A7D-CF09-4BCB-9CCB-C176DEC889F2}"/>
              </a:ext>
            </a:extLst>
          </p:cNvPr>
          <p:cNvSpPr>
            <a:spLocks xmlns:a="http://schemas.openxmlformats.org/drawingml/2006/main" noGrp="1"/>
          </p:cNvSpPr>
          <p:nvPr>
            <p:ph type="title" idx="0"/>
          </p:nvPr>
        </p:nvSpPr>
        <p:spPr>
          <a:xfrm xmlns:a="http://schemas.openxmlformats.org/drawingml/2006/main">
            <a:off x="1771650" y="39342"/>
            <a:ext cx="79725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400"/>
              <a:buFont typeface="Times New Roman"/>
              <a:buNone/>
            </a:pPr>
            <a:r>
              <a:rPr sz="3400" b="1">
                <a:latin typeface="Times New Roman"/>
                <a:ea typeface="Times New Roman"/>
                <a:cs typeface="Times New Roman"/>
              </a:rPr>
              <a:t>TECHNICAL APPROACH</a:t>
            </a:r>
            <a:endParaRPr/>
          </a:p>
        </p:txBody>
      </p:sp>
      <p:sp>
        <p:nvSpPr>
          <p:cNvPr id="135" name="Google Shape;135;p4">
            <a:extLst xmlns:a="http://schemas.openxmlformats.org/drawingml/2006/main">
              <a:ext uri="{FF2B5EF4-FFF2-40B4-BE49-F238E27FC236}">
                <a16:creationId xmlns:a16="http://schemas.microsoft.com/office/drawing/2014/main" id="{095DAFBE-08AC-4824-9006-9CF729763708}"/>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136" name="Google Shape;136;p4">
            <a:extLst xmlns:a="http://schemas.openxmlformats.org/drawingml/2006/main">
              <a:ext uri="{FF2B5EF4-FFF2-40B4-BE49-F238E27FC236}">
                <a16:creationId xmlns:a16="http://schemas.microsoft.com/office/drawing/2014/main" id="{B96F497A-38E6-42CC-AA2A-C56321F79206}"/>
              </a:ext>
            </a:extLst>
          </p:cNvPr>
          <p:cNvSpPr>
            <a:spLocks xmlns:a="http://schemas.openxmlformats.org/drawingml/2006/main" noGrp="1"/>
          </p:cNvSpPr>
          <p:nvPr/>
        </p:nvSpPr>
        <p:spPr>
          <a:xfrm xmlns:a="http://schemas.openxmlformats.org/drawingml/2006/main">
            <a:off x="4693920" y="6404296"/>
            <a:ext cx="3112500" cy="26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45700" rIns="45700" bIns="4570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37" name="Google Shape;137;p4">
            <a:extLst xmlns:a="http://schemas.openxmlformats.org/drawingml/2006/main">
              <a:ext uri="{FF2B5EF4-FFF2-40B4-BE49-F238E27FC236}">
                <a16:creationId xmlns:a16="http://schemas.microsoft.com/office/drawing/2014/main" id="{58485B39-1D5E-4EDF-A0B7-6BFFF7E3D51B}"/>
              </a:ext>
            </a:extLst>
          </p:cNvPr>
          <p:cNvSpPr>
            <a:spLocks xmlns:a="http://schemas.openxmlformats.org/drawingml/2006/main" noGrp="1"/>
          </p:cNvSpPr>
          <p:nvPr/>
        </p:nvSpPr>
        <p:spPr>
          <a:xfrm xmlns:a="http://schemas.openxmlformats.org/drawingml/2006/main">
            <a:off x="11393502" y="6404296"/>
            <a:ext cx="1890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45700" rIns="45700" bIns="45700"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r>
              <a:rPr sz="1200" b="1" i="0" u="none" strike="noStrike" cap="none">
                <a:solidFill>
                  <a:srgbClr val="FFFFFF"/>
                </a:solidFill>
                <a:latin typeface="Oswald"/>
                <a:ea typeface="Oswald"/>
                <a:cs typeface="Oswald"/>
              </a:rPr>
              <a:t>4</a:t>
            </a:r>
            <a:endParaRPr sz="1400" b="0" i="0" u="none" strike="noStrike" cap="none">
              <a:solidFill>
                <a:srgbClr val="000000"/>
              </a:solidFill>
              <a:latin typeface="Arial"/>
              <a:ea typeface="Arial"/>
              <a:cs typeface="Arial"/>
            </a:endParaRPr>
          </a:p>
        </p:txBody>
      </p:sp>
      <p:pic>
        <p:nvPicPr>
          <p:cNvPr id="1132" name="Google Shape;138;p4"/>
          <p:cNvPicPr>
            <a:picLocks xmlns:a="http://schemas.openxmlformats.org/drawingml/2006/main" noChangeAspect="1"/>
          </p:cNvPicPr>
          <p:nvPr/>
        </p:nvPicPr>
        <p:blipFill rotWithShape="1">
          <a:blip xmlns:r="http://schemas.openxmlformats.org/officeDocument/2006/relationships" xmlns:a="http://schemas.openxmlformats.org/drawingml/2006/main" r:embed="R3227429de5ad4c9f">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139" name="Google Shape;139;p4">
            <a:extLst xmlns:a="http://schemas.openxmlformats.org/drawingml/2006/main">
              <a:ext uri="{FF2B5EF4-FFF2-40B4-BE49-F238E27FC236}">
                <a16:creationId xmlns:a16="http://schemas.microsoft.com/office/drawing/2014/main" id="{3F6035DF-CC34-44C0-A9D7-986510370A86}"/>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174" name="Google Shape;174;p4">
            <a:extLst xmlns:a="http://schemas.openxmlformats.org/drawingml/2006/main">
              <a:ext uri="{FF2B5EF4-FFF2-40B4-BE49-F238E27FC236}">
                <a16:creationId xmlns:a16="http://schemas.microsoft.com/office/drawing/2014/main" id="{0B7F2C34-33C1-4103-8D97-8A3D180B0A6F}"/>
              </a:ext>
            </a:extLst>
          </p:cNvPr>
          <p:cNvSpPr>
            <a:spLocks xmlns:a="http://schemas.openxmlformats.org/drawingml/2006/main" noGrp="1"/>
          </p:cNvSpPr>
          <p:nvPr/>
        </p:nvSpPr>
        <p:spPr>
          <a:xfrm xmlns:a="http://schemas.openxmlformats.org/drawingml/2006/main">
            <a:off x="4693925" y="6404314"/>
            <a:ext cx="31125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75" name="Google Shape;175;p4">
            <a:extLst xmlns:a="http://schemas.openxmlformats.org/drawingml/2006/main">
              <a:ext uri="{FF2B5EF4-FFF2-40B4-BE49-F238E27FC236}">
                <a16:creationId xmlns:a16="http://schemas.microsoft.com/office/drawing/2014/main" id="{1F21D7DE-41ED-4486-B706-D0B0E3F1F76F}"/>
              </a:ext>
            </a:extLst>
          </p:cNvPr>
          <p:cNvSpPr>
            <a:spLocks xmlns:a="http://schemas.openxmlformats.org/drawingml/2006/main" noGrp="1"/>
          </p:cNvSpPr>
          <p:nvPr/>
        </p:nvSpPr>
        <p:spPr>
          <a:xfrm xmlns:a="http://schemas.openxmlformats.org/drawingml/2006/main">
            <a:off x="-2"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176" name="Google Shape;176;p4">
            <a:extLst xmlns:a="http://schemas.openxmlformats.org/drawingml/2006/main">
              <a:ext uri="{FF2B5EF4-FFF2-40B4-BE49-F238E27FC236}">
                <a16:creationId xmlns:a16="http://schemas.microsoft.com/office/drawing/2014/main" id="{711A4BFF-22EC-4818-9CF8-8ECF29121900}"/>
              </a:ext>
            </a:extLst>
          </p:cNvPr>
          <p:cNvSpPr>
            <a:spLocks xmlns:a="http://schemas.openxmlformats.org/drawingml/2006/main" noGrp="1"/>
          </p:cNvSpPr>
          <p:nvPr>
            <p:ph type="sldNum" idx="4294967295"/>
          </p:nvPr>
        </p:nvSpPr>
        <p:spPr>
          <a:xfrm xmlns:a="http://schemas.openxmlformats.org/drawingml/2006/main">
            <a:off x="11393541" y="6404314"/>
            <a:ext cx="1890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1022" name="Forecast loop label">
            <a:extLst xmlns:a="http://schemas.openxmlformats.org/drawingml/2006/main">
              <a:ext uri="{FF2B5EF4-FFF2-40B4-BE49-F238E27FC236}">
                <a16:creationId xmlns:a16="http://schemas.microsoft.com/office/drawing/2014/main" id="{8E16F376-8D44-4432-9FBF-4C03190DB3A0}"/>
              </a:ext>
            </a:extLst>
          </p:cNvPr>
          <p:cNvSpPr>
            <a:spLocks xmlns:a="http://schemas.openxmlformats.org/drawingml/2006/main" noGrp="1"/>
          </p:cNvSpPr>
          <p:nvPr/>
        </p:nvSpPr>
        <p:spPr>
          <a:xfrm xmlns:a="http://schemas.openxmlformats.org/drawingml/2006/main">
            <a:off x="238125" y="1057275"/>
            <a:ext cx="1162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174C7C"/>
                </a:solidFill>
                <a:latin typeface="Arial"/>
                <a:ea typeface="Arial"/>
                <a:cs typeface="Arial"/>
              </a:defRPr>
            </a:pPr>
            <a:r>
              <a:rPr sz="1275" b="1">
                <a:solidFill>
                  <a:srgbClr val="174C7C"/>
                </a:solidFill>
                <a:latin typeface="Arial"/>
                <a:ea typeface="Arial"/>
                <a:cs typeface="Arial"/>
              </a:rPr>
              <a:t>FORECAST LOOP     5-min source checks* / 10-min revisions* / rolling 30-min outlook</a:t>
            </a:r>
          </a:p>
        </p:txBody>
      </p:sp>
      <p:sp>
        <p:nvSpPr>
          <p:cNvPr id="1023" name="Sources to alignment">
            <a:extLst xmlns:a="http://schemas.openxmlformats.org/drawingml/2006/main">
              <a:ext uri="{FF2B5EF4-FFF2-40B4-BE49-F238E27FC236}">
                <a16:creationId xmlns:a16="http://schemas.microsoft.com/office/drawing/2014/main" id="{FAB09D74-2597-4799-950F-6A7F150A671D}"/>
              </a:ext>
            </a:extLst>
          </p:cNvPr>
          <p:cNvSpPr>
            <a:spLocks xmlns:a="http://schemas.openxmlformats.org/drawingml/2006/main" noGrp="1"/>
          </p:cNvSpPr>
          <p:nvPr/>
        </p:nvSpPr>
        <p:spPr>
          <a:xfrm xmlns:a="http://schemas.openxmlformats.org/drawingml/2006/main">
            <a:off x="2066925" y="2028825"/>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12383">
            <a:solidFill>
              <a:srgbClr val="315680"/>
            </a:solidFill>
            <a:prstDash val="solid"/>
          </a:ln>
        </p:spPr>
      </p:sp>
      <p:sp>
        <p:nvSpPr>
          <p:cNvPr id="1024" name="Sources to alignment arrow">
            <a:extLst xmlns:a="http://schemas.openxmlformats.org/drawingml/2006/main">
              <a:ext uri="{FF2B5EF4-FFF2-40B4-BE49-F238E27FC236}">
                <a16:creationId xmlns:a16="http://schemas.microsoft.com/office/drawing/2014/main" id="{BED121D0-81D9-4324-B4AB-58E2DB313120}"/>
              </a:ext>
            </a:extLst>
          </p:cNvPr>
          <p:cNvSpPr>
            <a:spLocks xmlns:a="http://schemas.openxmlformats.org/drawingml/2006/main" noGrp="1"/>
          </p:cNvSpPr>
          <p:nvPr/>
        </p:nvSpPr>
        <p:spPr>
          <a:xfrm xmlns:a="http://schemas.openxmlformats.org/drawingml/2006/main">
            <a:off x="2257425" y="1995488"/>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315680"/>
          </a:solidFill>
          <a:ln xmlns:a="http://schemas.openxmlformats.org/drawingml/2006/main" w="0">
            <a:noFill/>
          </a:ln>
        </p:spPr>
      </p:sp>
      <p:sp>
        <p:nvSpPr>
          <p:cNvPr id="1025" name="Alignment to model">
            <a:extLst xmlns:a="http://schemas.openxmlformats.org/drawingml/2006/main">
              <a:ext uri="{FF2B5EF4-FFF2-40B4-BE49-F238E27FC236}">
                <a16:creationId xmlns:a16="http://schemas.microsoft.com/office/drawing/2014/main" id="{9D88CB78-4F4C-42F2-B658-E6096EFD2F48}"/>
              </a:ext>
            </a:extLst>
          </p:cNvPr>
          <p:cNvSpPr>
            <a:spLocks xmlns:a="http://schemas.openxmlformats.org/drawingml/2006/main" noGrp="1"/>
          </p:cNvSpPr>
          <p:nvPr/>
        </p:nvSpPr>
        <p:spPr>
          <a:xfrm xmlns:a="http://schemas.openxmlformats.org/drawingml/2006/main">
            <a:off x="4105275" y="2028825"/>
            <a:ext cx="276225" cy="9525"/>
          </a:xfrm>
          <a:custGeom xmlns:a="http://schemas.openxmlformats.org/drawingml/2006/main">
            <a:pathLst>
              <a:path w="276225" h="9525">
                <a:moveTo>
                  <a:pt x="0" y="0"/>
                </a:moveTo>
                <a:lnTo>
                  <a:pt x="276225" y="0"/>
                </a:lnTo>
              </a:path>
            </a:pathLst>
          </a:custGeom>
          <a:noFill xmlns:a="http://schemas.openxmlformats.org/drawingml/2006/main"/>
          <a:ln xmlns:a="http://schemas.openxmlformats.org/drawingml/2006/main" w="12383">
            <a:solidFill>
              <a:srgbClr val="315680"/>
            </a:solidFill>
            <a:prstDash val="solid"/>
          </a:ln>
        </p:spPr>
      </p:sp>
      <p:sp>
        <p:nvSpPr>
          <p:cNvPr id="1026" name="Alignment to model arrow">
            <a:extLst xmlns:a="http://schemas.openxmlformats.org/drawingml/2006/main">
              <a:ext uri="{FF2B5EF4-FFF2-40B4-BE49-F238E27FC236}">
                <a16:creationId xmlns:a16="http://schemas.microsoft.com/office/drawing/2014/main" id="{7F7F6AFA-C1C7-4CBE-B5DD-AD82699EEA95}"/>
              </a:ext>
            </a:extLst>
          </p:cNvPr>
          <p:cNvSpPr>
            <a:spLocks xmlns:a="http://schemas.openxmlformats.org/drawingml/2006/main" noGrp="1"/>
          </p:cNvSpPr>
          <p:nvPr/>
        </p:nvSpPr>
        <p:spPr>
          <a:xfrm xmlns:a="http://schemas.openxmlformats.org/drawingml/2006/main">
            <a:off x="4314825" y="1995488"/>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315680"/>
          </a:solidFill>
          <a:ln xmlns:a="http://schemas.openxmlformats.org/drawingml/2006/main" w="0">
            <a:noFill/>
          </a:ln>
        </p:spPr>
      </p:sp>
      <p:sp>
        <p:nvSpPr>
          <p:cNvPr id="1027" name="Model to evidence">
            <a:extLst xmlns:a="http://schemas.openxmlformats.org/drawingml/2006/main">
              <a:ext uri="{FF2B5EF4-FFF2-40B4-BE49-F238E27FC236}">
                <a16:creationId xmlns:a16="http://schemas.microsoft.com/office/drawing/2014/main" id="{5A9FB065-00F6-43D0-97B4-3749D4334C09}"/>
              </a:ext>
            </a:extLst>
          </p:cNvPr>
          <p:cNvSpPr>
            <a:spLocks xmlns:a="http://schemas.openxmlformats.org/drawingml/2006/main" noGrp="1"/>
          </p:cNvSpPr>
          <p:nvPr/>
        </p:nvSpPr>
        <p:spPr>
          <a:xfrm xmlns:a="http://schemas.openxmlformats.org/drawingml/2006/main">
            <a:off x="7115175" y="20288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2383">
            <a:solidFill>
              <a:srgbClr val="315680"/>
            </a:solidFill>
            <a:prstDash val="solid"/>
          </a:ln>
        </p:spPr>
      </p:sp>
      <p:sp>
        <p:nvSpPr>
          <p:cNvPr id="1028" name="Model to evidence arrow">
            <a:extLst xmlns:a="http://schemas.openxmlformats.org/drawingml/2006/main">
              <a:ext uri="{FF2B5EF4-FFF2-40B4-BE49-F238E27FC236}">
                <a16:creationId xmlns:a16="http://schemas.microsoft.com/office/drawing/2014/main" id="{000F02E2-F94E-4EE6-BD2D-D551DF6C7728}"/>
              </a:ext>
            </a:extLst>
          </p:cNvPr>
          <p:cNvSpPr>
            <a:spLocks xmlns:a="http://schemas.openxmlformats.org/drawingml/2006/main" noGrp="1"/>
          </p:cNvSpPr>
          <p:nvPr/>
        </p:nvSpPr>
        <p:spPr>
          <a:xfrm xmlns:a="http://schemas.openxmlformats.org/drawingml/2006/main">
            <a:off x="7334250" y="1995488"/>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315680"/>
          </a:solidFill>
          <a:ln xmlns:a="http://schemas.openxmlformats.org/drawingml/2006/main" w="0">
            <a:noFill/>
          </a:ln>
        </p:spPr>
      </p:sp>
      <p:sp>
        <p:nvSpPr>
          <p:cNvPr id="1029" name="Evidence to officer">
            <a:extLst xmlns:a="http://schemas.openxmlformats.org/drawingml/2006/main">
              <a:ext uri="{FF2B5EF4-FFF2-40B4-BE49-F238E27FC236}">
                <a16:creationId xmlns:a16="http://schemas.microsoft.com/office/drawing/2014/main" id="{EB554B06-2DC8-4F92-97B7-182C8A4DFD37}"/>
              </a:ext>
            </a:extLst>
          </p:cNvPr>
          <p:cNvSpPr>
            <a:spLocks xmlns:a="http://schemas.openxmlformats.org/drawingml/2006/main" noGrp="1"/>
          </p:cNvSpPr>
          <p:nvPr/>
        </p:nvSpPr>
        <p:spPr>
          <a:xfrm xmlns:a="http://schemas.openxmlformats.org/drawingml/2006/main">
            <a:off x="9182100" y="20288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12383">
            <a:solidFill>
              <a:srgbClr val="315680"/>
            </a:solidFill>
            <a:prstDash val="solid"/>
          </a:ln>
        </p:spPr>
      </p:sp>
      <p:sp>
        <p:nvSpPr>
          <p:cNvPr id="1030" name="Evidence to officer arrow">
            <a:extLst xmlns:a="http://schemas.openxmlformats.org/drawingml/2006/main">
              <a:ext uri="{FF2B5EF4-FFF2-40B4-BE49-F238E27FC236}">
                <a16:creationId xmlns:a16="http://schemas.microsoft.com/office/drawing/2014/main" id="{CACEE3B9-07A7-46CE-AFF7-BFC4A939E349}"/>
              </a:ext>
            </a:extLst>
          </p:cNvPr>
          <p:cNvSpPr>
            <a:spLocks xmlns:a="http://schemas.openxmlformats.org/drawingml/2006/main" noGrp="1"/>
          </p:cNvSpPr>
          <p:nvPr/>
        </p:nvSpPr>
        <p:spPr>
          <a:xfrm xmlns:a="http://schemas.openxmlformats.org/drawingml/2006/main">
            <a:off x="9439275" y="1995488"/>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315680"/>
          </a:solidFill>
          <a:ln xmlns:a="http://schemas.openxmlformats.org/drawingml/2006/main" w="0">
            <a:noFill/>
          </a:ln>
        </p:spPr>
      </p:sp>
      <p:sp>
        <p:nvSpPr>
          <p:cNvPr id="1031" name="Source manifest archive">
            <a:extLst xmlns:a="http://schemas.openxmlformats.org/drawingml/2006/main">
              <a:ext uri="{FF2B5EF4-FFF2-40B4-BE49-F238E27FC236}">
                <a16:creationId xmlns:a16="http://schemas.microsoft.com/office/drawing/2014/main" id="{8B0D05E1-D627-472A-B606-591117283A12}"/>
              </a:ext>
            </a:extLst>
          </p:cNvPr>
          <p:cNvSpPr>
            <a:spLocks xmlns:a="http://schemas.openxmlformats.org/drawingml/2006/main" noGrp="1"/>
          </p:cNvSpPr>
          <p:nvPr/>
        </p:nvSpPr>
        <p:spPr>
          <a:xfrm xmlns:a="http://schemas.openxmlformats.org/drawingml/2006/main">
            <a:off x="3219450" y="2657475"/>
            <a:ext cx="1485900" cy="657225"/>
          </a:xfrm>
          <a:custGeom xmlns:a="http://schemas.openxmlformats.org/drawingml/2006/main">
            <a:pathLst>
              <a:path w="1485900" h="657225">
                <a:moveTo>
                  <a:pt x="0" y="0"/>
                </a:moveTo>
                <a:lnTo>
                  <a:pt x="0" y="371475"/>
                </a:lnTo>
                <a:lnTo>
                  <a:pt x="1304925" y="371475"/>
                </a:lnTo>
                <a:lnTo>
                  <a:pt x="1304925" y="657225"/>
                </a:lnTo>
                <a:lnTo>
                  <a:pt x="1485900" y="657225"/>
                </a:lnTo>
              </a:path>
            </a:pathLst>
          </a:custGeom>
          <a:noFill xmlns:a="http://schemas.openxmlformats.org/drawingml/2006/main"/>
          <a:ln xmlns:a="http://schemas.openxmlformats.org/drawingml/2006/main" w="12383">
            <a:solidFill>
              <a:srgbClr val="315680"/>
            </a:solidFill>
            <a:prstDash val="solid"/>
          </a:ln>
        </p:spPr>
      </p:sp>
      <p:sp>
        <p:nvSpPr>
          <p:cNvPr id="1032" name="Source manifest archive arrow">
            <a:extLst xmlns:a="http://schemas.openxmlformats.org/drawingml/2006/main">
              <a:ext uri="{FF2B5EF4-FFF2-40B4-BE49-F238E27FC236}">
                <a16:creationId xmlns:a16="http://schemas.microsoft.com/office/drawing/2014/main" id="{8985C53B-F52D-49EA-90F7-D82DCB9D0259}"/>
              </a:ext>
            </a:extLst>
          </p:cNvPr>
          <p:cNvSpPr>
            <a:spLocks xmlns:a="http://schemas.openxmlformats.org/drawingml/2006/main" noGrp="1"/>
          </p:cNvSpPr>
          <p:nvPr/>
        </p:nvSpPr>
        <p:spPr>
          <a:xfrm xmlns:a="http://schemas.openxmlformats.org/drawingml/2006/main">
            <a:off x="4638675" y="3281363"/>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315680"/>
          </a:solidFill>
          <a:ln xmlns:a="http://schemas.openxmlformats.org/drawingml/2006/main" w="0">
            <a:noFill/>
          </a:ln>
        </p:spPr>
      </p:sp>
      <p:sp>
        <p:nvSpPr>
          <p:cNvPr id="1033" name="Issued forecast archive">
            <a:extLst xmlns:a="http://schemas.openxmlformats.org/drawingml/2006/main">
              <a:ext uri="{FF2B5EF4-FFF2-40B4-BE49-F238E27FC236}">
                <a16:creationId xmlns:a16="http://schemas.microsoft.com/office/drawing/2014/main" id="{19075621-10D6-4CB3-98C3-681CCDF15A64}"/>
              </a:ext>
            </a:extLst>
          </p:cNvPr>
          <p:cNvSpPr>
            <a:spLocks xmlns:a="http://schemas.openxmlformats.org/drawingml/2006/main" noGrp="1"/>
          </p:cNvSpPr>
          <p:nvPr/>
        </p:nvSpPr>
        <p:spPr>
          <a:xfrm xmlns:a="http://schemas.openxmlformats.org/drawingml/2006/main">
            <a:off x="5857875" y="2762250"/>
            <a:ext cx="9525" cy="476250"/>
          </a:xfrm>
          <a:custGeom xmlns:a="http://schemas.openxmlformats.org/drawingml/2006/main">
            <a:pathLst>
              <a:path w="9525" h="476250">
                <a:moveTo>
                  <a:pt x="0" y="0"/>
                </a:moveTo>
                <a:lnTo>
                  <a:pt x="0" y="476250"/>
                </a:lnTo>
              </a:path>
            </a:pathLst>
          </a:custGeom>
          <a:noFill xmlns:a="http://schemas.openxmlformats.org/drawingml/2006/main"/>
          <a:ln xmlns:a="http://schemas.openxmlformats.org/drawingml/2006/main" w="12383">
            <a:solidFill>
              <a:srgbClr val="315680"/>
            </a:solidFill>
            <a:prstDash val="solid"/>
          </a:ln>
        </p:spPr>
      </p:sp>
      <p:sp>
        <p:nvSpPr>
          <p:cNvPr id="1034" name="Issued forecast archive arrow">
            <a:extLst xmlns:a="http://schemas.openxmlformats.org/drawingml/2006/main">
              <a:ext uri="{FF2B5EF4-FFF2-40B4-BE49-F238E27FC236}">
                <a16:creationId xmlns:a16="http://schemas.microsoft.com/office/drawing/2014/main" id="{07F0C2FE-5E2B-4E0A-9B73-AF4D5B673597}"/>
              </a:ext>
            </a:extLst>
          </p:cNvPr>
          <p:cNvSpPr>
            <a:spLocks xmlns:a="http://schemas.openxmlformats.org/drawingml/2006/main" noGrp="1"/>
          </p:cNvSpPr>
          <p:nvPr/>
        </p:nvSpPr>
        <p:spPr>
          <a:xfrm xmlns:a="http://schemas.openxmlformats.org/drawingml/2006/main">
            <a:off x="5824538" y="3171825"/>
            <a:ext cx="66675" cy="66675"/>
          </a:xfrm>
          <a:custGeom xmlns:a="http://schemas.openxmlformats.org/drawingml/2006/main">
            <a:pathLst>
              <a:path w="66675" h="66675">
                <a:moveTo>
                  <a:pt x="33338" y="66675"/>
                </a:moveTo>
                <a:lnTo>
                  <a:pt x="66675" y="0"/>
                </a:lnTo>
                <a:lnTo>
                  <a:pt x="0" y="0"/>
                </a:lnTo>
                <a:lnTo>
                  <a:pt x="33338" y="66675"/>
                </a:lnTo>
              </a:path>
            </a:pathLst>
          </a:custGeom>
          <a:solidFill xmlns:a="http://schemas.openxmlformats.org/drawingml/2006/main">
            <a:srgbClr val="315680"/>
          </a:solidFill>
          <a:ln xmlns:a="http://schemas.openxmlformats.org/drawingml/2006/main" w="0">
            <a:noFill/>
          </a:ln>
        </p:spPr>
      </p:sp>
      <p:sp>
        <p:nvSpPr>
          <p:cNvPr id="1035" name="Officer to release">
            <a:extLst xmlns:a="http://schemas.openxmlformats.org/drawingml/2006/main">
              <a:ext uri="{FF2B5EF4-FFF2-40B4-BE49-F238E27FC236}">
                <a16:creationId xmlns:a16="http://schemas.microsoft.com/office/drawing/2014/main" id="{25EAB0EC-BECE-45B9-ADA5-338011C973BD}"/>
              </a:ext>
            </a:extLst>
          </p:cNvPr>
          <p:cNvSpPr>
            <a:spLocks xmlns:a="http://schemas.openxmlformats.org/drawingml/2006/main" noGrp="1"/>
          </p:cNvSpPr>
          <p:nvPr/>
        </p:nvSpPr>
        <p:spPr>
          <a:xfrm xmlns:a="http://schemas.openxmlformats.org/drawingml/2006/main">
            <a:off x="10668000" y="26860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315680"/>
            </a:solidFill>
            <a:prstDash val="solid"/>
          </a:ln>
        </p:spPr>
      </p:sp>
      <p:sp>
        <p:nvSpPr>
          <p:cNvPr id="1036" name="Officer to release arrow">
            <a:extLst xmlns:a="http://schemas.openxmlformats.org/drawingml/2006/main">
              <a:ext uri="{FF2B5EF4-FFF2-40B4-BE49-F238E27FC236}">
                <a16:creationId xmlns:a16="http://schemas.microsoft.com/office/drawing/2014/main" id="{7ED3BEAC-37FB-42A2-A2D4-465C41DCC491}"/>
              </a:ext>
            </a:extLst>
          </p:cNvPr>
          <p:cNvSpPr>
            <a:spLocks xmlns:a="http://schemas.openxmlformats.org/drawingml/2006/main" noGrp="1"/>
          </p:cNvSpPr>
          <p:nvPr/>
        </p:nvSpPr>
        <p:spPr>
          <a:xfrm xmlns:a="http://schemas.openxmlformats.org/drawingml/2006/main">
            <a:off x="10634663" y="2790825"/>
            <a:ext cx="66675" cy="66675"/>
          </a:xfrm>
          <a:custGeom xmlns:a="http://schemas.openxmlformats.org/drawingml/2006/main">
            <a:pathLst>
              <a:path w="66675" h="66675">
                <a:moveTo>
                  <a:pt x="33338" y="66675"/>
                </a:moveTo>
                <a:lnTo>
                  <a:pt x="66675" y="0"/>
                </a:lnTo>
                <a:lnTo>
                  <a:pt x="0" y="0"/>
                </a:lnTo>
                <a:lnTo>
                  <a:pt x="33338" y="66675"/>
                </a:lnTo>
              </a:path>
            </a:pathLst>
          </a:custGeom>
          <a:solidFill xmlns:a="http://schemas.openxmlformats.org/drawingml/2006/main">
            <a:srgbClr val="315680"/>
          </a:solidFill>
          <a:ln xmlns:a="http://schemas.openxmlformats.org/drawingml/2006/main" w="0">
            <a:noFill/>
          </a:ln>
        </p:spPr>
      </p:sp>
      <p:sp>
        <p:nvSpPr>
          <p:cNvPr id="1037" name="Release to public">
            <a:extLst xmlns:a="http://schemas.openxmlformats.org/drawingml/2006/main">
              <a:ext uri="{FF2B5EF4-FFF2-40B4-BE49-F238E27FC236}">
                <a16:creationId xmlns:a16="http://schemas.microsoft.com/office/drawing/2014/main" id="{CD29437E-DD44-4200-A626-540C7F97EA7C}"/>
              </a:ext>
            </a:extLst>
          </p:cNvPr>
          <p:cNvSpPr>
            <a:spLocks xmlns:a="http://schemas.openxmlformats.org/drawingml/2006/main" noGrp="1"/>
          </p:cNvSpPr>
          <p:nvPr/>
        </p:nvSpPr>
        <p:spPr>
          <a:xfrm xmlns:a="http://schemas.openxmlformats.org/drawingml/2006/main">
            <a:off x="10668000" y="3429000"/>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2383">
            <a:solidFill>
              <a:srgbClr val="08A65B"/>
            </a:solidFill>
            <a:prstDash val="solid"/>
          </a:ln>
        </p:spPr>
      </p:sp>
      <p:sp>
        <p:nvSpPr>
          <p:cNvPr id="1038" name="Release to public arrow">
            <a:extLst xmlns:a="http://schemas.openxmlformats.org/drawingml/2006/main">
              <a:ext uri="{FF2B5EF4-FFF2-40B4-BE49-F238E27FC236}">
                <a16:creationId xmlns:a16="http://schemas.microsoft.com/office/drawing/2014/main" id="{84E60A0D-EEC8-468B-980F-C4147E97C638}"/>
              </a:ext>
            </a:extLst>
          </p:cNvPr>
          <p:cNvSpPr>
            <a:spLocks xmlns:a="http://schemas.openxmlformats.org/drawingml/2006/main" noGrp="1"/>
          </p:cNvSpPr>
          <p:nvPr/>
        </p:nvSpPr>
        <p:spPr>
          <a:xfrm xmlns:a="http://schemas.openxmlformats.org/drawingml/2006/main">
            <a:off x="10634663" y="3581400"/>
            <a:ext cx="66675" cy="66675"/>
          </a:xfrm>
          <a:custGeom xmlns:a="http://schemas.openxmlformats.org/drawingml/2006/main">
            <a:pathLst>
              <a:path w="66675" h="66675">
                <a:moveTo>
                  <a:pt x="33338" y="66675"/>
                </a:moveTo>
                <a:lnTo>
                  <a:pt x="66675" y="0"/>
                </a:lnTo>
                <a:lnTo>
                  <a:pt x="0" y="0"/>
                </a:lnTo>
                <a:lnTo>
                  <a:pt x="33338" y="66675"/>
                </a:lnTo>
              </a:path>
            </a:pathLst>
          </a:custGeom>
          <a:solidFill xmlns:a="http://schemas.openxmlformats.org/drawingml/2006/main">
            <a:srgbClr val="08A65B"/>
          </a:solidFill>
          <a:ln xmlns:a="http://schemas.openxmlformats.org/drawingml/2006/main" w="0">
            <a:noFill/>
          </a:ln>
        </p:spPr>
      </p:sp>
      <p:sp>
        <p:nvSpPr>
          <p:cNvPr id="1039" name="Release hold">
            <a:extLst xmlns:a="http://schemas.openxmlformats.org/drawingml/2006/main">
              <a:ext uri="{FF2B5EF4-FFF2-40B4-BE49-F238E27FC236}">
                <a16:creationId xmlns:a16="http://schemas.microsoft.com/office/drawing/2014/main" id="{213D1DE7-E612-4EE8-AA22-B50DE26B97F2}"/>
              </a:ext>
            </a:extLst>
          </p:cNvPr>
          <p:cNvSpPr>
            <a:spLocks xmlns:a="http://schemas.openxmlformats.org/drawingml/2006/main" noGrp="1"/>
          </p:cNvSpPr>
          <p:nvPr/>
        </p:nvSpPr>
        <p:spPr>
          <a:xfrm xmlns:a="http://schemas.openxmlformats.org/drawingml/2006/main">
            <a:off x="9677400" y="3143250"/>
            <a:ext cx="495300" cy="9525"/>
          </a:xfrm>
          <a:custGeom xmlns:a="http://schemas.openxmlformats.org/drawingml/2006/main">
            <a:pathLst>
              <a:path w="495300" h="9525">
                <a:moveTo>
                  <a:pt x="495300" y="0"/>
                </a:moveTo>
                <a:lnTo>
                  <a:pt x="0" y="0"/>
                </a:lnTo>
              </a:path>
            </a:pathLst>
          </a:custGeom>
          <a:noFill xmlns:a="http://schemas.openxmlformats.org/drawingml/2006/main"/>
          <a:ln xmlns:a="http://schemas.openxmlformats.org/drawingml/2006/main" w="12383">
            <a:solidFill>
              <a:srgbClr val="ED495A"/>
            </a:solidFill>
            <a:prstDash val="solid"/>
          </a:ln>
        </p:spPr>
      </p:sp>
      <p:sp>
        <p:nvSpPr>
          <p:cNvPr id="1040" name="Release hold arrow">
            <a:extLst xmlns:a="http://schemas.openxmlformats.org/drawingml/2006/main">
              <a:ext uri="{FF2B5EF4-FFF2-40B4-BE49-F238E27FC236}">
                <a16:creationId xmlns:a16="http://schemas.microsoft.com/office/drawing/2014/main" id="{EED019B7-2B41-4913-AB36-D366EE41BB4D}"/>
              </a:ext>
            </a:extLst>
          </p:cNvPr>
          <p:cNvSpPr>
            <a:spLocks xmlns:a="http://schemas.openxmlformats.org/drawingml/2006/main" noGrp="1"/>
          </p:cNvSpPr>
          <p:nvPr/>
        </p:nvSpPr>
        <p:spPr>
          <a:xfrm xmlns:a="http://schemas.openxmlformats.org/drawingml/2006/main">
            <a:off x="9677400" y="3109913"/>
            <a:ext cx="66675" cy="66675"/>
          </a:xfrm>
          <a:custGeom xmlns:a="http://schemas.openxmlformats.org/drawingml/2006/main">
            <a:pathLst>
              <a:path w="66675" h="66675">
                <a:moveTo>
                  <a:pt x="0" y="33338"/>
                </a:moveTo>
                <a:lnTo>
                  <a:pt x="66675" y="66675"/>
                </a:lnTo>
                <a:lnTo>
                  <a:pt x="66675" y="0"/>
                </a:lnTo>
                <a:lnTo>
                  <a:pt x="0" y="33338"/>
                </a:lnTo>
              </a:path>
            </a:pathLst>
          </a:custGeom>
          <a:solidFill xmlns:a="http://schemas.openxmlformats.org/drawingml/2006/main">
            <a:srgbClr val="ED495A"/>
          </a:solidFill>
          <a:ln xmlns:a="http://schemas.openxmlformats.org/drawingml/2006/main" w="0">
            <a:noFill/>
          </a:ln>
        </p:spPr>
      </p:sp>
      <p:sp>
        <p:nvSpPr>
          <p:cNvPr id="1041" name="Public reports">
            <a:extLst xmlns:a="http://schemas.openxmlformats.org/drawingml/2006/main">
              <a:ext uri="{FF2B5EF4-FFF2-40B4-BE49-F238E27FC236}">
                <a16:creationId xmlns:a16="http://schemas.microsoft.com/office/drawing/2014/main" id="{24258CD4-D776-459B-90EA-D360839B1232}"/>
              </a:ext>
            </a:extLst>
          </p:cNvPr>
          <p:cNvSpPr>
            <a:spLocks xmlns:a="http://schemas.openxmlformats.org/drawingml/2006/main" noGrp="1"/>
          </p:cNvSpPr>
          <p:nvPr/>
        </p:nvSpPr>
        <p:spPr>
          <a:xfrm xmlns:a="http://schemas.openxmlformats.org/drawingml/2006/main">
            <a:off x="9191625" y="4076700"/>
            <a:ext cx="314325" cy="9525"/>
          </a:xfrm>
          <a:custGeom xmlns:a="http://schemas.openxmlformats.org/drawingml/2006/main">
            <a:pathLst>
              <a:path w="314325" h="9525">
                <a:moveTo>
                  <a:pt x="314325" y="0"/>
                </a:moveTo>
                <a:lnTo>
                  <a:pt x="0" y="0"/>
                </a:lnTo>
              </a:path>
            </a:pathLst>
          </a:custGeom>
          <a:noFill xmlns:a="http://schemas.openxmlformats.org/drawingml/2006/main"/>
          <a:ln xmlns:a="http://schemas.openxmlformats.org/drawingml/2006/main" w="12383">
            <a:solidFill>
              <a:srgbClr val="315680"/>
            </a:solidFill>
            <a:prstDash val="solid"/>
          </a:ln>
        </p:spPr>
      </p:sp>
      <p:sp>
        <p:nvSpPr>
          <p:cNvPr id="1042" name="Public reports arrow">
            <a:extLst xmlns:a="http://schemas.openxmlformats.org/drawingml/2006/main">
              <a:ext uri="{FF2B5EF4-FFF2-40B4-BE49-F238E27FC236}">
                <a16:creationId xmlns:a16="http://schemas.microsoft.com/office/drawing/2014/main" id="{DBBD6DDB-66B2-45F8-B848-CF7BB700BEC4}"/>
              </a:ext>
            </a:extLst>
          </p:cNvPr>
          <p:cNvSpPr>
            <a:spLocks xmlns:a="http://schemas.openxmlformats.org/drawingml/2006/main" noGrp="1"/>
          </p:cNvSpPr>
          <p:nvPr/>
        </p:nvSpPr>
        <p:spPr>
          <a:xfrm xmlns:a="http://schemas.openxmlformats.org/drawingml/2006/main">
            <a:off x="9191625" y="4043363"/>
            <a:ext cx="66675" cy="66675"/>
          </a:xfrm>
          <a:custGeom xmlns:a="http://schemas.openxmlformats.org/drawingml/2006/main">
            <a:pathLst>
              <a:path w="66675" h="66675">
                <a:moveTo>
                  <a:pt x="0" y="33338"/>
                </a:moveTo>
                <a:lnTo>
                  <a:pt x="66675" y="66675"/>
                </a:lnTo>
                <a:lnTo>
                  <a:pt x="66675" y="0"/>
                </a:lnTo>
                <a:lnTo>
                  <a:pt x="0" y="33338"/>
                </a:lnTo>
              </a:path>
            </a:pathLst>
          </a:custGeom>
          <a:solidFill xmlns:a="http://schemas.openxmlformats.org/drawingml/2006/main">
            <a:srgbClr val="315680"/>
          </a:solidFill>
          <a:ln xmlns:a="http://schemas.openxmlformats.org/drawingml/2006/main" w="0">
            <a:noFill/>
          </a:ln>
        </p:spPr>
      </p:sp>
      <p:sp>
        <p:nvSpPr>
          <p:cNvPr id="1043" name="Peer relay">
            <a:extLst xmlns:a="http://schemas.openxmlformats.org/drawingml/2006/main">
              <a:ext uri="{FF2B5EF4-FFF2-40B4-BE49-F238E27FC236}">
                <a16:creationId xmlns:a16="http://schemas.microsoft.com/office/drawing/2014/main" id="{AA788C57-4DB2-4C95-80FB-7FCB67B3B542}"/>
              </a:ext>
            </a:extLst>
          </p:cNvPr>
          <p:cNvSpPr>
            <a:spLocks xmlns:a="http://schemas.openxmlformats.org/drawingml/2006/main" noGrp="1"/>
          </p:cNvSpPr>
          <p:nvPr/>
        </p:nvSpPr>
        <p:spPr>
          <a:xfrm xmlns:a="http://schemas.openxmlformats.org/drawingml/2006/main">
            <a:off x="10668000" y="4448175"/>
            <a:ext cx="9525" cy="161925"/>
          </a:xfrm>
          <a:custGeom xmlns:a="http://schemas.openxmlformats.org/drawingml/2006/main">
            <a:pathLst>
              <a:path w="9525" h="161925">
                <a:moveTo>
                  <a:pt x="0" y="0"/>
                </a:moveTo>
                <a:lnTo>
                  <a:pt x="0" y="161925"/>
                </a:lnTo>
              </a:path>
            </a:pathLst>
          </a:custGeom>
          <a:noFill xmlns:a="http://schemas.openxmlformats.org/drawingml/2006/main"/>
          <a:ln xmlns:a="http://schemas.openxmlformats.org/drawingml/2006/main" w="12383">
            <a:solidFill>
              <a:srgbClr val="073DD0"/>
            </a:solidFill>
            <a:prstDash val="dash"/>
          </a:ln>
        </p:spPr>
      </p:sp>
      <p:sp>
        <p:nvSpPr>
          <p:cNvPr id="1044" name="Peer relay arrow">
            <a:extLst xmlns:a="http://schemas.openxmlformats.org/drawingml/2006/main">
              <a:ext uri="{FF2B5EF4-FFF2-40B4-BE49-F238E27FC236}">
                <a16:creationId xmlns:a16="http://schemas.microsoft.com/office/drawing/2014/main" id="{B76584D8-DD9A-41FE-B4EF-5A6B03E565B7}"/>
              </a:ext>
            </a:extLst>
          </p:cNvPr>
          <p:cNvSpPr>
            <a:spLocks xmlns:a="http://schemas.openxmlformats.org/drawingml/2006/main" noGrp="1"/>
          </p:cNvSpPr>
          <p:nvPr/>
        </p:nvSpPr>
        <p:spPr>
          <a:xfrm xmlns:a="http://schemas.openxmlformats.org/drawingml/2006/main">
            <a:off x="10634663" y="4543425"/>
            <a:ext cx="66675" cy="66675"/>
          </a:xfrm>
          <a:custGeom xmlns:a="http://schemas.openxmlformats.org/drawingml/2006/main">
            <a:pathLst>
              <a:path w="66675" h="66675">
                <a:moveTo>
                  <a:pt x="33338" y="66675"/>
                </a:moveTo>
                <a:lnTo>
                  <a:pt x="66675" y="0"/>
                </a:lnTo>
                <a:lnTo>
                  <a:pt x="0" y="0"/>
                </a:lnTo>
                <a:lnTo>
                  <a:pt x="33338" y="66675"/>
                </a:lnTo>
              </a:path>
            </a:pathLst>
          </a:custGeom>
          <a:solidFill xmlns:a="http://schemas.openxmlformats.org/drawingml/2006/main">
            <a:srgbClr val="073DD0"/>
          </a:solidFill>
          <a:ln xmlns:a="http://schemas.openxmlformats.org/drawingml/2006/main" w="0">
            <a:noFill/>
          </a:ln>
        </p:spPr>
      </p:sp>
      <p:sp>
        <p:nvSpPr>
          <p:cNvPr id="1045" name="Archive to matching">
            <a:extLst xmlns:a="http://schemas.openxmlformats.org/drawingml/2006/main">
              <a:ext uri="{FF2B5EF4-FFF2-40B4-BE49-F238E27FC236}">
                <a16:creationId xmlns:a16="http://schemas.microsoft.com/office/drawing/2014/main" id="{B4E84096-B27B-4834-B794-ACA691D552D2}"/>
              </a:ext>
            </a:extLst>
          </p:cNvPr>
          <p:cNvSpPr>
            <a:spLocks xmlns:a="http://schemas.openxmlformats.org/drawingml/2006/main" noGrp="1"/>
          </p:cNvSpPr>
          <p:nvPr/>
        </p:nvSpPr>
        <p:spPr>
          <a:xfrm xmlns:a="http://schemas.openxmlformats.org/drawingml/2006/main">
            <a:off x="4152900" y="3752850"/>
            <a:ext cx="419100" cy="9525"/>
          </a:xfrm>
          <a:custGeom xmlns:a="http://schemas.openxmlformats.org/drawingml/2006/main">
            <a:pathLst>
              <a:path w="419100" h="9525">
                <a:moveTo>
                  <a:pt x="419100" y="0"/>
                </a:moveTo>
                <a:lnTo>
                  <a:pt x="0" y="0"/>
                </a:lnTo>
              </a:path>
            </a:pathLst>
          </a:custGeom>
          <a:noFill xmlns:a="http://schemas.openxmlformats.org/drawingml/2006/main"/>
          <a:ln xmlns:a="http://schemas.openxmlformats.org/drawingml/2006/main" w="12383">
            <a:solidFill>
              <a:srgbClr val="315680"/>
            </a:solidFill>
            <a:prstDash val="solid"/>
          </a:ln>
        </p:spPr>
      </p:sp>
      <p:sp>
        <p:nvSpPr>
          <p:cNvPr id="1046" name="Archive to matching arrow">
            <a:extLst xmlns:a="http://schemas.openxmlformats.org/drawingml/2006/main">
              <a:ext uri="{FF2B5EF4-FFF2-40B4-BE49-F238E27FC236}">
                <a16:creationId xmlns:a16="http://schemas.microsoft.com/office/drawing/2014/main" id="{704359C8-AAE6-4271-94E7-5E0439D20095}"/>
              </a:ext>
            </a:extLst>
          </p:cNvPr>
          <p:cNvSpPr>
            <a:spLocks xmlns:a="http://schemas.openxmlformats.org/drawingml/2006/main" noGrp="1"/>
          </p:cNvSpPr>
          <p:nvPr/>
        </p:nvSpPr>
        <p:spPr>
          <a:xfrm xmlns:a="http://schemas.openxmlformats.org/drawingml/2006/main">
            <a:off x="4152900" y="3719513"/>
            <a:ext cx="66675" cy="66675"/>
          </a:xfrm>
          <a:custGeom xmlns:a="http://schemas.openxmlformats.org/drawingml/2006/main">
            <a:pathLst>
              <a:path w="66675" h="66675">
                <a:moveTo>
                  <a:pt x="0" y="33338"/>
                </a:moveTo>
                <a:lnTo>
                  <a:pt x="66675" y="66675"/>
                </a:lnTo>
                <a:lnTo>
                  <a:pt x="66675" y="0"/>
                </a:lnTo>
                <a:lnTo>
                  <a:pt x="0" y="33338"/>
                </a:lnTo>
              </a:path>
            </a:pathLst>
          </a:custGeom>
          <a:solidFill xmlns:a="http://schemas.openxmlformats.org/drawingml/2006/main">
            <a:srgbClr val="315680"/>
          </a:solidFill>
          <a:ln xmlns:a="http://schemas.openxmlformats.org/drawingml/2006/main" w="0">
            <a:noFill/>
          </a:ln>
        </p:spPr>
      </p:sp>
      <p:sp>
        <p:nvSpPr>
          <p:cNvPr id="1047" name="Reports to reviewed labels">
            <a:extLst xmlns:a="http://schemas.openxmlformats.org/drawingml/2006/main">
              <a:ext uri="{FF2B5EF4-FFF2-40B4-BE49-F238E27FC236}">
                <a16:creationId xmlns:a16="http://schemas.microsoft.com/office/drawing/2014/main" id="{CF2D96C9-2A05-4105-B3E0-850C2DB3026F}"/>
              </a:ext>
            </a:extLst>
          </p:cNvPr>
          <p:cNvSpPr>
            <a:spLocks xmlns:a="http://schemas.openxmlformats.org/drawingml/2006/main" noGrp="1"/>
          </p:cNvSpPr>
          <p:nvPr/>
        </p:nvSpPr>
        <p:spPr>
          <a:xfrm xmlns:a="http://schemas.openxmlformats.org/drawingml/2006/main">
            <a:off x="3228975" y="4276725"/>
            <a:ext cx="5067300" cy="295275"/>
          </a:xfrm>
          <a:custGeom xmlns:a="http://schemas.openxmlformats.org/drawingml/2006/main">
            <a:pathLst>
              <a:path w="5067300" h="295275">
                <a:moveTo>
                  <a:pt x="5067300" y="161925"/>
                </a:moveTo>
                <a:lnTo>
                  <a:pt x="5067300" y="295275"/>
                </a:lnTo>
                <a:lnTo>
                  <a:pt x="0" y="295275"/>
                </a:lnTo>
                <a:lnTo>
                  <a:pt x="0" y="0"/>
                </a:lnTo>
              </a:path>
            </a:pathLst>
          </a:custGeom>
          <a:noFill xmlns:a="http://schemas.openxmlformats.org/drawingml/2006/main"/>
          <a:ln xmlns:a="http://schemas.openxmlformats.org/drawingml/2006/main" w="12383">
            <a:solidFill>
              <a:srgbClr val="315680"/>
            </a:solidFill>
            <a:prstDash val="solid"/>
          </a:ln>
        </p:spPr>
      </p:sp>
      <p:sp>
        <p:nvSpPr>
          <p:cNvPr id="1048" name="Reports to reviewed labels arrow">
            <a:extLst xmlns:a="http://schemas.openxmlformats.org/drawingml/2006/main">
              <a:ext uri="{FF2B5EF4-FFF2-40B4-BE49-F238E27FC236}">
                <a16:creationId xmlns:a16="http://schemas.microsoft.com/office/drawing/2014/main" id="{CE484323-D5B0-4C76-891D-AFFB2CCADC99}"/>
              </a:ext>
            </a:extLst>
          </p:cNvPr>
          <p:cNvSpPr>
            <a:spLocks xmlns:a="http://schemas.openxmlformats.org/drawingml/2006/main" noGrp="1"/>
          </p:cNvSpPr>
          <p:nvPr/>
        </p:nvSpPr>
        <p:spPr>
          <a:xfrm xmlns:a="http://schemas.openxmlformats.org/drawingml/2006/main">
            <a:off x="3195638" y="4276725"/>
            <a:ext cx="66675" cy="66675"/>
          </a:xfrm>
          <a:custGeom xmlns:a="http://schemas.openxmlformats.org/drawingml/2006/main">
            <a:pathLst>
              <a:path w="66675" h="66675">
                <a:moveTo>
                  <a:pt x="33338" y="0"/>
                </a:moveTo>
                <a:lnTo>
                  <a:pt x="0" y="66675"/>
                </a:lnTo>
                <a:lnTo>
                  <a:pt x="66675" y="66675"/>
                </a:lnTo>
                <a:lnTo>
                  <a:pt x="33338" y="0"/>
                </a:lnTo>
              </a:path>
            </a:pathLst>
          </a:custGeom>
          <a:solidFill xmlns:a="http://schemas.openxmlformats.org/drawingml/2006/main">
            <a:srgbClr val="315680"/>
          </a:solidFill>
          <a:ln xmlns:a="http://schemas.openxmlformats.org/drawingml/2006/main" w="0">
            <a:noFill/>
          </a:ln>
        </p:spPr>
      </p:sp>
      <p:sp>
        <p:nvSpPr>
          <p:cNvPr id="1049" name="Reviewed labels to corpus">
            <a:extLst xmlns:a="http://schemas.openxmlformats.org/drawingml/2006/main">
              <a:ext uri="{FF2B5EF4-FFF2-40B4-BE49-F238E27FC236}">
                <a16:creationId xmlns:a16="http://schemas.microsoft.com/office/drawing/2014/main" id="{288792CE-9926-4AD1-BF1B-E601B43DE1D8}"/>
              </a:ext>
            </a:extLst>
          </p:cNvPr>
          <p:cNvSpPr>
            <a:spLocks xmlns:a="http://schemas.openxmlformats.org/drawingml/2006/main" noGrp="1"/>
          </p:cNvSpPr>
          <p:nvPr/>
        </p:nvSpPr>
        <p:spPr>
          <a:xfrm xmlns:a="http://schemas.openxmlformats.org/drawingml/2006/main">
            <a:off x="1219200" y="3876675"/>
            <a:ext cx="1085850" cy="1028700"/>
          </a:xfrm>
          <a:custGeom xmlns:a="http://schemas.openxmlformats.org/drawingml/2006/main">
            <a:pathLst>
              <a:path w="1085850" h="1028700">
                <a:moveTo>
                  <a:pt x="1085850" y="0"/>
                </a:moveTo>
                <a:lnTo>
                  <a:pt x="0" y="0"/>
                </a:lnTo>
                <a:lnTo>
                  <a:pt x="0" y="1028700"/>
                </a:lnTo>
              </a:path>
            </a:pathLst>
          </a:custGeom>
          <a:noFill xmlns:a="http://schemas.openxmlformats.org/drawingml/2006/main"/>
          <a:ln xmlns:a="http://schemas.openxmlformats.org/drawingml/2006/main" w="12383">
            <a:solidFill>
              <a:srgbClr val="315680"/>
            </a:solidFill>
            <a:prstDash val="solid"/>
          </a:ln>
        </p:spPr>
      </p:sp>
      <p:sp>
        <p:nvSpPr>
          <p:cNvPr id="1050" name="Reviewed labels to corpus arrow">
            <a:extLst xmlns:a="http://schemas.openxmlformats.org/drawingml/2006/main">
              <a:ext uri="{FF2B5EF4-FFF2-40B4-BE49-F238E27FC236}">
                <a16:creationId xmlns:a16="http://schemas.microsoft.com/office/drawing/2014/main" id="{F275DC28-FDD3-4A18-899F-927032B76D70}"/>
              </a:ext>
            </a:extLst>
          </p:cNvPr>
          <p:cNvSpPr>
            <a:spLocks xmlns:a="http://schemas.openxmlformats.org/drawingml/2006/main" noGrp="1"/>
          </p:cNvSpPr>
          <p:nvPr/>
        </p:nvSpPr>
        <p:spPr>
          <a:xfrm xmlns:a="http://schemas.openxmlformats.org/drawingml/2006/main">
            <a:off x="1185863" y="4838700"/>
            <a:ext cx="66675" cy="66675"/>
          </a:xfrm>
          <a:custGeom xmlns:a="http://schemas.openxmlformats.org/drawingml/2006/main">
            <a:pathLst>
              <a:path w="66675" h="66675">
                <a:moveTo>
                  <a:pt x="33338" y="66675"/>
                </a:moveTo>
                <a:lnTo>
                  <a:pt x="66675" y="0"/>
                </a:lnTo>
                <a:lnTo>
                  <a:pt x="0" y="0"/>
                </a:lnTo>
                <a:lnTo>
                  <a:pt x="33338" y="66675"/>
                </a:lnTo>
              </a:path>
            </a:pathLst>
          </a:custGeom>
          <a:solidFill xmlns:a="http://schemas.openxmlformats.org/drawingml/2006/main">
            <a:srgbClr val="315680"/>
          </a:solidFill>
          <a:ln xmlns:a="http://schemas.openxmlformats.org/drawingml/2006/main" w="0">
            <a:noFill/>
          </a:ln>
        </p:spPr>
      </p:sp>
      <p:sp>
        <p:nvSpPr>
          <p:cNvPr id="1051" name="Corpus to train">
            <a:extLst xmlns:a="http://schemas.openxmlformats.org/drawingml/2006/main">
              <a:ext uri="{FF2B5EF4-FFF2-40B4-BE49-F238E27FC236}">
                <a16:creationId xmlns:a16="http://schemas.microsoft.com/office/drawing/2014/main" id="{C054E0DA-3BDD-4BAF-A0A9-E129C0A89A7E}"/>
              </a:ext>
            </a:extLst>
          </p:cNvPr>
          <p:cNvSpPr>
            <a:spLocks xmlns:a="http://schemas.openxmlformats.org/drawingml/2006/main" noGrp="1"/>
          </p:cNvSpPr>
          <p:nvPr/>
        </p:nvSpPr>
        <p:spPr>
          <a:xfrm xmlns:a="http://schemas.openxmlformats.org/drawingml/2006/main">
            <a:off x="2143125" y="5353050"/>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2383">
            <a:solidFill>
              <a:srgbClr val="073DD0"/>
            </a:solidFill>
            <a:prstDash val="solid"/>
          </a:ln>
        </p:spPr>
      </p:sp>
      <p:sp>
        <p:nvSpPr>
          <p:cNvPr id="1052" name="Corpus to train arrow">
            <a:extLst xmlns:a="http://schemas.openxmlformats.org/drawingml/2006/main">
              <a:ext uri="{FF2B5EF4-FFF2-40B4-BE49-F238E27FC236}">
                <a16:creationId xmlns:a16="http://schemas.microsoft.com/office/drawing/2014/main" id="{1064926D-6165-4F7E-A0CF-CA9C750FD70B}"/>
              </a:ext>
            </a:extLst>
          </p:cNvPr>
          <p:cNvSpPr>
            <a:spLocks xmlns:a="http://schemas.openxmlformats.org/drawingml/2006/main" noGrp="1"/>
          </p:cNvSpPr>
          <p:nvPr/>
        </p:nvSpPr>
        <p:spPr>
          <a:xfrm xmlns:a="http://schemas.openxmlformats.org/drawingml/2006/main">
            <a:off x="2476500" y="5319713"/>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073DD0"/>
          </a:solidFill>
          <a:ln xmlns:a="http://schemas.openxmlformats.org/drawingml/2006/main" w="0">
            <a:noFill/>
          </a:ln>
        </p:spPr>
      </p:sp>
      <p:sp>
        <p:nvSpPr>
          <p:cNvPr id="1053" name="Train to verification">
            <a:extLst xmlns:a="http://schemas.openxmlformats.org/drawingml/2006/main">
              <a:ext uri="{FF2B5EF4-FFF2-40B4-BE49-F238E27FC236}">
                <a16:creationId xmlns:a16="http://schemas.microsoft.com/office/drawing/2014/main" id="{3DCDB1F7-F9A2-4F68-AABD-ADA9B7D246AC}"/>
              </a:ext>
            </a:extLst>
          </p:cNvPr>
          <p:cNvSpPr>
            <a:spLocks xmlns:a="http://schemas.openxmlformats.org/drawingml/2006/main" noGrp="1"/>
          </p:cNvSpPr>
          <p:nvPr/>
        </p:nvSpPr>
        <p:spPr>
          <a:xfrm xmlns:a="http://schemas.openxmlformats.org/drawingml/2006/main">
            <a:off x="4629150" y="535305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12383">
            <a:solidFill>
              <a:srgbClr val="073DD0"/>
            </a:solidFill>
            <a:prstDash val="solid"/>
          </a:ln>
        </p:spPr>
      </p:sp>
      <p:sp>
        <p:nvSpPr>
          <p:cNvPr id="1054" name="Train to verification arrow">
            <a:extLst xmlns:a="http://schemas.openxmlformats.org/drawingml/2006/main">
              <a:ext uri="{FF2B5EF4-FFF2-40B4-BE49-F238E27FC236}">
                <a16:creationId xmlns:a16="http://schemas.microsoft.com/office/drawing/2014/main" id="{3B89FB39-2FFF-44CC-A7B9-D9888C032DB4}"/>
              </a:ext>
            </a:extLst>
          </p:cNvPr>
          <p:cNvSpPr>
            <a:spLocks xmlns:a="http://schemas.openxmlformats.org/drawingml/2006/main" noGrp="1"/>
          </p:cNvSpPr>
          <p:nvPr/>
        </p:nvSpPr>
        <p:spPr>
          <a:xfrm xmlns:a="http://schemas.openxmlformats.org/drawingml/2006/main">
            <a:off x="4924425" y="5319713"/>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073DD0"/>
          </a:solidFill>
          <a:ln xmlns:a="http://schemas.openxmlformats.org/drawingml/2006/main" w="0">
            <a:noFill/>
          </a:ln>
        </p:spPr>
      </p:sp>
      <p:sp>
        <p:nvSpPr>
          <p:cNvPr id="1055" name="Verify to promote">
            <a:extLst xmlns:a="http://schemas.openxmlformats.org/drawingml/2006/main">
              <a:ext uri="{FF2B5EF4-FFF2-40B4-BE49-F238E27FC236}">
                <a16:creationId xmlns:a16="http://schemas.microsoft.com/office/drawing/2014/main" id="{FCAABDD5-7C49-4CFD-AF43-E29DA0CE57FB}"/>
              </a:ext>
            </a:extLst>
          </p:cNvPr>
          <p:cNvSpPr>
            <a:spLocks xmlns:a="http://schemas.openxmlformats.org/drawingml/2006/main" noGrp="1"/>
          </p:cNvSpPr>
          <p:nvPr/>
        </p:nvSpPr>
        <p:spPr>
          <a:xfrm xmlns:a="http://schemas.openxmlformats.org/drawingml/2006/main">
            <a:off x="7143750" y="53530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2383">
            <a:solidFill>
              <a:srgbClr val="073DD0"/>
            </a:solidFill>
            <a:prstDash val="solid"/>
          </a:ln>
        </p:spPr>
      </p:sp>
      <p:sp>
        <p:nvSpPr>
          <p:cNvPr id="1056" name="Verify to promote arrow">
            <a:extLst xmlns:a="http://schemas.openxmlformats.org/drawingml/2006/main">
              <a:ext uri="{FF2B5EF4-FFF2-40B4-BE49-F238E27FC236}">
                <a16:creationId xmlns:a16="http://schemas.microsoft.com/office/drawing/2014/main" id="{6564DC67-2C66-4C05-A3F9-3608B4A6505B}"/>
              </a:ext>
            </a:extLst>
          </p:cNvPr>
          <p:cNvSpPr>
            <a:spLocks xmlns:a="http://schemas.openxmlformats.org/drawingml/2006/main" noGrp="1"/>
          </p:cNvSpPr>
          <p:nvPr/>
        </p:nvSpPr>
        <p:spPr>
          <a:xfrm xmlns:a="http://schemas.openxmlformats.org/drawingml/2006/main">
            <a:off x="7496175" y="5319713"/>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073DD0"/>
          </a:solidFill>
          <a:ln xmlns:a="http://schemas.openxmlformats.org/drawingml/2006/main" w="0">
            <a:noFill/>
          </a:ln>
        </p:spPr>
      </p:sp>
      <p:sp>
        <p:nvSpPr>
          <p:cNvPr id="1057" name="Approved model return">
            <a:extLst xmlns:a="http://schemas.openxmlformats.org/drawingml/2006/main">
              <a:ext uri="{FF2B5EF4-FFF2-40B4-BE49-F238E27FC236}">
                <a16:creationId xmlns:a16="http://schemas.microsoft.com/office/drawing/2014/main" id="{A80676D8-5E39-4480-BFCE-75B2F5EB176F}"/>
              </a:ext>
            </a:extLst>
          </p:cNvPr>
          <p:cNvSpPr>
            <a:spLocks xmlns:a="http://schemas.openxmlformats.org/drawingml/2006/main" noGrp="1"/>
          </p:cNvSpPr>
          <p:nvPr/>
        </p:nvSpPr>
        <p:spPr>
          <a:xfrm xmlns:a="http://schemas.openxmlformats.org/drawingml/2006/main">
            <a:off x="6810375" y="2762250"/>
            <a:ext cx="1562100" cy="2143125"/>
          </a:xfrm>
          <a:custGeom xmlns:a="http://schemas.openxmlformats.org/drawingml/2006/main">
            <a:pathLst>
              <a:path w="1562100" h="2143125">
                <a:moveTo>
                  <a:pt x="1562100" y="2143125"/>
                </a:moveTo>
                <a:lnTo>
                  <a:pt x="1562100" y="1971675"/>
                </a:lnTo>
                <a:lnTo>
                  <a:pt x="419100" y="1971675"/>
                </a:lnTo>
                <a:lnTo>
                  <a:pt x="419100" y="200025"/>
                </a:lnTo>
                <a:lnTo>
                  <a:pt x="0" y="200025"/>
                </a:lnTo>
                <a:lnTo>
                  <a:pt x="0" y="0"/>
                </a:lnTo>
              </a:path>
            </a:pathLst>
          </a:custGeom>
          <a:noFill xmlns:a="http://schemas.openxmlformats.org/drawingml/2006/main"/>
          <a:ln xmlns:a="http://schemas.openxmlformats.org/drawingml/2006/main" w="12383">
            <a:solidFill>
              <a:srgbClr val="073DD0"/>
            </a:solidFill>
            <a:prstDash val="dash"/>
          </a:ln>
        </p:spPr>
      </p:sp>
      <p:sp>
        <p:nvSpPr>
          <p:cNvPr id="1058" name="Approved model return arrow">
            <a:extLst xmlns:a="http://schemas.openxmlformats.org/drawingml/2006/main">
              <a:ext uri="{FF2B5EF4-FFF2-40B4-BE49-F238E27FC236}">
                <a16:creationId xmlns:a16="http://schemas.microsoft.com/office/drawing/2014/main" id="{939BF4EA-0837-46D8-98AD-14B95010778C}"/>
              </a:ext>
            </a:extLst>
          </p:cNvPr>
          <p:cNvSpPr>
            <a:spLocks xmlns:a="http://schemas.openxmlformats.org/drawingml/2006/main" noGrp="1"/>
          </p:cNvSpPr>
          <p:nvPr/>
        </p:nvSpPr>
        <p:spPr>
          <a:xfrm xmlns:a="http://schemas.openxmlformats.org/drawingml/2006/main">
            <a:off x="6777038" y="2762250"/>
            <a:ext cx="66675" cy="66675"/>
          </a:xfrm>
          <a:custGeom xmlns:a="http://schemas.openxmlformats.org/drawingml/2006/main">
            <a:pathLst>
              <a:path w="66675" h="66675">
                <a:moveTo>
                  <a:pt x="33338" y="0"/>
                </a:moveTo>
                <a:lnTo>
                  <a:pt x="0" y="66675"/>
                </a:lnTo>
                <a:lnTo>
                  <a:pt x="66675" y="66675"/>
                </a:lnTo>
                <a:lnTo>
                  <a:pt x="33338" y="0"/>
                </a:lnTo>
              </a:path>
            </a:pathLst>
          </a:custGeom>
          <a:solidFill xmlns:a="http://schemas.openxmlformats.org/drawingml/2006/main">
            <a:srgbClr val="073DD0"/>
          </a:solidFill>
          <a:ln xmlns:a="http://schemas.openxmlformats.org/drawingml/2006/main" w="0">
            <a:noFill/>
          </a:ln>
        </p:spPr>
      </p:sp>
      <p:sp>
        <p:nvSpPr>
          <p:cNvPr id="1059" name="Verification scorecard">
            <a:extLst xmlns:a="http://schemas.openxmlformats.org/drawingml/2006/main">
              <a:ext uri="{FF2B5EF4-FFF2-40B4-BE49-F238E27FC236}">
                <a16:creationId xmlns:a16="http://schemas.microsoft.com/office/drawing/2014/main" id="{D68E8266-20E3-4F08-B14B-F621A4EADBA4}"/>
              </a:ext>
            </a:extLst>
          </p:cNvPr>
          <p:cNvSpPr>
            <a:spLocks xmlns:a="http://schemas.openxmlformats.org/drawingml/2006/main" noGrp="1"/>
          </p:cNvSpPr>
          <p:nvPr/>
        </p:nvSpPr>
        <p:spPr>
          <a:xfrm xmlns:a="http://schemas.openxmlformats.org/drawingml/2006/main">
            <a:off x="6086475" y="5467350"/>
            <a:ext cx="3419475" cy="447675"/>
          </a:xfrm>
          <a:custGeom xmlns:a="http://schemas.openxmlformats.org/drawingml/2006/main">
            <a:pathLst>
              <a:path w="3419475" h="447675">
                <a:moveTo>
                  <a:pt x="0" y="304800"/>
                </a:moveTo>
                <a:lnTo>
                  <a:pt x="0" y="447675"/>
                </a:lnTo>
                <a:lnTo>
                  <a:pt x="3276600" y="447675"/>
                </a:lnTo>
                <a:lnTo>
                  <a:pt x="3276600" y="0"/>
                </a:lnTo>
                <a:lnTo>
                  <a:pt x="3419475" y="0"/>
                </a:lnTo>
              </a:path>
            </a:pathLst>
          </a:custGeom>
          <a:noFill xmlns:a="http://schemas.openxmlformats.org/drawingml/2006/main"/>
          <a:ln xmlns:a="http://schemas.openxmlformats.org/drawingml/2006/main" w="12383">
            <a:solidFill>
              <a:srgbClr val="073DD0"/>
            </a:solidFill>
            <a:prstDash val="dash"/>
          </a:ln>
        </p:spPr>
      </p:sp>
      <p:sp>
        <p:nvSpPr>
          <p:cNvPr id="1060" name="Verification scorecard arrow">
            <a:extLst xmlns:a="http://schemas.openxmlformats.org/drawingml/2006/main">
              <a:ext uri="{FF2B5EF4-FFF2-40B4-BE49-F238E27FC236}">
                <a16:creationId xmlns:a16="http://schemas.microsoft.com/office/drawing/2014/main" id="{10EA0FB6-A003-442A-813A-B25E9F212443}"/>
              </a:ext>
            </a:extLst>
          </p:cNvPr>
          <p:cNvSpPr>
            <a:spLocks xmlns:a="http://schemas.openxmlformats.org/drawingml/2006/main" noGrp="1"/>
          </p:cNvSpPr>
          <p:nvPr/>
        </p:nvSpPr>
        <p:spPr>
          <a:xfrm xmlns:a="http://schemas.openxmlformats.org/drawingml/2006/main">
            <a:off x="9439275" y="5434013"/>
            <a:ext cx="66675" cy="66675"/>
          </a:xfrm>
          <a:custGeom xmlns:a="http://schemas.openxmlformats.org/drawingml/2006/main">
            <a:pathLst>
              <a:path w="66675" h="66675">
                <a:moveTo>
                  <a:pt x="66675" y="33338"/>
                </a:moveTo>
                <a:lnTo>
                  <a:pt x="0" y="0"/>
                </a:lnTo>
                <a:lnTo>
                  <a:pt x="0" y="66675"/>
                </a:lnTo>
                <a:lnTo>
                  <a:pt x="66675" y="33338"/>
                </a:lnTo>
              </a:path>
            </a:pathLst>
          </a:custGeom>
          <a:solidFill xmlns:a="http://schemas.openxmlformats.org/drawingml/2006/main">
            <a:srgbClr val="073DD0"/>
          </a:solidFill>
          <a:ln xmlns:a="http://schemas.openxmlformats.org/drawingml/2006/main" w="0">
            <a:noFill/>
          </a:ln>
        </p:spPr>
      </p:sp>
      <p:sp>
        <p:nvSpPr>
          <p:cNvPr id="1061" name="Shadow decision features">
            <a:extLst xmlns:a="http://schemas.openxmlformats.org/drawingml/2006/main">
              <a:ext uri="{FF2B5EF4-FFF2-40B4-BE49-F238E27FC236}">
                <a16:creationId xmlns:a16="http://schemas.microsoft.com/office/drawing/2014/main" id="{B7EF485C-48C8-460C-A4D6-52E95E41163C}"/>
              </a:ext>
            </a:extLst>
          </p:cNvPr>
          <p:cNvSpPr>
            <a:spLocks xmlns:a="http://schemas.openxmlformats.org/drawingml/2006/main" noGrp="1"/>
          </p:cNvSpPr>
          <p:nvPr/>
        </p:nvSpPr>
        <p:spPr>
          <a:xfrm xmlns:a="http://schemas.openxmlformats.org/drawingml/2006/main">
            <a:off x="8277225" y="2676525"/>
            <a:ext cx="9525" cy="180975"/>
          </a:xfrm>
          <a:custGeom xmlns:a="http://schemas.openxmlformats.org/drawingml/2006/main">
            <a:pathLst>
              <a:path w="9525" h="180975">
                <a:moveTo>
                  <a:pt x="0" y="0"/>
                </a:moveTo>
                <a:lnTo>
                  <a:pt x="0" y="180975"/>
                </a:lnTo>
              </a:path>
            </a:pathLst>
          </a:custGeom>
          <a:noFill xmlns:a="http://schemas.openxmlformats.org/drawingml/2006/main"/>
          <a:ln xmlns:a="http://schemas.openxmlformats.org/drawingml/2006/main" w="12383">
            <a:solidFill>
              <a:srgbClr val="B48EFF"/>
            </a:solidFill>
            <a:prstDash val="dash"/>
          </a:ln>
        </p:spPr>
      </p:sp>
      <p:sp>
        <p:nvSpPr>
          <p:cNvPr id="1062" name="Shadow decision features arrow">
            <a:extLst xmlns:a="http://schemas.openxmlformats.org/drawingml/2006/main">
              <a:ext uri="{FF2B5EF4-FFF2-40B4-BE49-F238E27FC236}">
                <a16:creationId xmlns:a16="http://schemas.microsoft.com/office/drawing/2014/main" id="{FAB7534C-8C9C-4A6B-A145-25D37C07CBD5}"/>
              </a:ext>
            </a:extLst>
          </p:cNvPr>
          <p:cNvSpPr>
            <a:spLocks xmlns:a="http://schemas.openxmlformats.org/drawingml/2006/main" noGrp="1"/>
          </p:cNvSpPr>
          <p:nvPr/>
        </p:nvSpPr>
        <p:spPr>
          <a:xfrm xmlns:a="http://schemas.openxmlformats.org/drawingml/2006/main">
            <a:off x="8243888" y="2790825"/>
            <a:ext cx="66675" cy="66675"/>
          </a:xfrm>
          <a:custGeom xmlns:a="http://schemas.openxmlformats.org/drawingml/2006/main">
            <a:pathLst>
              <a:path w="66675" h="66675">
                <a:moveTo>
                  <a:pt x="33338" y="66675"/>
                </a:moveTo>
                <a:lnTo>
                  <a:pt x="66675" y="0"/>
                </a:lnTo>
                <a:lnTo>
                  <a:pt x="0" y="0"/>
                </a:lnTo>
                <a:lnTo>
                  <a:pt x="33338" y="66675"/>
                </a:lnTo>
              </a:path>
            </a:pathLst>
          </a:custGeom>
          <a:solidFill xmlns:a="http://schemas.openxmlformats.org/drawingml/2006/main">
            <a:srgbClr val="B48EFF"/>
          </a:solidFill>
          <a:ln xmlns:a="http://schemas.openxmlformats.org/drawingml/2006/main" w="0">
            <a:noFill/>
          </a:ln>
        </p:spPr>
      </p:sp>
      <p:sp>
        <p:nvSpPr>
          <p:cNvPr id="1063" name="Weather inputs">
            <a:extLst xmlns:a="http://schemas.openxmlformats.org/drawingml/2006/main">
              <a:ext uri="{FF2B5EF4-FFF2-40B4-BE49-F238E27FC236}">
                <a16:creationId xmlns:a16="http://schemas.microsoft.com/office/drawing/2014/main" id="{698D6D5A-95B6-47FD-ABD2-CD23FFA8A8FD}"/>
              </a:ext>
            </a:extLst>
          </p:cNvPr>
          <p:cNvSpPr>
            <a:spLocks xmlns:a="http://schemas.openxmlformats.org/drawingml/2006/main" noGrp="1"/>
          </p:cNvSpPr>
          <p:nvPr/>
        </p:nvSpPr>
        <p:spPr>
          <a:xfrm xmlns:a="http://schemas.openxmlformats.org/drawingml/2006/main">
            <a:off x="238125" y="1428750"/>
            <a:ext cx="1828800" cy="1228725"/>
          </a:xfrm>
          <a:prstGeom xmlns:a="http://schemas.openxmlformats.org/drawingml/2006/main" prst="roundRect">
            <a:avLst>
              <a:gd name="adj" fmla="val 6202"/>
            </a:avLst>
          </a:prstGeom>
          <a:solidFill xmlns:a="http://schemas.openxmlformats.org/drawingml/2006/main">
            <a:srgbClr val="F2EBFF"/>
          </a:solidFill>
          <a:ln xmlns:a="http://schemas.openxmlformats.org/drawingml/2006/main" w="10478">
            <a:solidFill>
              <a:srgbClr val="B48EFF"/>
            </a:solidFill>
            <a:prstDash val="solid"/>
          </a:ln>
        </p:spPr>
      </p:sp>
      <p:sp>
        <p:nvSpPr>
          <p:cNvPr id="1064" name="Weather inputs heading">
            <a:extLst xmlns:a="http://schemas.openxmlformats.org/drawingml/2006/main">
              <a:ext uri="{FF2B5EF4-FFF2-40B4-BE49-F238E27FC236}">
                <a16:creationId xmlns:a16="http://schemas.microsoft.com/office/drawing/2014/main" id="{613FBDA0-6B03-4B96-B7DC-21A8F77DF5E5}"/>
              </a:ext>
            </a:extLst>
          </p:cNvPr>
          <p:cNvSpPr>
            <a:spLocks xmlns:a="http://schemas.openxmlformats.org/drawingml/2006/main" noGrp="1"/>
          </p:cNvSpPr>
          <p:nvPr/>
        </p:nvSpPr>
        <p:spPr>
          <a:xfrm xmlns:a="http://schemas.openxmlformats.org/drawingml/2006/main">
            <a:off x="333375" y="1524000"/>
            <a:ext cx="1638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Weather inputs</a:t>
            </a:r>
          </a:p>
        </p:txBody>
      </p:sp>
      <p:sp>
        <p:nvSpPr>
          <p:cNvPr id="1065" name="Weather inputs detail">
            <a:extLst xmlns:a="http://schemas.openxmlformats.org/drawingml/2006/main">
              <a:ext uri="{FF2B5EF4-FFF2-40B4-BE49-F238E27FC236}">
                <a16:creationId xmlns:a16="http://schemas.microsoft.com/office/drawing/2014/main" id="{8EBFC982-996E-443E-88E2-6DDDC7AF2384}"/>
              </a:ext>
            </a:extLst>
          </p:cNvPr>
          <p:cNvSpPr>
            <a:spLocks xmlns:a="http://schemas.openxmlformats.org/drawingml/2006/main" noGrp="1"/>
          </p:cNvSpPr>
          <p:nvPr/>
        </p:nvSpPr>
        <p:spPr>
          <a:xfrm xmlns:a="http://schemas.openxmlformats.org/drawingml/2006/main">
            <a:off x="333375" y="1790700"/>
            <a:ext cx="16383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65" b="0">
                <a:solidFill>
                  <a:srgbClr val="244461"/>
                </a:solidFill>
                <a:latin typeface="Arial"/>
                <a:ea typeface="Arial"/>
                <a:cs typeface="Arial"/>
              </a:defRPr>
            </a:pPr>
            <a:r>
              <a:rPr sz="1065" b="0">
                <a:solidFill>
                  <a:srgbClr val="244461"/>
                </a:solidFill>
                <a:latin typeface="Arial"/>
                <a:ea typeface="Arial"/>
                <a:cs typeface="Arial"/>
              </a:rPr>
              <a:t>Radar: dBZ / velocity</a:t>
            </a:r>
          </a:p>
          <a:p xmlns:a="http://schemas.openxmlformats.org/drawingml/2006/main">
            <a:pPr algn="l">
              <a:buNone/>
              <a:defRPr sz="1065" b="0">
                <a:solidFill>
                  <a:srgbClr val="244461"/>
                </a:solidFill>
                <a:latin typeface="Arial"/>
                <a:ea typeface="Arial"/>
                <a:cs typeface="Arial"/>
              </a:defRPr>
            </a:pPr>
            <a:r>
              <a:rPr sz="1065" b="0">
                <a:solidFill>
                  <a:srgbClr val="244461"/>
                </a:solidFill>
                <a:latin typeface="Arial"/>
                <a:ea typeface="Arial"/>
                <a:cs typeface="Arial"/>
              </a:rPr>
              <a:t>INSAT: clouds / moisture</a:t>
            </a:r>
          </a:p>
          <a:p xmlns:a="http://schemas.openxmlformats.org/drawingml/2006/main">
            <a:pPr algn="l">
              <a:buNone/>
              <a:defRPr sz="1065" b="0">
                <a:solidFill>
                  <a:srgbClr val="244461"/>
                </a:solidFill>
                <a:latin typeface="Arial"/>
                <a:ea typeface="Arial"/>
                <a:cs typeface="Arial"/>
              </a:defRPr>
            </a:pPr>
            <a:r>
              <a:rPr sz="1065" b="0">
                <a:solidFill>
                  <a:srgbClr val="244461"/>
                </a:solidFill>
                <a:latin typeface="Arial"/>
                <a:ea typeface="Arial"/>
                <a:cs typeface="Arial"/>
              </a:rPr>
              <a:t>Lightning + coverage</a:t>
            </a:r>
          </a:p>
          <a:p xmlns:a="http://schemas.openxmlformats.org/drawingml/2006/main">
            <a:pPr algn="l">
              <a:buNone/>
              <a:defRPr sz="1065" b="0">
                <a:solidFill>
                  <a:srgbClr val="244461"/>
                </a:solidFill>
                <a:latin typeface="Arial"/>
                <a:ea typeface="Arial"/>
                <a:cs typeface="Arial"/>
              </a:defRPr>
            </a:pPr>
            <a:r>
              <a:rPr sz="1065" b="0">
                <a:solidFill>
                  <a:srgbClr val="244461"/>
                </a:solidFill>
                <a:latin typeface="Arial"/>
                <a:ea typeface="Arial"/>
                <a:cs typeface="Arial"/>
              </a:rPr>
              <a:t>Gauges + NWP context</a:t>
            </a:r>
          </a:p>
        </p:txBody>
      </p:sp>
      <p:sp>
        <p:nvSpPr>
          <p:cNvPr id="1066" name="Alignment and quality">
            <a:extLst xmlns:a="http://schemas.openxmlformats.org/drawingml/2006/main">
              <a:ext uri="{FF2B5EF4-FFF2-40B4-BE49-F238E27FC236}">
                <a16:creationId xmlns:a16="http://schemas.microsoft.com/office/drawing/2014/main" id="{D5B8C5E5-2B8E-46F0-A635-9EB8EB83487F}"/>
              </a:ext>
            </a:extLst>
          </p:cNvPr>
          <p:cNvSpPr>
            <a:spLocks xmlns:a="http://schemas.openxmlformats.org/drawingml/2006/main" noGrp="1"/>
          </p:cNvSpPr>
          <p:nvPr/>
        </p:nvSpPr>
        <p:spPr>
          <a:xfrm xmlns:a="http://schemas.openxmlformats.org/drawingml/2006/main">
            <a:off x="2324100" y="1428750"/>
            <a:ext cx="1781175" cy="1228725"/>
          </a:xfrm>
          <a:prstGeom xmlns:a="http://schemas.openxmlformats.org/drawingml/2006/main" prst="roundRect">
            <a:avLst>
              <a:gd name="adj" fmla="val 6202"/>
            </a:avLst>
          </a:prstGeom>
          <a:solidFill xmlns:a="http://schemas.openxmlformats.org/drawingml/2006/main">
            <a:srgbClr val="F2EBFF"/>
          </a:solidFill>
          <a:ln xmlns:a="http://schemas.openxmlformats.org/drawingml/2006/main" w="10478">
            <a:solidFill>
              <a:srgbClr val="B48EFF"/>
            </a:solidFill>
            <a:prstDash val="solid"/>
          </a:ln>
        </p:spPr>
      </p:sp>
      <p:sp>
        <p:nvSpPr>
          <p:cNvPr id="1067" name="Alignment and quality heading">
            <a:extLst xmlns:a="http://schemas.openxmlformats.org/drawingml/2006/main">
              <a:ext uri="{FF2B5EF4-FFF2-40B4-BE49-F238E27FC236}">
                <a16:creationId xmlns:a16="http://schemas.microsoft.com/office/drawing/2014/main" id="{038DC4EF-3E0A-4FDA-BEE4-735121732B70}"/>
              </a:ext>
            </a:extLst>
          </p:cNvPr>
          <p:cNvSpPr>
            <a:spLocks xmlns:a="http://schemas.openxmlformats.org/drawingml/2006/main" noGrp="1"/>
          </p:cNvSpPr>
          <p:nvPr/>
        </p:nvSpPr>
        <p:spPr>
          <a:xfrm xmlns:a="http://schemas.openxmlformats.org/drawingml/2006/main">
            <a:off x="2419350" y="1524000"/>
            <a:ext cx="15906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Align + check</a:t>
            </a:r>
          </a:p>
        </p:txBody>
      </p:sp>
      <p:sp>
        <p:nvSpPr>
          <p:cNvPr id="1068" name="Alignment and quality detail">
            <a:extLst xmlns:a="http://schemas.openxmlformats.org/drawingml/2006/main">
              <a:ext uri="{FF2B5EF4-FFF2-40B4-BE49-F238E27FC236}">
                <a16:creationId xmlns:a16="http://schemas.microsoft.com/office/drawing/2014/main" id="{15880049-1A83-48AB-BD9B-6200E4513A4A}"/>
              </a:ext>
            </a:extLst>
          </p:cNvPr>
          <p:cNvSpPr>
            <a:spLocks xmlns:a="http://schemas.openxmlformats.org/drawingml/2006/main" noGrp="1"/>
          </p:cNvSpPr>
          <p:nvPr/>
        </p:nvSpPr>
        <p:spPr>
          <a:xfrm xmlns:a="http://schemas.openxmlformats.org/drawingml/2006/main">
            <a:off x="2419350" y="1790700"/>
            <a:ext cx="15906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UTC / units / alignment</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Quality / age / masks</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Validated fallback</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Withhold poor inputs</a:t>
            </a:r>
          </a:p>
        </p:txBody>
      </p:sp>
      <p:sp>
        <p:nvSpPr>
          <p:cNvPr id="1069" name="Prediction model">
            <a:extLst xmlns:a="http://schemas.openxmlformats.org/drawingml/2006/main">
              <a:ext uri="{FF2B5EF4-FFF2-40B4-BE49-F238E27FC236}">
                <a16:creationId xmlns:a16="http://schemas.microsoft.com/office/drawing/2014/main" id="{83351DC5-3C32-4D1F-9BDA-84C38A3F7E30}"/>
              </a:ext>
            </a:extLst>
          </p:cNvPr>
          <p:cNvSpPr>
            <a:spLocks xmlns:a="http://schemas.openxmlformats.org/drawingml/2006/main" noGrp="1"/>
          </p:cNvSpPr>
          <p:nvPr/>
        </p:nvSpPr>
        <p:spPr>
          <a:xfrm xmlns:a="http://schemas.openxmlformats.org/drawingml/2006/main">
            <a:off x="4381500" y="1371600"/>
            <a:ext cx="2733675" cy="1390650"/>
          </a:xfrm>
          <a:prstGeom xmlns:a="http://schemas.openxmlformats.org/drawingml/2006/main" prst="roundRect">
            <a:avLst>
              <a:gd name="adj" fmla="val 5479"/>
            </a:avLst>
          </a:prstGeom>
          <a:solidFill xmlns:a="http://schemas.openxmlformats.org/drawingml/2006/main">
            <a:srgbClr val="FFF5E5"/>
          </a:solidFill>
          <a:ln xmlns:a="http://schemas.openxmlformats.org/drawingml/2006/main" w="10478">
            <a:solidFill>
              <a:srgbClr val="EEA03B"/>
            </a:solidFill>
            <a:prstDash val="solid"/>
          </a:ln>
        </p:spPr>
      </p:sp>
      <p:sp>
        <p:nvSpPr>
          <p:cNvPr id="1070" name="Prediction model heading">
            <a:extLst xmlns:a="http://schemas.openxmlformats.org/drawingml/2006/main">
              <a:ext uri="{FF2B5EF4-FFF2-40B4-BE49-F238E27FC236}">
                <a16:creationId xmlns:a16="http://schemas.microsoft.com/office/drawing/2014/main" id="{158192CE-5B43-4568-99F8-1CA53E7A64EA}"/>
              </a:ext>
            </a:extLst>
          </p:cNvPr>
          <p:cNvSpPr>
            <a:spLocks xmlns:a="http://schemas.openxmlformats.org/drawingml/2006/main" noGrp="1"/>
          </p:cNvSpPr>
          <p:nvPr/>
        </p:nvSpPr>
        <p:spPr>
          <a:xfrm xmlns:a="http://schemas.openxmlformats.org/drawingml/2006/main">
            <a:off x="4476750" y="1466850"/>
            <a:ext cx="25431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Regional prediction model</a:t>
            </a:r>
          </a:p>
        </p:txBody>
      </p:sp>
      <p:sp>
        <p:nvSpPr>
          <p:cNvPr id="1071" name="Prediction model detail">
            <a:extLst xmlns:a="http://schemas.openxmlformats.org/drawingml/2006/main">
              <a:ext uri="{FF2B5EF4-FFF2-40B4-BE49-F238E27FC236}">
                <a16:creationId xmlns:a16="http://schemas.microsoft.com/office/drawing/2014/main" id="{A31E17F1-2682-4CFC-94A3-85467D393CF7}"/>
              </a:ext>
            </a:extLst>
          </p:cNvPr>
          <p:cNvSpPr>
            <a:spLocks xmlns:a="http://schemas.openxmlformats.org/drawingml/2006/main" noGrp="1"/>
          </p:cNvSpPr>
          <p:nvPr/>
        </p:nvSpPr>
        <p:spPr>
          <a:xfrm xmlns:a="http://schemas.openxmlformats.org/drawingml/2006/main">
            <a:off x="4476750" y="1733550"/>
            <a:ext cx="25431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244461"/>
                </a:solidFill>
                <a:latin typeface="Arial"/>
                <a:ea typeface="Arial"/>
                <a:cs typeface="Arial"/>
              </a:defRPr>
            </a:pPr>
            <a:r>
              <a:rPr sz="1200" b="0">
                <a:solidFill>
                  <a:srgbClr val="244461"/>
                </a:solidFill>
                <a:latin typeface="Arial"/>
                <a:ea typeface="Arial"/>
                <a:cs typeface="Arial"/>
              </a:rPr>
              <a:t>Motion + cloud growth + CAPE</a:t>
            </a:r>
          </a:p>
          <a:p xmlns:a="http://schemas.openxmlformats.org/drawingml/2006/main">
            <a:pPr algn="l">
              <a:buNone/>
              <a:defRPr sz="1200" b="0">
                <a:solidFill>
                  <a:srgbClr val="244461"/>
                </a:solidFill>
                <a:latin typeface="Arial"/>
                <a:ea typeface="Arial"/>
                <a:cs typeface="Arial"/>
              </a:defRPr>
            </a:pPr>
            <a:r>
              <a:rPr sz="1200" b="0">
                <a:solidFill>
                  <a:srgbClr val="244461"/>
                </a:solidFill>
                <a:latin typeface="Arial"/>
                <a:ea typeface="Arial"/>
                <a:cs typeface="Arial"/>
              </a:rPr>
              <a:t>Compact ConvLSTM / 3 heads</a:t>
            </a:r>
          </a:p>
          <a:p xmlns:a="http://schemas.openxmlformats.org/drawingml/2006/main">
            <a:pPr algn="l">
              <a:buNone/>
              <a:defRPr sz="1200" b="0">
                <a:solidFill>
                  <a:srgbClr val="244461"/>
                </a:solidFill>
                <a:latin typeface="Arial"/>
                <a:ea typeface="Arial"/>
                <a:cs typeface="Arial"/>
              </a:defRPr>
            </a:pPr>
            <a:r>
              <a:rPr sz="1200" b="0">
                <a:solidFill>
                  <a:srgbClr val="244461"/>
                </a:solidFill>
                <a:latin typeface="Arial"/>
                <a:ea typeface="Arial"/>
                <a:cs typeface="Arial"/>
              </a:rPr>
              <a:t>Lightning risk + onset windows</a:t>
            </a:r>
          </a:p>
          <a:p xmlns:a="http://schemas.openxmlformats.org/drawingml/2006/main">
            <a:pPr algn="l">
              <a:buNone/>
              <a:defRPr sz="1200" b="0">
                <a:solidFill>
                  <a:srgbClr val="244461"/>
                </a:solidFill>
                <a:latin typeface="Arial"/>
                <a:ea typeface="Arial"/>
                <a:cs typeface="Arial"/>
              </a:defRPr>
            </a:pPr>
            <a:r>
              <a:rPr sz="1200" b="0">
                <a:solidFill>
                  <a:srgbClr val="244461"/>
                </a:solidFill>
                <a:latin typeface="Arial"/>
                <a:ea typeface="Arial"/>
                <a:cs typeface="Arial"/>
              </a:rPr>
              <a:t>Rain motion baseline / 30 min</a:t>
            </a:r>
          </a:p>
        </p:txBody>
      </p:sp>
      <p:sp>
        <p:nvSpPr>
          <p:cNvPr id="1072" name="Evidence gate">
            <a:extLst xmlns:a="http://schemas.openxmlformats.org/drawingml/2006/main">
              <a:ext uri="{FF2B5EF4-FFF2-40B4-BE49-F238E27FC236}">
                <a16:creationId xmlns:a16="http://schemas.microsoft.com/office/drawing/2014/main" id="{7AE7DB14-16FC-4D52-8962-7B81D1D6CA58}"/>
              </a:ext>
            </a:extLst>
          </p:cNvPr>
          <p:cNvSpPr>
            <a:spLocks xmlns:a="http://schemas.openxmlformats.org/drawingml/2006/main" noGrp="1"/>
          </p:cNvSpPr>
          <p:nvPr/>
        </p:nvSpPr>
        <p:spPr>
          <a:xfrm xmlns:a="http://schemas.openxmlformats.org/drawingml/2006/main">
            <a:off x="7400925" y="1495425"/>
            <a:ext cx="1781175" cy="1181100"/>
          </a:xfrm>
          <a:prstGeom xmlns:a="http://schemas.openxmlformats.org/drawingml/2006/main" prst="roundRect">
            <a:avLst>
              <a:gd name="adj" fmla="val 6452"/>
            </a:avLst>
          </a:prstGeom>
          <a:solidFill xmlns:a="http://schemas.openxmlformats.org/drawingml/2006/main">
            <a:srgbClr val="FFF5E5"/>
          </a:solidFill>
          <a:ln xmlns:a="http://schemas.openxmlformats.org/drawingml/2006/main" w="10478">
            <a:solidFill>
              <a:srgbClr val="EEA03B"/>
            </a:solidFill>
            <a:prstDash val="solid"/>
          </a:ln>
        </p:spPr>
      </p:sp>
      <p:sp>
        <p:nvSpPr>
          <p:cNvPr id="1073" name="Evidence gate heading">
            <a:extLst xmlns:a="http://schemas.openxmlformats.org/drawingml/2006/main">
              <a:ext uri="{FF2B5EF4-FFF2-40B4-BE49-F238E27FC236}">
                <a16:creationId xmlns:a16="http://schemas.microsoft.com/office/drawing/2014/main" id="{F4EBA351-5DE0-4255-A827-107B87E605A0}"/>
              </a:ext>
            </a:extLst>
          </p:cNvPr>
          <p:cNvSpPr>
            <a:spLocks xmlns:a="http://schemas.openxmlformats.org/drawingml/2006/main" noGrp="1"/>
          </p:cNvSpPr>
          <p:nvPr/>
        </p:nvSpPr>
        <p:spPr>
          <a:xfrm xmlns:a="http://schemas.openxmlformats.org/drawingml/2006/main">
            <a:off x="7496175" y="1590675"/>
            <a:ext cx="15906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Evidence gate</a:t>
            </a:r>
          </a:p>
        </p:txBody>
      </p:sp>
      <p:sp>
        <p:nvSpPr>
          <p:cNvPr id="1074" name="Evidence gate detail">
            <a:extLst xmlns:a="http://schemas.openxmlformats.org/drawingml/2006/main">
              <a:ext uri="{FF2B5EF4-FFF2-40B4-BE49-F238E27FC236}">
                <a16:creationId xmlns:a16="http://schemas.microsoft.com/office/drawing/2014/main" id="{C272D3FF-A4A0-4993-984C-B14DE6CAC5E3}"/>
              </a:ext>
            </a:extLst>
          </p:cNvPr>
          <p:cNvSpPr>
            <a:spLocks xmlns:a="http://schemas.openxmlformats.org/drawingml/2006/main" noGrp="1"/>
          </p:cNvSpPr>
          <p:nvPr/>
        </p:nvSpPr>
        <p:spPr>
          <a:xfrm xmlns:a="http://schemas.openxmlformats.org/drawingml/2006/main">
            <a:off x="7496175" y="1857375"/>
            <a:ext cx="15906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Coverage + source age</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Phase calibration, if valid</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Skill + officer thresholds</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Hold on weak evidence</a:t>
            </a:r>
          </a:p>
        </p:txBody>
      </p:sp>
      <p:sp>
        <p:nvSpPr>
          <p:cNvPr id="1075" name="Officer review">
            <a:extLst xmlns:a="http://schemas.openxmlformats.org/drawingml/2006/main">
              <a:ext uri="{FF2B5EF4-FFF2-40B4-BE49-F238E27FC236}">
                <a16:creationId xmlns:a16="http://schemas.microsoft.com/office/drawing/2014/main" id="{798F2C79-27F8-4E1F-8F17-CE281DF51AD0}"/>
              </a:ext>
            </a:extLst>
          </p:cNvPr>
          <p:cNvSpPr>
            <a:spLocks xmlns:a="http://schemas.openxmlformats.org/drawingml/2006/main" noGrp="1"/>
          </p:cNvSpPr>
          <p:nvPr/>
        </p:nvSpPr>
        <p:spPr>
          <a:xfrm xmlns:a="http://schemas.openxmlformats.org/drawingml/2006/main">
            <a:off x="9505950" y="1438275"/>
            <a:ext cx="2324100" cy="1247775"/>
          </a:xfrm>
          <a:prstGeom xmlns:a="http://schemas.openxmlformats.org/drawingml/2006/main" prst="roundRect">
            <a:avLst>
              <a:gd name="adj" fmla="val 6107"/>
            </a:avLst>
          </a:prstGeom>
          <a:solidFill xmlns:a="http://schemas.openxmlformats.org/drawingml/2006/main">
            <a:srgbClr val="EFF7FF"/>
          </a:solidFill>
          <a:ln xmlns:a="http://schemas.openxmlformats.org/drawingml/2006/main" w="10478">
            <a:solidFill>
              <a:srgbClr val="6AA8DB"/>
            </a:solidFill>
            <a:prstDash val="solid"/>
          </a:ln>
        </p:spPr>
      </p:sp>
      <p:sp>
        <p:nvSpPr>
          <p:cNvPr id="1076" name="Officer review heading">
            <a:extLst xmlns:a="http://schemas.openxmlformats.org/drawingml/2006/main">
              <a:ext uri="{FF2B5EF4-FFF2-40B4-BE49-F238E27FC236}">
                <a16:creationId xmlns:a16="http://schemas.microsoft.com/office/drawing/2014/main" id="{F4E6ED21-4304-492B-B02D-87E0E0945DEB}"/>
              </a:ext>
            </a:extLst>
          </p:cNvPr>
          <p:cNvSpPr>
            <a:spLocks xmlns:a="http://schemas.openxmlformats.org/drawingml/2006/main" noGrp="1"/>
          </p:cNvSpPr>
          <p:nvPr/>
        </p:nvSpPr>
        <p:spPr>
          <a:xfrm xmlns:a="http://schemas.openxmlformats.org/drawingml/2006/main">
            <a:off x="9601200" y="1533525"/>
            <a:ext cx="2133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Officer web dashboard</a:t>
            </a:r>
          </a:p>
        </p:txBody>
      </p:sp>
      <p:sp>
        <p:nvSpPr>
          <p:cNvPr id="1077" name="Officer review detail">
            <a:extLst xmlns:a="http://schemas.openxmlformats.org/drawingml/2006/main">
              <a:ext uri="{FF2B5EF4-FFF2-40B4-BE49-F238E27FC236}">
                <a16:creationId xmlns:a16="http://schemas.microsoft.com/office/drawing/2014/main" id="{E63EE987-91EA-4D90-AF99-23982B034F8A}"/>
              </a:ext>
            </a:extLst>
          </p:cNvPr>
          <p:cNvSpPr>
            <a:spLocks xmlns:a="http://schemas.openxmlformats.org/drawingml/2006/main" noGrp="1"/>
          </p:cNvSpPr>
          <p:nvPr/>
        </p:nvSpPr>
        <p:spPr>
          <a:xfrm xmlns:a="http://schemas.openxmlformats.org/drawingml/2006/main">
            <a:off x="9601200" y="1800225"/>
            <a:ext cx="21336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25" b="0">
                <a:solidFill>
                  <a:srgbClr val="244461"/>
                </a:solidFill>
                <a:latin typeface="Arial"/>
                <a:ea typeface="Arial"/>
                <a:cs typeface="Arial"/>
              </a:defRPr>
            </a:pPr>
            <a:r>
              <a:rPr sz="1125" b="0">
                <a:solidFill>
                  <a:srgbClr val="244461"/>
                </a:solidFill>
                <a:latin typeface="Arial"/>
                <a:ea typeface="Arial"/>
                <a:cs typeface="Arial"/>
              </a:rPr>
              <a:t>Local heatmap + tracked path</a:t>
            </a:r>
          </a:p>
          <a:p xmlns:a="http://schemas.openxmlformats.org/drawingml/2006/main">
            <a:pPr algn="l">
              <a:buNone/>
              <a:defRPr sz="1125" b="0">
                <a:solidFill>
                  <a:srgbClr val="244461"/>
                </a:solidFill>
                <a:latin typeface="Arial"/>
                <a:ea typeface="Arial"/>
                <a:cs typeface="Arial"/>
              </a:defRPr>
            </a:pPr>
            <a:r>
              <a:rPr sz="1125" b="0">
                <a:solidFill>
                  <a:srgbClr val="244461"/>
                </a:solidFill>
                <a:latin typeface="Arial"/>
                <a:ea typeface="Arial"/>
                <a:cs typeface="Arial"/>
              </a:rPr>
              <a:t>Risk / data age / reasons</a:t>
            </a:r>
          </a:p>
          <a:p xmlns:a="http://schemas.openxmlformats.org/drawingml/2006/main">
            <a:pPr algn="l">
              <a:buNone/>
              <a:defRPr sz="1125" b="0">
                <a:solidFill>
                  <a:srgbClr val="244461"/>
                </a:solidFill>
                <a:latin typeface="Arial"/>
                <a:ea typeface="Arial"/>
                <a:cs typeface="Arial"/>
              </a:defRPr>
            </a:pPr>
            <a:r>
              <a:rPr sz="1125" b="0">
                <a:solidFill>
                  <a:srgbClr val="244461"/>
                </a:solidFill>
                <a:latin typeface="Arial"/>
                <a:ea typeface="Arial"/>
                <a:cs typeface="Arial"/>
              </a:rPr>
              <a:t>Threshold + authorised review</a:t>
            </a:r>
          </a:p>
        </p:txBody>
      </p:sp>
      <p:sp>
        <p:nvSpPr>
          <p:cNvPr id="1078" name="Release decision">
            <a:extLst xmlns:a="http://schemas.openxmlformats.org/drawingml/2006/main">
              <a:ext uri="{FF2B5EF4-FFF2-40B4-BE49-F238E27FC236}">
                <a16:creationId xmlns:a16="http://schemas.microsoft.com/office/drawing/2014/main" id="{66B8BC5C-1B5A-4DD2-9E3E-89E0B2C3EDC8}"/>
              </a:ext>
            </a:extLst>
          </p:cNvPr>
          <p:cNvSpPr>
            <a:spLocks xmlns:a="http://schemas.openxmlformats.org/drawingml/2006/main" noGrp="1"/>
          </p:cNvSpPr>
          <p:nvPr/>
        </p:nvSpPr>
        <p:spPr>
          <a:xfrm xmlns:a="http://schemas.openxmlformats.org/drawingml/2006/main">
            <a:off x="10172700" y="2857500"/>
            <a:ext cx="990600" cy="571500"/>
          </a:xfrm>
          <a:prstGeom xmlns:a="http://schemas.openxmlformats.org/drawingml/2006/main" prst="diamond">
            <a:avLst/>
          </a:prstGeom>
          <a:solidFill xmlns:a="http://schemas.openxmlformats.org/drawingml/2006/main">
            <a:srgbClr val="EFF7FF"/>
          </a:solidFill>
          <a:ln xmlns:a="http://schemas.openxmlformats.org/drawingml/2006/main" w="10478">
            <a:solidFill>
              <a:srgbClr val="073DD0"/>
            </a:solidFill>
            <a:prstDash val="solid"/>
          </a:ln>
        </p:spPr>
      </p:sp>
      <p:sp>
        <p:nvSpPr>
          <p:cNvPr id="1079" name="Release decision label">
            <a:extLst xmlns:a="http://schemas.openxmlformats.org/drawingml/2006/main">
              <a:ext uri="{FF2B5EF4-FFF2-40B4-BE49-F238E27FC236}">
                <a16:creationId xmlns:a16="http://schemas.microsoft.com/office/drawing/2014/main" id="{22A9D740-A3F1-4A30-8EC6-F0E79A6E500F}"/>
              </a:ext>
            </a:extLst>
          </p:cNvPr>
          <p:cNvSpPr>
            <a:spLocks xmlns:a="http://schemas.openxmlformats.org/drawingml/2006/main" noGrp="1"/>
          </p:cNvSpPr>
          <p:nvPr/>
        </p:nvSpPr>
        <p:spPr>
          <a:xfrm xmlns:a="http://schemas.openxmlformats.org/drawingml/2006/main">
            <a:off x="10325100" y="3000375"/>
            <a:ext cx="6953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125" b="1">
                <a:solidFill>
                  <a:srgbClr val="073DD0"/>
                </a:solidFill>
                <a:latin typeface="Arial"/>
                <a:ea typeface="Arial"/>
                <a:cs typeface="Arial"/>
              </a:defRPr>
            </a:pPr>
            <a:r>
              <a:rPr sz="1125" b="1">
                <a:solidFill>
                  <a:srgbClr val="073DD0"/>
                </a:solidFill>
                <a:latin typeface="Arial"/>
                <a:ea typeface="Arial"/>
                <a:cs typeface="Arial"/>
              </a:rPr>
              <a:t>Release?</a:t>
            </a:r>
          </a:p>
        </p:txBody>
      </p:sp>
      <p:sp>
        <p:nvSpPr>
          <p:cNvPr id="1080" name="Hold alert box">
            <a:extLst xmlns:a="http://schemas.openxmlformats.org/drawingml/2006/main">
              <a:ext uri="{FF2B5EF4-FFF2-40B4-BE49-F238E27FC236}">
                <a16:creationId xmlns:a16="http://schemas.microsoft.com/office/drawing/2014/main" id="{DD9F4D53-6B5C-4493-95CC-428C5B5AE26C}"/>
              </a:ext>
            </a:extLst>
          </p:cNvPr>
          <p:cNvSpPr>
            <a:spLocks xmlns:a="http://schemas.openxmlformats.org/drawingml/2006/main" noGrp="1"/>
          </p:cNvSpPr>
          <p:nvPr/>
        </p:nvSpPr>
        <p:spPr>
          <a:xfrm xmlns:a="http://schemas.openxmlformats.org/drawingml/2006/main">
            <a:off x="9401175" y="3028950"/>
            <a:ext cx="285750" cy="238125"/>
          </a:xfrm>
          <a:prstGeom xmlns:a="http://schemas.openxmlformats.org/drawingml/2006/main" prst="roundRect">
            <a:avLst>
              <a:gd name="adj" fmla="val 32000"/>
            </a:avLst>
          </a:prstGeom>
          <a:solidFill xmlns:a="http://schemas.openxmlformats.org/drawingml/2006/main">
            <a:srgbClr val="FFF1F3"/>
          </a:solidFill>
          <a:ln xmlns:a="http://schemas.openxmlformats.org/drawingml/2006/main" w="10478">
            <a:solidFill>
              <a:srgbClr val="ED495A"/>
            </a:solidFill>
            <a:prstDash val="solid"/>
          </a:ln>
        </p:spPr>
      </p:sp>
      <p:sp>
        <p:nvSpPr>
          <p:cNvPr id="1081" name="Hold label">
            <a:extLst xmlns:a="http://schemas.openxmlformats.org/drawingml/2006/main">
              <a:ext uri="{FF2B5EF4-FFF2-40B4-BE49-F238E27FC236}">
                <a16:creationId xmlns:a16="http://schemas.microsoft.com/office/drawing/2014/main" id="{BB4E6126-796C-4DE4-9C3F-F78B70CF7947}"/>
              </a:ext>
            </a:extLst>
          </p:cNvPr>
          <p:cNvSpPr>
            <a:spLocks xmlns:a="http://schemas.openxmlformats.org/drawingml/2006/main" noGrp="1"/>
          </p:cNvSpPr>
          <p:nvPr/>
        </p:nvSpPr>
        <p:spPr>
          <a:xfrm xmlns:a="http://schemas.openxmlformats.org/drawingml/2006/main">
            <a:off x="9315450" y="3295650"/>
            <a:ext cx="4857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38" b="1">
                <a:solidFill>
                  <a:srgbClr val="ED495A"/>
                </a:solidFill>
                <a:latin typeface="Arial"/>
                <a:ea typeface="Arial"/>
                <a:cs typeface="Arial"/>
              </a:defRPr>
            </a:pPr>
            <a:r>
              <a:rPr sz="938" b="1">
                <a:solidFill>
                  <a:srgbClr val="ED495A"/>
                </a:solidFill>
                <a:latin typeface="Arial"/>
                <a:ea typeface="Arial"/>
                <a:cs typeface="Arial"/>
              </a:rPr>
              <a:t>Hold</a:t>
            </a:r>
          </a:p>
        </p:txBody>
      </p:sp>
      <p:sp>
        <p:nvSpPr>
          <p:cNvPr id="1082" name="No label">
            <a:extLst xmlns:a="http://schemas.openxmlformats.org/drawingml/2006/main">
              <a:ext uri="{FF2B5EF4-FFF2-40B4-BE49-F238E27FC236}">
                <a16:creationId xmlns:a16="http://schemas.microsoft.com/office/drawing/2014/main" id="{3203A0DF-2110-4501-AD07-A23B08CA8680}"/>
              </a:ext>
            </a:extLst>
          </p:cNvPr>
          <p:cNvSpPr>
            <a:spLocks xmlns:a="http://schemas.openxmlformats.org/drawingml/2006/main" noGrp="1"/>
          </p:cNvSpPr>
          <p:nvPr/>
        </p:nvSpPr>
        <p:spPr>
          <a:xfrm xmlns:a="http://schemas.openxmlformats.org/drawingml/2006/main">
            <a:off x="9829800" y="2933700"/>
            <a:ext cx="2571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00" b="0">
                <a:solidFill>
                  <a:srgbClr val="ED495A"/>
                </a:solidFill>
                <a:latin typeface="Arial"/>
                <a:ea typeface="Arial"/>
                <a:cs typeface="Arial"/>
              </a:defRPr>
            </a:pPr>
            <a:r>
              <a:rPr sz="900" b="0">
                <a:solidFill>
                  <a:srgbClr val="ED495A"/>
                </a:solidFill>
                <a:latin typeface="Arial"/>
                <a:ea typeface="Arial"/>
                <a:cs typeface="Arial"/>
              </a:rPr>
              <a:t>No</a:t>
            </a:r>
          </a:p>
        </p:txBody>
      </p:sp>
      <p:sp>
        <p:nvSpPr>
          <p:cNvPr id="1083" name="Yes label">
            <a:extLst xmlns:a="http://schemas.openxmlformats.org/drawingml/2006/main">
              <a:ext uri="{FF2B5EF4-FFF2-40B4-BE49-F238E27FC236}">
                <a16:creationId xmlns:a16="http://schemas.microsoft.com/office/drawing/2014/main" id="{8DEA5F07-802B-41DD-8B3D-51AB3754201F}"/>
              </a:ext>
            </a:extLst>
          </p:cNvPr>
          <p:cNvSpPr>
            <a:spLocks xmlns:a="http://schemas.openxmlformats.org/drawingml/2006/main" noGrp="1"/>
          </p:cNvSpPr>
          <p:nvPr/>
        </p:nvSpPr>
        <p:spPr>
          <a:xfrm xmlns:a="http://schemas.openxmlformats.org/drawingml/2006/main">
            <a:off x="10772775" y="3448050"/>
            <a:ext cx="628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00" b="0">
                <a:solidFill>
                  <a:srgbClr val="08A65B"/>
                </a:solidFill>
                <a:latin typeface="Arial"/>
                <a:ea typeface="Arial"/>
                <a:cs typeface="Arial"/>
              </a:defRPr>
            </a:pPr>
            <a:r>
              <a:rPr sz="900" b="0">
                <a:solidFill>
                  <a:srgbClr val="08A65B"/>
                </a:solidFill>
                <a:latin typeface="Arial"/>
                <a:ea typeface="Arial"/>
                <a:cs typeface="Arial"/>
              </a:rPr>
              <a:t>Approved</a:t>
            </a:r>
          </a:p>
        </p:txBody>
      </p:sp>
      <p:sp>
        <p:nvSpPr>
          <p:cNvPr id="1084" name="Native mobile app">
            <a:extLst xmlns:a="http://schemas.openxmlformats.org/drawingml/2006/main">
              <a:ext uri="{FF2B5EF4-FFF2-40B4-BE49-F238E27FC236}">
                <a16:creationId xmlns:a16="http://schemas.microsoft.com/office/drawing/2014/main" id="{E353D11C-FF86-4498-B1DC-D6208B0B4BAD}"/>
              </a:ext>
            </a:extLst>
          </p:cNvPr>
          <p:cNvSpPr>
            <a:spLocks xmlns:a="http://schemas.openxmlformats.org/drawingml/2006/main" noGrp="1"/>
          </p:cNvSpPr>
          <p:nvPr/>
        </p:nvSpPr>
        <p:spPr>
          <a:xfrm xmlns:a="http://schemas.openxmlformats.org/drawingml/2006/main">
            <a:off x="9505950" y="3648075"/>
            <a:ext cx="2324100" cy="800100"/>
          </a:xfrm>
          <a:prstGeom xmlns:a="http://schemas.openxmlformats.org/drawingml/2006/main" prst="roundRect">
            <a:avLst>
              <a:gd name="adj" fmla="val 9524"/>
            </a:avLst>
          </a:prstGeom>
          <a:solidFill xmlns:a="http://schemas.openxmlformats.org/drawingml/2006/main">
            <a:srgbClr val="EFF7FF"/>
          </a:solidFill>
          <a:ln xmlns:a="http://schemas.openxmlformats.org/drawingml/2006/main" w="10478">
            <a:solidFill>
              <a:srgbClr val="6AA8DB"/>
            </a:solidFill>
            <a:prstDash val="solid"/>
          </a:ln>
        </p:spPr>
      </p:sp>
      <p:sp>
        <p:nvSpPr>
          <p:cNvPr id="1085" name="Native mobile app heading">
            <a:extLst xmlns:a="http://schemas.openxmlformats.org/drawingml/2006/main">
              <a:ext uri="{FF2B5EF4-FFF2-40B4-BE49-F238E27FC236}">
                <a16:creationId xmlns:a16="http://schemas.microsoft.com/office/drawing/2014/main" id="{353CD0C8-0699-4A9E-8D50-5A6C86522AC0}"/>
              </a:ext>
            </a:extLst>
          </p:cNvPr>
          <p:cNvSpPr>
            <a:spLocks xmlns:a="http://schemas.openxmlformats.org/drawingml/2006/main" noGrp="1"/>
          </p:cNvSpPr>
          <p:nvPr/>
        </p:nvSpPr>
        <p:spPr>
          <a:xfrm xmlns:a="http://schemas.openxmlformats.org/drawingml/2006/main">
            <a:off x="9601200" y="3743325"/>
            <a:ext cx="2133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React Native app</a:t>
            </a:r>
          </a:p>
        </p:txBody>
      </p:sp>
      <p:sp>
        <p:nvSpPr>
          <p:cNvPr id="1086" name="Native mobile app detail">
            <a:extLst xmlns:a="http://schemas.openxmlformats.org/drawingml/2006/main">
              <a:ext uri="{FF2B5EF4-FFF2-40B4-BE49-F238E27FC236}">
                <a16:creationId xmlns:a16="http://schemas.microsoft.com/office/drawing/2014/main" id="{C5CD448D-5322-474C-964F-18FCF4A00625}"/>
              </a:ext>
            </a:extLst>
          </p:cNvPr>
          <p:cNvSpPr>
            <a:spLocks xmlns:a="http://schemas.openxmlformats.org/drawingml/2006/main" noGrp="1"/>
          </p:cNvSpPr>
          <p:nvPr/>
        </p:nvSpPr>
        <p:spPr>
          <a:xfrm xmlns:a="http://schemas.openxmlformats.org/drawingml/2006/main">
            <a:off x="9601200" y="401002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13" b="0">
                <a:solidFill>
                  <a:srgbClr val="244461"/>
                </a:solidFill>
                <a:latin typeface="Arial"/>
                <a:ea typeface="Arial"/>
                <a:cs typeface="Arial"/>
              </a:defRPr>
            </a:pPr>
            <a:r>
              <a:rPr sz="1013" b="0">
                <a:solidFill>
                  <a:srgbClr val="244461"/>
                </a:solidFill>
                <a:latin typeface="Arial"/>
                <a:ea typeface="Arial"/>
                <a:cs typeface="Arial"/>
              </a:rPr>
              <a:t>Local view / 12 languages + English</a:t>
            </a:r>
          </a:p>
          <a:p xmlns:a="http://schemas.openxmlformats.org/drawingml/2006/main">
            <a:pPr algn="l">
              <a:buNone/>
              <a:defRPr sz="1013" b="0">
                <a:solidFill>
                  <a:srgbClr val="244461"/>
                </a:solidFill>
                <a:latin typeface="Arial"/>
                <a:ea typeface="Arial"/>
                <a:cs typeface="Arial"/>
              </a:defRPr>
            </a:pPr>
            <a:r>
              <a:rPr sz="1013" b="0">
                <a:solidFill>
                  <a:srgbClr val="244461"/>
                </a:solidFill>
                <a:latin typeface="Arial"/>
                <a:ea typeface="Arial"/>
                <a:cs typeface="Arial"/>
              </a:rPr>
              <a:t>Voice + SMS alert delivery*</a:t>
            </a:r>
          </a:p>
        </p:txBody>
      </p:sp>
      <p:sp>
        <p:nvSpPr>
          <p:cNvPr id="1087" name="Offline relay">
            <a:extLst xmlns:a="http://schemas.openxmlformats.org/drawingml/2006/main">
              <a:ext uri="{FF2B5EF4-FFF2-40B4-BE49-F238E27FC236}">
                <a16:creationId xmlns:a16="http://schemas.microsoft.com/office/drawing/2014/main" id="{45C034EC-DB9E-4834-98B8-6DAD28999F35}"/>
              </a:ext>
            </a:extLst>
          </p:cNvPr>
          <p:cNvSpPr>
            <a:spLocks xmlns:a="http://schemas.openxmlformats.org/drawingml/2006/main" noGrp="1"/>
          </p:cNvSpPr>
          <p:nvPr/>
        </p:nvSpPr>
        <p:spPr>
          <a:xfrm xmlns:a="http://schemas.openxmlformats.org/drawingml/2006/main">
            <a:off x="9505950" y="4610100"/>
            <a:ext cx="2324100" cy="476250"/>
          </a:xfrm>
          <a:prstGeom xmlns:a="http://schemas.openxmlformats.org/drawingml/2006/main" prst="roundRect">
            <a:avLst>
              <a:gd name="adj" fmla="val 16000"/>
            </a:avLst>
          </a:prstGeom>
          <a:solidFill xmlns:a="http://schemas.openxmlformats.org/drawingml/2006/main">
            <a:srgbClr val="EDFAF2"/>
          </a:solidFill>
          <a:ln xmlns:a="http://schemas.openxmlformats.org/drawingml/2006/main" w="10478">
            <a:solidFill>
              <a:srgbClr val="08A65B"/>
            </a:solidFill>
            <a:prstDash val="dash"/>
          </a:ln>
        </p:spPr>
      </p:sp>
      <p:sp>
        <p:nvSpPr>
          <p:cNvPr id="1088" name="Offline relay heading">
            <a:extLst xmlns:a="http://schemas.openxmlformats.org/drawingml/2006/main">
              <a:ext uri="{FF2B5EF4-FFF2-40B4-BE49-F238E27FC236}">
                <a16:creationId xmlns:a16="http://schemas.microsoft.com/office/drawing/2014/main" id="{1E8CA904-93C5-4CC7-B017-45F7CEDDC98A}"/>
              </a:ext>
            </a:extLst>
          </p:cNvPr>
          <p:cNvSpPr>
            <a:spLocks xmlns:a="http://schemas.openxmlformats.org/drawingml/2006/main" noGrp="1"/>
          </p:cNvSpPr>
          <p:nvPr/>
        </p:nvSpPr>
        <p:spPr>
          <a:xfrm xmlns:a="http://schemas.openxmlformats.org/drawingml/2006/main">
            <a:off x="9601200" y="4657725"/>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63" b="1">
                <a:solidFill>
                  <a:srgbClr val="073DD0"/>
                </a:solidFill>
                <a:latin typeface="Arial"/>
                <a:ea typeface="Arial"/>
                <a:cs typeface="Arial"/>
              </a:defRPr>
            </a:pPr>
            <a:r>
              <a:rPr sz="1163" b="1">
                <a:solidFill>
                  <a:srgbClr val="073DD0"/>
                </a:solidFill>
                <a:latin typeface="Arial"/>
                <a:ea typeface="Arial"/>
                <a:cs typeface="Arial"/>
              </a:rPr>
              <a:t>Bitchat-inspired relay*</a:t>
            </a:r>
          </a:p>
        </p:txBody>
      </p:sp>
      <p:sp>
        <p:nvSpPr>
          <p:cNvPr id="1089" name="Offline relay detail">
            <a:extLst xmlns:a="http://schemas.openxmlformats.org/drawingml/2006/main">
              <a:ext uri="{FF2B5EF4-FFF2-40B4-BE49-F238E27FC236}">
                <a16:creationId xmlns:a16="http://schemas.microsoft.com/office/drawing/2014/main" id="{ADD04590-A152-4987-989D-0593FFA8FCCC}"/>
              </a:ext>
            </a:extLst>
          </p:cNvPr>
          <p:cNvSpPr>
            <a:spLocks xmlns:a="http://schemas.openxmlformats.org/drawingml/2006/main" noGrp="1"/>
          </p:cNvSpPr>
          <p:nvPr/>
        </p:nvSpPr>
        <p:spPr>
          <a:xfrm xmlns:a="http://schemas.openxmlformats.org/drawingml/2006/main">
            <a:off x="9601200" y="4886325"/>
            <a:ext cx="21336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00" b="0">
                <a:solidFill>
                  <a:srgbClr val="244461"/>
                </a:solidFill>
                <a:latin typeface="Arial"/>
                <a:ea typeface="Arial"/>
                <a:cs typeface="Arial"/>
              </a:defRPr>
            </a:pPr>
            <a:r>
              <a:rPr sz="900" b="0">
                <a:solidFill>
                  <a:srgbClr val="244461"/>
                </a:solidFill>
                <a:latin typeface="Arial"/>
                <a:ea typeface="Arial"/>
                <a:cs typeface="Arial"/>
              </a:rPr>
              <a:t>Signed, unexpired alerts / nearby peers</a:t>
            </a:r>
          </a:p>
        </p:txBody>
      </p:sp>
      <p:sp>
        <p:nvSpPr>
          <p:cNvPr id="1090" name="Citizen observations">
            <a:extLst xmlns:a="http://schemas.openxmlformats.org/drawingml/2006/main">
              <a:ext uri="{FF2B5EF4-FFF2-40B4-BE49-F238E27FC236}">
                <a16:creationId xmlns:a16="http://schemas.microsoft.com/office/drawing/2014/main" id="{39F89AD1-6D1A-4736-918C-2A93CD631247}"/>
              </a:ext>
            </a:extLst>
          </p:cNvPr>
          <p:cNvSpPr>
            <a:spLocks xmlns:a="http://schemas.openxmlformats.org/drawingml/2006/main" noGrp="1"/>
          </p:cNvSpPr>
          <p:nvPr/>
        </p:nvSpPr>
        <p:spPr>
          <a:xfrm xmlns:a="http://schemas.openxmlformats.org/drawingml/2006/main">
            <a:off x="7410450" y="3724275"/>
            <a:ext cx="1781175" cy="714375"/>
          </a:xfrm>
          <a:prstGeom xmlns:a="http://schemas.openxmlformats.org/drawingml/2006/main" prst="roundRect">
            <a:avLst>
              <a:gd name="adj" fmla="val 10667"/>
            </a:avLst>
          </a:prstGeom>
          <a:solidFill xmlns:a="http://schemas.openxmlformats.org/drawingml/2006/main">
            <a:srgbClr val="F2EBFF"/>
          </a:solidFill>
          <a:ln xmlns:a="http://schemas.openxmlformats.org/drawingml/2006/main" w="10478">
            <a:solidFill>
              <a:srgbClr val="B48EFF"/>
            </a:solidFill>
            <a:prstDash val="solid"/>
          </a:ln>
        </p:spPr>
      </p:sp>
      <p:sp>
        <p:nvSpPr>
          <p:cNvPr id="1091" name="Citizen observations heading">
            <a:extLst xmlns:a="http://schemas.openxmlformats.org/drawingml/2006/main">
              <a:ext uri="{FF2B5EF4-FFF2-40B4-BE49-F238E27FC236}">
                <a16:creationId xmlns:a16="http://schemas.microsoft.com/office/drawing/2014/main" id="{BE1BF50E-0DD7-4F2F-B86D-19D88B6FCCF0}"/>
              </a:ext>
            </a:extLst>
          </p:cNvPr>
          <p:cNvSpPr>
            <a:spLocks xmlns:a="http://schemas.openxmlformats.org/drawingml/2006/main" noGrp="1"/>
          </p:cNvSpPr>
          <p:nvPr/>
        </p:nvSpPr>
        <p:spPr>
          <a:xfrm xmlns:a="http://schemas.openxmlformats.org/drawingml/2006/main">
            <a:off x="7505700" y="3819525"/>
            <a:ext cx="15906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Citizen observations</a:t>
            </a:r>
          </a:p>
        </p:txBody>
      </p:sp>
      <p:sp>
        <p:nvSpPr>
          <p:cNvPr id="1092" name="Citizen observations detail">
            <a:extLst xmlns:a="http://schemas.openxmlformats.org/drawingml/2006/main">
              <a:ext uri="{FF2B5EF4-FFF2-40B4-BE49-F238E27FC236}">
                <a16:creationId xmlns:a16="http://schemas.microsoft.com/office/drawing/2014/main" id="{0E2E502D-15E4-427A-BA19-9897DEAFBAA0}"/>
              </a:ext>
            </a:extLst>
          </p:cNvPr>
          <p:cNvSpPr>
            <a:spLocks xmlns:a="http://schemas.openxmlformats.org/drawingml/2006/main" noGrp="1"/>
          </p:cNvSpPr>
          <p:nvPr/>
        </p:nvSpPr>
        <p:spPr>
          <a:xfrm xmlns:a="http://schemas.openxmlformats.org/drawingml/2006/main">
            <a:off x="7505700" y="4086225"/>
            <a:ext cx="15906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13" b="0">
                <a:solidFill>
                  <a:srgbClr val="244461"/>
                </a:solidFill>
                <a:latin typeface="Arial"/>
                <a:ea typeface="Arial"/>
                <a:cs typeface="Arial"/>
              </a:defRPr>
            </a:pPr>
            <a:r>
              <a:rPr sz="1013" b="0">
                <a:solidFill>
                  <a:srgbClr val="244461"/>
                </a:solidFill>
                <a:latin typeface="Arial"/>
                <a:ea typeface="Arial"/>
                <a:cs typeface="Arial"/>
              </a:rPr>
              <a:t>Rain? yes / no / unsure</a:t>
            </a:r>
          </a:p>
          <a:p xmlns:a="http://schemas.openxmlformats.org/drawingml/2006/main">
            <a:pPr algn="l">
              <a:buNone/>
              <a:defRPr sz="1013" b="0">
                <a:solidFill>
                  <a:srgbClr val="244461"/>
                </a:solidFill>
                <a:latin typeface="Arial"/>
                <a:ea typeface="Arial"/>
                <a:cs typeface="Arial"/>
              </a:defRPr>
            </a:pPr>
            <a:r>
              <a:rPr sz="1013" b="0">
                <a:solidFill>
                  <a:srgbClr val="244461"/>
                </a:solidFill>
                <a:latin typeface="Arial"/>
                <a:ea typeface="Arial"/>
                <a:cs typeface="Arial"/>
              </a:rPr>
              <a:t>Consent + duplicate checks</a:t>
            </a:r>
          </a:p>
        </p:txBody>
      </p:sp>
      <p:sp>
        <p:nvSpPr>
          <p:cNvPr id="1093" name="Immutable evidence archive">
            <a:extLst xmlns:a="http://schemas.openxmlformats.org/drawingml/2006/main">
              <a:ext uri="{FF2B5EF4-FFF2-40B4-BE49-F238E27FC236}">
                <a16:creationId xmlns:a16="http://schemas.microsoft.com/office/drawing/2014/main" id="{D9B90A87-D7CF-4760-8DEC-FC14BB415A9E}"/>
              </a:ext>
            </a:extLst>
          </p:cNvPr>
          <p:cNvSpPr>
            <a:spLocks xmlns:a="http://schemas.openxmlformats.org/drawingml/2006/main" noGrp="1"/>
          </p:cNvSpPr>
          <p:nvPr/>
        </p:nvSpPr>
        <p:spPr>
          <a:xfrm xmlns:a="http://schemas.openxmlformats.org/drawingml/2006/main">
            <a:off x="4572000" y="3238500"/>
            <a:ext cx="2495550" cy="990600"/>
          </a:xfrm>
          <a:prstGeom xmlns:a="http://schemas.openxmlformats.org/drawingml/2006/main" prst="can">
            <a:avLst/>
          </a:prstGeom>
          <a:solidFill xmlns:a="http://schemas.openxmlformats.org/drawingml/2006/main">
            <a:srgbClr val="EAFBFE"/>
          </a:solidFill>
          <a:ln xmlns:a="http://schemas.openxmlformats.org/drawingml/2006/main" w="10478">
            <a:solidFill>
              <a:srgbClr val="00A5C8"/>
            </a:solidFill>
            <a:prstDash val="solid"/>
          </a:ln>
        </p:spPr>
      </p:sp>
      <p:sp>
        <p:nvSpPr>
          <p:cNvPr id="1094" name="Immutable evidence archive heading">
            <a:extLst xmlns:a="http://schemas.openxmlformats.org/drawingml/2006/main">
              <a:ext uri="{FF2B5EF4-FFF2-40B4-BE49-F238E27FC236}">
                <a16:creationId xmlns:a16="http://schemas.microsoft.com/office/drawing/2014/main" id="{78050E9B-5A83-450F-8F8D-04CF3C63050B}"/>
              </a:ext>
            </a:extLst>
          </p:cNvPr>
          <p:cNvSpPr>
            <a:spLocks xmlns:a="http://schemas.openxmlformats.org/drawingml/2006/main" noGrp="1"/>
          </p:cNvSpPr>
          <p:nvPr/>
        </p:nvSpPr>
        <p:spPr>
          <a:xfrm xmlns:a="http://schemas.openxmlformats.org/drawingml/2006/main">
            <a:off x="4667250" y="3409950"/>
            <a:ext cx="2305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75" b="1">
                <a:solidFill>
                  <a:srgbClr val="073DD0"/>
                </a:solidFill>
                <a:latin typeface="Arial"/>
                <a:ea typeface="Arial"/>
                <a:cs typeface="Arial"/>
              </a:defRPr>
            </a:pPr>
            <a:r>
              <a:rPr sz="1275" b="1">
                <a:solidFill>
                  <a:srgbClr val="073DD0"/>
                </a:solidFill>
                <a:latin typeface="Arial"/>
                <a:ea typeface="Arial"/>
                <a:cs typeface="Arial"/>
              </a:rPr>
              <a:t>Immutable evidence</a:t>
            </a:r>
          </a:p>
        </p:txBody>
      </p:sp>
      <p:sp>
        <p:nvSpPr>
          <p:cNvPr id="1095" name="Immutable evidence archive detail">
            <a:extLst xmlns:a="http://schemas.openxmlformats.org/drawingml/2006/main">
              <a:ext uri="{FF2B5EF4-FFF2-40B4-BE49-F238E27FC236}">
                <a16:creationId xmlns:a16="http://schemas.microsoft.com/office/drawing/2014/main" id="{6891B49F-235B-4D20-AA04-9C04C4B0E312}"/>
              </a:ext>
            </a:extLst>
          </p:cNvPr>
          <p:cNvSpPr>
            <a:spLocks xmlns:a="http://schemas.openxmlformats.org/drawingml/2006/main" noGrp="1"/>
          </p:cNvSpPr>
          <p:nvPr/>
        </p:nvSpPr>
        <p:spPr>
          <a:xfrm xmlns:a="http://schemas.openxmlformats.org/drawingml/2006/main">
            <a:off x="4667250" y="36766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58" b="0">
                <a:solidFill>
                  <a:srgbClr val="244461"/>
                </a:solidFill>
                <a:latin typeface="Arial"/>
                <a:ea typeface="Arial"/>
                <a:cs typeface="Arial"/>
              </a:defRPr>
            </a:pPr>
            <a:r>
              <a:rPr sz="1058" b="0">
                <a:solidFill>
                  <a:srgbClr val="244461"/>
                </a:solidFill>
                <a:latin typeface="Arial"/>
                <a:ea typeface="Arial"/>
                <a:cs typeface="Arial"/>
              </a:rPr>
              <a:t>Source / issue time / model version</a:t>
            </a:r>
          </a:p>
          <a:p xmlns:a="http://schemas.openxmlformats.org/drawingml/2006/main">
            <a:pPr algn="ctr">
              <a:buNone/>
              <a:defRPr sz="1058" b="0">
                <a:solidFill>
                  <a:srgbClr val="244461"/>
                </a:solidFill>
                <a:latin typeface="Arial"/>
                <a:ea typeface="Arial"/>
                <a:cs typeface="Arial"/>
              </a:defRPr>
            </a:pPr>
            <a:r>
              <a:rPr sz="1058" b="0">
                <a:solidFill>
                  <a:srgbClr val="244461"/>
                </a:solidFill>
                <a:latin typeface="Arial"/>
                <a:ea typeface="Arial"/>
                <a:cs typeface="Arial"/>
              </a:rPr>
              <a:t>Forecast revisions + later outcomes</a:t>
            </a:r>
          </a:p>
        </p:txBody>
      </p:sp>
      <p:sp>
        <p:nvSpPr>
          <p:cNvPr id="1096" name="Reviewed outcomes">
            <a:extLst xmlns:a="http://schemas.openxmlformats.org/drawingml/2006/main">
              <a:ext uri="{FF2B5EF4-FFF2-40B4-BE49-F238E27FC236}">
                <a16:creationId xmlns:a16="http://schemas.microsoft.com/office/drawing/2014/main" id="{9DB07384-A39B-4039-8A22-C6784D8E4362}"/>
              </a:ext>
            </a:extLst>
          </p:cNvPr>
          <p:cNvSpPr>
            <a:spLocks xmlns:a="http://schemas.openxmlformats.org/drawingml/2006/main" noGrp="1"/>
          </p:cNvSpPr>
          <p:nvPr/>
        </p:nvSpPr>
        <p:spPr>
          <a:xfrm xmlns:a="http://schemas.openxmlformats.org/drawingml/2006/main">
            <a:off x="2305050" y="3457575"/>
            <a:ext cx="1847850" cy="819150"/>
          </a:xfrm>
          <a:prstGeom xmlns:a="http://schemas.openxmlformats.org/drawingml/2006/main" prst="roundRect">
            <a:avLst>
              <a:gd name="adj" fmla="val 9302"/>
            </a:avLst>
          </a:prstGeom>
          <a:solidFill xmlns:a="http://schemas.openxmlformats.org/drawingml/2006/main">
            <a:srgbClr val="F2EBFF"/>
          </a:solidFill>
          <a:ln xmlns:a="http://schemas.openxmlformats.org/drawingml/2006/main" w="10478">
            <a:solidFill>
              <a:srgbClr val="B48EFF"/>
            </a:solidFill>
            <a:prstDash val="solid"/>
          </a:ln>
        </p:spPr>
      </p:sp>
      <p:sp>
        <p:nvSpPr>
          <p:cNvPr id="1097" name="Reviewed outcomes heading">
            <a:extLst xmlns:a="http://schemas.openxmlformats.org/drawingml/2006/main">
              <a:ext uri="{FF2B5EF4-FFF2-40B4-BE49-F238E27FC236}">
                <a16:creationId xmlns:a16="http://schemas.microsoft.com/office/drawing/2014/main" id="{AF2992D4-4469-4889-9074-DABD21B2475F}"/>
              </a:ext>
            </a:extLst>
          </p:cNvPr>
          <p:cNvSpPr>
            <a:spLocks xmlns:a="http://schemas.openxmlformats.org/drawingml/2006/main" noGrp="1"/>
          </p:cNvSpPr>
          <p:nvPr/>
        </p:nvSpPr>
        <p:spPr>
          <a:xfrm xmlns:a="http://schemas.openxmlformats.org/drawingml/2006/main">
            <a:off x="2400300" y="3552825"/>
            <a:ext cx="16573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Reviewed outcomes</a:t>
            </a:r>
          </a:p>
        </p:txBody>
      </p:sp>
      <p:sp>
        <p:nvSpPr>
          <p:cNvPr id="1098" name="Reviewed outcomes detail">
            <a:extLst xmlns:a="http://schemas.openxmlformats.org/drawingml/2006/main">
              <a:ext uri="{FF2B5EF4-FFF2-40B4-BE49-F238E27FC236}">
                <a16:creationId xmlns:a16="http://schemas.microsoft.com/office/drawing/2014/main" id="{022F3B77-6940-4EA5-8591-AA12E3F65108}"/>
              </a:ext>
            </a:extLst>
          </p:cNvPr>
          <p:cNvSpPr>
            <a:spLocks xmlns:a="http://schemas.openxmlformats.org/drawingml/2006/main" noGrp="1"/>
          </p:cNvSpPr>
          <p:nvPr/>
        </p:nvSpPr>
        <p:spPr>
          <a:xfrm xmlns:a="http://schemas.openxmlformats.org/drawingml/2006/main">
            <a:off x="2400300" y="3819525"/>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28" b="0">
                <a:solidFill>
                  <a:srgbClr val="244461"/>
                </a:solidFill>
                <a:latin typeface="Arial"/>
                <a:ea typeface="Arial"/>
                <a:cs typeface="Arial"/>
              </a:defRPr>
            </a:pPr>
            <a:r>
              <a:rPr sz="1028" b="0">
                <a:solidFill>
                  <a:srgbClr val="244461"/>
                </a:solidFill>
                <a:latin typeface="Arial"/>
                <a:ea typeface="Arial"/>
                <a:cs typeface="Arial"/>
              </a:rPr>
              <a:t>Gauge / strike coverage</a:t>
            </a:r>
          </a:p>
          <a:p xmlns:a="http://schemas.openxmlformats.org/drawingml/2006/main">
            <a:pPr algn="l">
              <a:buNone/>
              <a:defRPr sz="1028" b="0">
                <a:solidFill>
                  <a:srgbClr val="244461"/>
                </a:solidFill>
                <a:latin typeface="Arial"/>
                <a:ea typeface="Arial"/>
                <a:cs typeface="Arial"/>
              </a:defRPr>
            </a:pPr>
            <a:r>
              <a:rPr sz="1028" b="0">
                <a:solidFill>
                  <a:srgbClr val="244461"/>
                </a:solidFill>
                <a:latin typeface="Arial"/>
                <a:ea typeface="Arial"/>
                <a:cs typeface="Arial"/>
              </a:rPr>
              <a:t>Review public weak labels</a:t>
            </a:r>
          </a:p>
        </p:txBody>
      </p:sp>
      <p:sp>
        <p:nvSpPr>
          <p:cNvPr id="1099" name="Shadow classifier">
            <a:extLst xmlns:a="http://schemas.openxmlformats.org/drawingml/2006/main">
              <a:ext uri="{FF2B5EF4-FFF2-40B4-BE49-F238E27FC236}">
                <a16:creationId xmlns:a16="http://schemas.microsoft.com/office/drawing/2014/main" id="{940A365F-F92C-4EB5-AA8F-2C39ADD7B01F}"/>
              </a:ext>
            </a:extLst>
          </p:cNvPr>
          <p:cNvSpPr>
            <a:spLocks xmlns:a="http://schemas.openxmlformats.org/drawingml/2006/main" noGrp="1"/>
          </p:cNvSpPr>
          <p:nvPr/>
        </p:nvSpPr>
        <p:spPr>
          <a:xfrm xmlns:a="http://schemas.openxmlformats.org/drawingml/2006/main">
            <a:off x="7410450" y="2857500"/>
            <a:ext cx="1771650" cy="609600"/>
          </a:xfrm>
          <a:prstGeom xmlns:a="http://schemas.openxmlformats.org/drawingml/2006/main" prst="roundRect">
            <a:avLst>
              <a:gd name="adj" fmla="val 12500"/>
            </a:avLst>
          </a:prstGeom>
          <a:solidFill xmlns:a="http://schemas.openxmlformats.org/drawingml/2006/main">
            <a:srgbClr val="F2EBFF"/>
          </a:solidFill>
          <a:ln xmlns:a="http://schemas.openxmlformats.org/drawingml/2006/main" w="10478">
            <a:solidFill>
              <a:srgbClr val="B48EFF"/>
            </a:solidFill>
            <a:prstDash val="dash"/>
          </a:ln>
        </p:spPr>
      </p:sp>
      <p:sp>
        <p:nvSpPr>
          <p:cNvPr id="1100" name="Shadow classifier heading">
            <a:extLst xmlns:a="http://schemas.openxmlformats.org/drawingml/2006/main">
              <a:ext uri="{FF2B5EF4-FFF2-40B4-BE49-F238E27FC236}">
                <a16:creationId xmlns:a16="http://schemas.microsoft.com/office/drawing/2014/main" id="{5378C377-991E-4B66-8046-14809E3C0B52}"/>
              </a:ext>
            </a:extLst>
          </p:cNvPr>
          <p:cNvSpPr>
            <a:spLocks xmlns:a="http://schemas.openxmlformats.org/drawingml/2006/main" noGrp="1"/>
          </p:cNvSpPr>
          <p:nvPr/>
        </p:nvSpPr>
        <p:spPr>
          <a:xfrm xmlns:a="http://schemas.openxmlformats.org/drawingml/2006/main">
            <a:off x="7505700" y="290512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63" b="1">
                <a:solidFill>
                  <a:srgbClr val="073DD0"/>
                </a:solidFill>
                <a:latin typeface="Arial"/>
                <a:ea typeface="Arial"/>
                <a:cs typeface="Arial"/>
              </a:defRPr>
            </a:pPr>
            <a:r>
              <a:rPr sz="1163" b="1">
                <a:solidFill>
                  <a:srgbClr val="073DD0"/>
                </a:solidFill>
                <a:latin typeface="Arial"/>
                <a:ea typeface="Arial"/>
                <a:cs typeface="Arial"/>
              </a:rPr>
              <a:t>Decision classifier*</a:t>
            </a:r>
          </a:p>
        </p:txBody>
      </p:sp>
      <p:sp>
        <p:nvSpPr>
          <p:cNvPr id="1101" name="Shadow classifier detail">
            <a:extLst xmlns:a="http://schemas.openxmlformats.org/drawingml/2006/main">
              <a:ext uri="{FF2B5EF4-FFF2-40B4-BE49-F238E27FC236}">
                <a16:creationId xmlns:a16="http://schemas.microsoft.com/office/drawing/2014/main" id="{14B2082C-DF01-4D69-822F-241D38FF9441}"/>
              </a:ext>
            </a:extLst>
          </p:cNvPr>
          <p:cNvSpPr>
            <a:spLocks xmlns:a="http://schemas.openxmlformats.org/drawingml/2006/main" noGrp="1"/>
          </p:cNvSpPr>
          <p:nvPr/>
        </p:nvSpPr>
        <p:spPr>
          <a:xfrm xmlns:a="http://schemas.openxmlformats.org/drawingml/2006/main">
            <a:off x="7505700" y="3133725"/>
            <a:ext cx="1581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38" b="0">
                <a:solidFill>
                  <a:srgbClr val="244461"/>
                </a:solidFill>
                <a:latin typeface="Arial"/>
                <a:ea typeface="Arial"/>
                <a:cs typeface="Arial"/>
              </a:defRPr>
            </a:pPr>
            <a:r>
              <a:rPr sz="938" b="0">
                <a:solidFill>
                  <a:srgbClr val="244461"/>
                </a:solidFill>
                <a:latin typeface="Arial"/>
                <a:ea typeface="Arial"/>
                <a:cs typeface="Arial"/>
              </a:rPr>
              <a:t>Shadow hypothesis only</a:t>
            </a:r>
          </a:p>
          <a:p xmlns:a="http://schemas.openxmlformats.org/drawingml/2006/main">
            <a:pPr algn="l">
              <a:buNone/>
              <a:defRPr sz="938" b="0">
                <a:solidFill>
                  <a:srgbClr val="244461"/>
                </a:solidFill>
                <a:latin typeface="Arial"/>
                <a:ea typeface="Arial"/>
                <a:cs typeface="Arial"/>
              </a:defRPr>
            </a:pPr>
            <a:r>
              <a:rPr sz="938" b="0">
                <a:solidFill>
                  <a:srgbClr val="244461"/>
                </a:solidFill>
                <a:latin typeface="Arial"/>
                <a:ea typeface="Arial"/>
                <a:cs typeface="Arial"/>
              </a:rPr>
              <a:t>No public alert authority</a:t>
            </a:r>
          </a:p>
        </p:txBody>
      </p:sp>
      <p:sp>
        <p:nvSpPr>
          <p:cNvPr id="1102" name="Learning loop label">
            <a:extLst xmlns:a="http://schemas.openxmlformats.org/drawingml/2006/main">
              <a:ext uri="{FF2B5EF4-FFF2-40B4-BE49-F238E27FC236}">
                <a16:creationId xmlns:a16="http://schemas.microsoft.com/office/drawing/2014/main" id="{902F180E-C101-4CB3-8CE7-02D1144213DC}"/>
              </a:ext>
            </a:extLst>
          </p:cNvPr>
          <p:cNvSpPr>
            <a:spLocks xmlns:a="http://schemas.openxmlformats.org/drawingml/2006/main" noGrp="1"/>
          </p:cNvSpPr>
          <p:nvPr/>
        </p:nvSpPr>
        <p:spPr>
          <a:xfrm xmlns:a="http://schemas.openxmlformats.org/drawingml/2006/main">
            <a:off x="2543175" y="4610100"/>
            <a:ext cx="4095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38" b="1">
                <a:solidFill>
                  <a:srgbClr val="174C7C"/>
                </a:solidFill>
                <a:latin typeface="Arial"/>
                <a:ea typeface="Arial"/>
                <a:cs typeface="Arial"/>
              </a:defRPr>
            </a:pPr>
            <a:r>
              <a:rPr sz="1238" b="1">
                <a:solidFill>
                  <a:srgbClr val="174C7C"/>
                </a:solidFill>
                <a:latin typeface="Arial"/>
                <a:ea typeface="Arial"/>
                <a:cs typeface="Arial"/>
              </a:rPr>
              <a:t>REVIEWED LEARNING</a:t>
            </a:r>
          </a:p>
        </p:txBody>
      </p:sp>
      <p:sp>
        <p:nvSpPr>
          <p:cNvPr id="1103" name="Matched corpus">
            <a:extLst xmlns:a="http://schemas.openxmlformats.org/drawingml/2006/main">
              <a:ext uri="{FF2B5EF4-FFF2-40B4-BE49-F238E27FC236}">
                <a16:creationId xmlns:a16="http://schemas.microsoft.com/office/drawing/2014/main" id="{96C6D1C3-63F6-40A1-A15C-AEF7D1338857}"/>
              </a:ext>
            </a:extLst>
          </p:cNvPr>
          <p:cNvSpPr>
            <a:spLocks xmlns:a="http://schemas.openxmlformats.org/drawingml/2006/main" noGrp="1"/>
          </p:cNvSpPr>
          <p:nvPr/>
        </p:nvSpPr>
        <p:spPr>
          <a:xfrm xmlns:a="http://schemas.openxmlformats.org/drawingml/2006/main">
            <a:off x="238125" y="4905375"/>
            <a:ext cx="1905000" cy="866775"/>
          </a:xfrm>
          <a:prstGeom xmlns:a="http://schemas.openxmlformats.org/drawingml/2006/main" prst="can">
            <a:avLst/>
          </a:prstGeom>
          <a:solidFill xmlns:a="http://schemas.openxmlformats.org/drawingml/2006/main">
            <a:srgbClr val="EAFBFE"/>
          </a:solidFill>
          <a:ln xmlns:a="http://schemas.openxmlformats.org/drawingml/2006/main" w="10478">
            <a:solidFill>
              <a:srgbClr val="00A5C8"/>
            </a:solidFill>
            <a:prstDash val="solid"/>
          </a:ln>
        </p:spPr>
      </p:sp>
      <p:sp>
        <p:nvSpPr>
          <p:cNvPr id="1104" name="Matched corpus heading">
            <a:extLst xmlns:a="http://schemas.openxmlformats.org/drawingml/2006/main">
              <a:ext uri="{FF2B5EF4-FFF2-40B4-BE49-F238E27FC236}">
                <a16:creationId xmlns:a16="http://schemas.microsoft.com/office/drawing/2014/main" id="{BE16343B-FE3B-49F6-8EA9-37615225DD20}"/>
              </a:ext>
            </a:extLst>
          </p:cNvPr>
          <p:cNvSpPr>
            <a:spLocks xmlns:a="http://schemas.openxmlformats.org/drawingml/2006/main" noGrp="1"/>
          </p:cNvSpPr>
          <p:nvPr/>
        </p:nvSpPr>
        <p:spPr>
          <a:xfrm xmlns:a="http://schemas.openxmlformats.org/drawingml/2006/main">
            <a:off x="333375" y="507682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073DD0"/>
                </a:solidFill>
                <a:latin typeface="Arial"/>
                <a:ea typeface="Arial"/>
                <a:cs typeface="Arial"/>
              </a:defRPr>
            </a:pPr>
            <a:r>
              <a:rPr sz="1200" b="1">
                <a:solidFill>
                  <a:srgbClr val="073DD0"/>
                </a:solidFill>
                <a:latin typeface="Arial"/>
                <a:ea typeface="Arial"/>
                <a:cs typeface="Arial"/>
              </a:rPr>
              <a:t>Matched storm events</a:t>
            </a:r>
          </a:p>
        </p:txBody>
      </p:sp>
      <p:sp>
        <p:nvSpPr>
          <p:cNvPr id="1105" name="Matched corpus detail">
            <a:extLst xmlns:a="http://schemas.openxmlformats.org/drawingml/2006/main">
              <a:ext uri="{FF2B5EF4-FFF2-40B4-BE49-F238E27FC236}">
                <a16:creationId xmlns:a16="http://schemas.microsoft.com/office/drawing/2014/main" id="{DE8D0DA0-E4BA-4598-9BA0-B06638E725EA}"/>
              </a:ext>
            </a:extLst>
          </p:cNvPr>
          <p:cNvSpPr>
            <a:spLocks xmlns:a="http://schemas.openxmlformats.org/drawingml/2006/main" noGrp="1"/>
          </p:cNvSpPr>
          <p:nvPr/>
        </p:nvSpPr>
        <p:spPr>
          <a:xfrm xmlns:a="http://schemas.openxmlformats.org/drawingml/2006/main">
            <a:off x="333375" y="5343525"/>
            <a:ext cx="1714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13" b="0">
                <a:solidFill>
                  <a:srgbClr val="244461"/>
                </a:solidFill>
                <a:latin typeface="Arial"/>
                <a:ea typeface="Arial"/>
                <a:cs typeface="Arial"/>
              </a:defRPr>
            </a:pPr>
            <a:r>
              <a:rPr sz="1013" b="0">
                <a:solidFill>
                  <a:srgbClr val="244461"/>
                </a:solidFill>
                <a:latin typeface="Arial"/>
                <a:ea typeface="Arial"/>
                <a:cs typeface="Arial"/>
              </a:rPr>
              <a:t>Freeze train / validation /</a:t>
            </a:r>
          </a:p>
          <a:p xmlns:a="http://schemas.openxmlformats.org/drawingml/2006/main">
            <a:pPr algn="ctr">
              <a:buNone/>
              <a:defRPr sz="1013" b="0">
                <a:solidFill>
                  <a:srgbClr val="244461"/>
                </a:solidFill>
                <a:latin typeface="Arial"/>
                <a:ea typeface="Arial"/>
                <a:cs typeface="Arial"/>
              </a:defRPr>
            </a:pPr>
            <a:r>
              <a:rPr sz="1013" b="0">
                <a:solidFill>
                  <a:srgbClr val="244461"/>
                </a:solidFill>
                <a:latin typeface="Arial"/>
                <a:ea typeface="Arial"/>
                <a:cs typeface="Arial"/>
              </a:rPr>
              <a:t>calibration / test partitions</a:t>
            </a:r>
          </a:p>
        </p:txBody>
      </p:sp>
      <p:sp>
        <p:nvSpPr>
          <p:cNvPr id="1106" name="Candidate training">
            <a:extLst xmlns:a="http://schemas.openxmlformats.org/drawingml/2006/main">
              <a:ext uri="{FF2B5EF4-FFF2-40B4-BE49-F238E27FC236}">
                <a16:creationId xmlns:a16="http://schemas.microsoft.com/office/drawing/2014/main" id="{D78F1565-F1BF-49AB-B369-085333420C25}"/>
              </a:ext>
            </a:extLst>
          </p:cNvPr>
          <p:cNvSpPr>
            <a:spLocks xmlns:a="http://schemas.openxmlformats.org/drawingml/2006/main" noGrp="1"/>
          </p:cNvSpPr>
          <p:nvPr/>
        </p:nvSpPr>
        <p:spPr>
          <a:xfrm xmlns:a="http://schemas.openxmlformats.org/drawingml/2006/main">
            <a:off x="2543175" y="4905375"/>
            <a:ext cx="2085975" cy="895350"/>
          </a:xfrm>
          <a:prstGeom xmlns:a="http://schemas.openxmlformats.org/drawingml/2006/main" prst="roundRect">
            <a:avLst>
              <a:gd name="adj" fmla="val 8511"/>
            </a:avLst>
          </a:prstGeom>
          <a:solidFill xmlns:a="http://schemas.openxmlformats.org/drawingml/2006/main">
            <a:srgbClr val="FFF5E5"/>
          </a:solidFill>
          <a:ln xmlns:a="http://schemas.openxmlformats.org/drawingml/2006/main" w="10478">
            <a:solidFill>
              <a:srgbClr val="EEA03B"/>
            </a:solidFill>
            <a:prstDash val="solid"/>
          </a:ln>
        </p:spPr>
      </p:sp>
      <p:sp>
        <p:nvSpPr>
          <p:cNvPr id="1107" name="Candidate training heading">
            <a:extLst xmlns:a="http://schemas.openxmlformats.org/drawingml/2006/main">
              <a:ext uri="{FF2B5EF4-FFF2-40B4-BE49-F238E27FC236}">
                <a16:creationId xmlns:a16="http://schemas.microsoft.com/office/drawing/2014/main" id="{7AEBAFE2-6254-4FBC-9FDC-6EE59CC06059}"/>
              </a:ext>
            </a:extLst>
          </p:cNvPr>
          <p:cNvSpPr>
            <a:spLocks xmlns:a="http://schemas.openxmlformats.org/drawingml/2006/main" noGrp="1"/>
          </p:cNvSpPr>
          <p:nvPr/>
        </p:nvSpPr>
        <p:spPr>
          <a:xfrm xmlns:a="http://schemas.openxmlformats.org/drawingml/2006/main">
            <a:off x="2638425" y="5000625"/>
            <a:ext cx="1895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073DD0"/>
                </a:solidFill>
                <a:latin typeface="Arial"/>
                <a:ea typeface="Arial"/>
                <a:cs typeface="Arial"/>
              </a:defRPr>
            </a:pPr>
            <a:r>
              <a:rPr sz="1275" b="1">
                <a:solidFill>
                  <a:srgbClr val="073DD0"/>
                </a:solidFill>
                <a:latin typeface="Arial"/>
                <a:ea typeface="Arial"/>
                <a:cs typeface="Arial"/>
              </a:rPr>
              <a:t>Train + recalibrate</a:t>
            </a:r>
          </a:p>
        </p:txBody>
      </p:sp>
      <p:sp>
        <p:nvSpPr>
          <p:cNvPr id="1108" name="Candidate training detail">
            <a:extLst xmlns:a="http://schemas.openxmlformats.org/drawingml/2006/main">
              <a:ext uri="{FF2B5EF4-FFF2-40B4-BE49-F238E27FC236}">
                <a16:creationId xmlns:a16="http://schemas.microsoft.com/office/drawing/2014/main" id="{B8A0DF70-FA5A-4980-AB9A-6EA73E2D3857}"/>
              </a:ext>
            </a:extLst>
          </p:cNvPr>
          <p:cNvSpPr>
            <a:spLocks xmlns:a="http://schemas.openxmlformats.org/drawingml/2006/main" noGrp="1"/>
          </p:cNvSpPr>
          <p:nvPr/>
        </p:nvSpPr>
        <p:spPr>
          <a:xfrm xmlns:a="http://schemas.openxmlformats.org/drawingml/2006/main">
            <a:off x="2638425" y="5267325"/>
            <a:ext cx="18954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Bounded offline worker</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Monsoon + seasonal Z-R</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Train candidate checkpoints</a:t>
            </a:r>
          </a:p>
        </p:txBody>
      </p:sp>
      <p:sp>
        <p:nvSpPr>
          <p:cNvPr id="1109" name="Independent evaluation">
            <a:extLst xmlns:a="http://schemas.openxmlformats.org/drawingml/2006/main">
              <a:ext uri="{FF2B5EF4-FFF2-40B4-BE49-F238E27FC236}">
                <a16:creationId xmlns:a16="http://schemas.microsoft.com/office/drawing/2014/main" id="{B6BB7E76-658C-4BBE-8434-B1FBC0056AD7}"/>
              </a:ext>
            </a:extLst>
          </p:cNvPr>
          <p:cNvSpPr>
            <a:spLocks xmlns:a="http://schemas.openxmlformats.org/drawingml/2006/main" noGrp="1"/>
          </p:cNvSpPr>
          <p:nvPr/>
        </p:nvSpPr>
        <p:spPr>
          <a:xfrm xmlns:a="http://schemas.openxmlformats.org/drawingml/2006/main">
            <a:off x="4991100" y="4905375"/>
            <a:ext cx="2152650" cy="895350"/>
          </a:xfrm>
          <a:prstGeom xmlns:a="http://schemas.openxmlformats.org/drawingml/2006/main" prst="roundRect">
            <a:avLst>
              <a:gd name="adj" fmla="val 8511"/>
            </a:avLst>
          </a:prstGeom>
          <a:solidFill xmlns:a="http://schemas.openxmlformats.org/drawingml/2006/main">
            <a:srgbClr val="FFF5E5"/>
          </a:solidFill>
          <a:ln xmlns:a="http://schemas.openxmlformats.org/drawingml/2006/main" w="10478">
            <a:solidFill>
              <a:srgbClr val="EEA03B"/>
            </a:solidFill>
            <a:prstDash val="solid"/>
          </a:ln>
        </p:spPr>
      </p:sp>
      <p:sp>
        <p:nvSpPr>
          <p:cNvPr id="1110" name="Independent evaluation heading">
            <a:extLst xmlns:a="http://schemas.openxmlformats.org/drawingml/2006/main">
              <a:ext uri="{FF2B5EF4-FFF2-40B4-BE49-F238E27FC236}">
                <a16:creationId xmlns:a16="http://schemas.microsoft.com/office/drawing/2014/main" id="{6B987155-DCF5-4A64-853E-7A8D2FBD213E}"/>
              </a:ext>
            </a:extLst>
          </p:cNvPr>
          <p:cNvSpPr>
            <a:spLocks xmlns:a="http://schemas.openxmlformats.org/drawingml/2006/main" noGrp="1"/>
          </p:cNvSpPr>
          <p:nvPr/>
        </p:nvSpPr>
        <p:spPr>
          <a:xfrm xmlns:a="http://schemas.openxmlformats.org/drawingml/2006/main">
            <a:off x="5086350" y="5000625"/>
            <a:ext cx="1962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15" b="1">
                <a:solidFill>
                  <a:srgbClr val="073DD0"/>
                </a:solidFill>
                <a:latin typeface="Arial"/>
                <a:ea typeface="Arial"/>
                <a:cs typeface="Arial"/>
              </a:defRPr>
            </a:pPr>
            <a:r>
              <a:rPr sz="1215" b="1">
                <a:solidFill>
                  <a:srgbClr val="073DD0"/>
                </a:solidFill>
                <a:latin typeface="Arial"/>
                <a:ea typeface="Arial"/>
                <a:cs typeface="Arial"/>
              </a:rPr>
              <a:t>Independent verification</a:t>
            </a:r>
          </a:p>
        </p:txBody>
      </p:sp>
      <p:sp>
        <p:nvSpPr>
          <p:cNvPr id="1111" name="Independent evaluation detail">
            <a:extLst xmlns:a="http://schemas.openxmlformats.org/drawingml/2006/main">
              <a:ext uri="{FF2B5EF4-FFF2-40B4-BE49-F238E27FC236}">
                <a16:creationId xmlns:a16="http://schemas.microsoft.com/office/drawing/2014/main" id="{710FBDF7-DA72-4305-9BDF-E4A5477F592C}"/>
              </a:ext>
            </a:extLst>
          </p:cNvPr>
          <p:cNvSpPr>
            <a:spLocks xmlns:a="http://schemas.openxmlformats.org/drawingml/2006/main" noGrp="1"/>
          </p:cNvSpPr>
          <p:nvPr/>
        </p:nvSpPr>
        <p:spPr>
          <a:xfrm xmlns:a="http://schemas.openxmlformats.org/drawingml/2006/main">
            <a:off x="5086350" y="5267325"/>
            <a:ext cx="1962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POD / FAR / CSI / Brier</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Baseline + same-case tests</a:t>
            </a:r>
          </a:p>
          <a:p xmlns:a="http://schemas.openxmlformats.org/drawingml/2006/main">
            <a:pPr algn="l">
              <a:buNone/>
              <a:defRPr sz="1058" b="0">
                <a:solidFill>
                  <a:srgbClr val="244461"/>
                </a:solidFill>
                <a:latin typeface="Arial"/>
                <a:ea typeface="Arial"/>
                <a:cs typeface="Arial"/>
              </a:defRPr>
            </a:pPr>
            <a:r>
              <a:rPr sz="1058" b="0">
                <a:solidFill>
                  <a:srgbClr val="244461"/>
                </a:solidFill>
                <a:latin typeface="Arial"/>
                <a:ea typeface="Arial"/>
                <a:cs typeface="Arial"/>
              </a:rPr>
              <a:t>Reliability + useful lead time</a:t>
            </a:r>
          </a:p>
        </p:txBody>
      </p:sp>
      <p:sp>
        <p:nvSpPr>
          <p:cNvPr id="1112" name="Model promotion">
            <a:extLst xmlns:a="http://schemas.openxmlformats.org/drawingml/2006/main">
              <a:ext uri="{FF2B5EF4-FFF2-40B4-BE49-F238E27FC236}">
                <a16:creationId xmlns:a16="http://schemas.microsoft.com/office/drawing/2014/main" id="{993C36CC-FAA8-4DD7-80AF-3EB03E300D4D}"/>
              </a:ext>
            </a:extLst>
          </p:cNvPr>
          <p:cNvSpPr>
            <a:spLocks xmlns:a="http://schemas.openxmlformats.org/drawingml/2006/main" noGrp="1"/>
          </p:cNvSpPr>
          <p:nvPr/>
        </p:nvSpPr>
        <p:spPr>
          <a:xfrm xmlns:a="http://schemas.openxmlformats.org/drawingml/2006/main">
            <a:off x="7562850" y="4905375"/>
            <a:ext cx="1619250" cy="895350"/>
          </a:xfrm>
          <a:prstGeom xmlns:a="http://schemas.openxmlformats.org/drawingml/2006/main" prst="roundRect">
            <a:avLst>
              <a:gd name="adj" fmla="val 8511"/>
            </a:avLst>
          </a:prstGeom>
          <a:solidFill xmlns:a="http://schemas.openxmlformats.org/drawingml/2006/main">
            <a:srgbClr val="EDFAF2"/>
          </a:solidFill>
          <a:ln xmlns:a="http://schemas.openxmlformats.org/drawingml/2006/main" w="10478">
            <a:solidFill>
              <a:srgbClr val="08A65B"/>
            </a:solidFill>
            <a:prstDash val="solid"/>
          </a:ln>
        </p:spPr>
      </p:sp>
      <p:sp>
        <p:nvSpPr>
          <p:cNvPr id="1113" name="Model promotion heading">
            <a:extLst xmlns:a="http://schemas.openxmlformats.org/drawingml/2006/main">
              <a:ext uri="{FF2B5EF4-FFF2-40B4-BE49-F238E27FC236}">
                <a16:creationId xmlns:a16="http://schemas.microsoft.com/office/drawing/2014/main" id="{8FBF4E31-48D2-4E1C-9A29-EDFDE01FC57B}"/>
              </a:ext>
            </a:extLst>
          </p:cNvPr>
          <p:cNvSpPr>
            <a:spLocks xmlns:a="http://schemas.openxmlformats.org/drawingml/2006/main" noGrp="1"/>
          </p:cNvSpPr>
          <p:nvPr/>
        </p:nvSpPr>
        <p:spPr>
          <a:xfrm xmlns:a="http://schemas.openxmlformats.org/drawingml/2006/main">
            <a:off x="7658100" y="5000625"/>
            <a:ext cx="1428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1">
                <a:solidFill>
                  <a:srgbClr val="073DD0"/>
                </a:solidFill>
                <a:latin typeface="Arial"/>
                <a:ea typeface="Arial"/>
                <a:cs typeface="Arial"/>
              </a:defRPr>
            </a:pPr>
            <a:r>
              <a:rPr sz="1200" b="1">
                <a:solidFill>
                  <a:srgbClr val="073DD0"/>
                </a:solidFill>
                <a:latin typeface="Arial"/>
                <a:ea typeface="Arial"/>
                <a:cs typeface="Arial"/>
              </a:rPr>
              <a:t>Review candidate</a:t>
            </a:r>
          </a:p>
        </p:txBody>
      </p:sp>
      <p:sp>
        <p:nvSpPr>
          <p:cNvPr id="1114" name="Model promotion detail">
            <a:extLst xmlns:a="http://schemas.openxmlformats.org/drawingml/2006/main">
              <a:ext uri="{FF2B5EF4-FFF2-40B4-BE49-F238E27FC236}">
                <a16:creationId xmlns:a16="http://schemas.microsoft.com/office/drawing/2014/main" id="{C8BCD0BB-0A71-4F81-9F4E-100CFA057F2F}"/>
              </a:ext>
            </a:extLst>
          </p:cNvPr>
          <p:cNvSpPr>
            <a:spLocks xmlns:a="http://schemas.openxmlformats.org/drawingml/2006/main" noGrp="1"/>
          </p:cNvSpPr>
          <p:nvPr/>
        </p:nvSpPr>
        <p:spPr>
          <a:xfrm xmlns:a="http://schemas.openxmlformats.org/drawingml/2006/main">
            <a:off x="7658100" y="5267325"/>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028" b="0">
                <a:solidFill>
                  <a:srgbClr val="244461"/>
                </a:solidFill>
                <a:latin typeface="Arial"/>
                <a:ea typeface="Arial"/>
                <a:cs typeface="Arial"/>
              </a:defRPr>
            </a:pPr>
            <a:r>
              <a:rPr sz="1028" b="0">
                <a:solidFill>
                  <a:srgbClr val="244461"/>
                </a:solidFill>
                <a:latin typeface="Arial"/>
                <a:ea typeface="Arial"/>
                <a:cs typeface="Arial"/>
              </a:rPr>
              <a:t>Promote or retain</a:t>
            </a:r>
          </a:p>
          <a:p xmlns:a="http://schemas.openxmlformats.org/drawingml/2006/main">
            <a:pPr algn="l">
              <a:buNone/>
              <a:defRPr sz="1028" b="0">
                <a:solidFill>
                  <a:srgbClr val="244461"/>
                </a:solidFill>
                <a:latin typeface="Arial"/>
                <a:ea typeface="Arial"/>
                <a:cs typeface="Arial"/>
              </a:defRPr>
            </a:pPr>
            <a:r>
              <a:rPr sz="1028" b="0">
                <a:solidFill>
                  <a:srgbClr val="244461"/>
                </a:solidFill>
                <a:latin typeface="Arial"/>
                <a:ea typeface="Arial"/>
                <a:cs typeface="Arial"/>
              </a:rPr>
              <a:t>Versioned checkpoint</a:t>
            </a:r>
          </a:p>
          <a:p xmlns:a="http://schemas.openxmlformats.org/drawingml/2006/main">
            <a:pPr algn="l">
              <a:buNone/>
              <a:defRPr sz="1028" b="0">
                <a:solidFill>
                  <a:srgbClr val="244461"/>
                </a:solidFill>
                <a:latin typeface="Arial"/>
                <a:ea typeface="Arial"/>
                <a:cs typeface="Arial"/>
              </a:defRPr>
            </a:pPr>
            <a:r>
              <a:rPr sz="1028" b="0">
                <a:solidFill>
                  <a:srgbClr val="244461"/>
                </a:solidFill>
                <a:latin typeface="Arial"/>
                <a:ea typeface="Arial"/>
                <a:cs typeface="Arial"/>
              </a:rPr>
              <a:t>No automatic release</a:t>
            </a:r>
          </a:p>
        </p:txBody>
      </p:sp>
      <p:sp>
        <p:nvSpPr>
          <p:cNvPr id="1115" name="Public scorecard">
            <a:extLst xmlns:a="http://schemas.openxmlformats.org/drawingml/2006/main">
              <a:ext uri="{FF2B5EF4-FFF2-40B4-BE49-F238E27FC236}">
                <a16:creationId xmlns:a16="http://schemas.microsoft.com/office/drawing/2014/main" id="{B69C135D-17C3-434C-B66D-B707036E19EE}"/>
              </a:ext>
            </a:extLst>
          </p:cNvPr>
          <p:cNvSpPr>
            <a:spLocks xmlns:a="http://schemas.openxmlformats.org/drawingml/2006/main" noGrp="1"/>
          </p:cNvSpPr>
          <p:nvPr/>
        </p:nvSpPr>
        <p:spPr>
          <a:xfrm xmlns:a="http://schemas.openxmlformats.org/drawingml/2006/main">
            <a:off x="9505950" y="5219700"/>
            <a:ext cx="2324100" cy="552450"/>
          </a:xfrm>
          <a:prstGeom xmlns:a="http://schemas.openxmlformats.org/drawingml/2006/main" prst="roundRect">
            <a:avLst>
              <a:gd name="adj" fmla="val 13793"/>
            </a:avLst>
          </a:prstGeom>
          <a:solidFill xmlns:a="http://schemas.openxmlformats.org/drawingml/2006/main">
            <a:srgbClr val="EFF7FF"/>
          </a:solidFill>
          <a:ln xmlns:a="http://schemas.openxmlformats.org/drawingml/2006/main" w="10478">
            <a:solidFill>
              <a:srgbClr val="6AA8DB"/>
            </a:solidFill>
            <a:prstDash val="solid"/>
          </a:ln>
        </p:spPr>
      </p:sp>
      <p:sp>
        <p:nvSpPr>
          <p:cNvPr id="1116" name="Public scorecard heading">
            <a:extLst xmlns:a="http://schemas.openxmlformats.org/drawingml/2006/main">
              <a:ext uri="{FF2B5EF4-FFF2-40B4-BE49-F238E27FC236}">
                <a16:creationId xmlns:a16="http://schemas.microsoft.com/office/drawing/2014/main" id="{42D94115-558C-442D-934A-8637B8942A30}"/>
              </a:ext>
            </a:extLst>
          </p:cNvPr>
          <p:cNvSpPr>
            <a:spLocks xmlns:a="http://schemas.openxmlformats.org/drawingml/2006/main" noGrp="1"/>
          </p:cNvSpPr>
          <p:nvPr/>
        </p:nvSpPr>
        <p:spPr>
          <a:xfrm xmlns:a="http://schemas.openxmlformats.org/drawingml/2006/main">
            <a:off x="9601200" y="5267325"/>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63" b="1">
                <a:solidFill>
                  <a:srgbClr val="073DD0"/>
                </a:solidFill>
                <a:latin typeface="Arial"/>
                <a:ea typeface="Arial"/>
                <a:cs typeface="Arial"/>
              </a:defRPr>
            </a:pPr>
            <a:r>
              <a:rPr sz="1163" b="1">
                <a:solidFill>
                  <a:srgbClr val="073DD0"/>
                </a:solidFill>
                <a:latin typeface="Arial"/>
                <a:ea typeface="Arial"/>
                <a:cs typeface="Arial"/>
              </a:rPr>
              <a:t>Monthly scorecard*</a:t>
            </a:r>
          </a:p>
        </p:txBody>
      </p:sp>
      <p:sp>
        <p:nvSpPr>
          <p:cNvPr id="1117" name="Public scorecard detail">
            <a:extLst xmlns:a="http://schemas.openxmlformats.org/drawingml/2006/main">
              <a:ext uri="{FF2B5EF4-FFF2-40B4-BE49-F238E27FC236}">
                <a16:creationId xmlns:a16="http://schemas.microsoft.com/office/drawing/2014/main" id="{AE2AA55A-F3FD-41D0-AFDD-DCDF9CEB75AB}"/>
              </a:ext>
            </a:extLst>
          </p:cNvPr>
          <p:cNvSpPr>
            <a:spLocks xmlns:a="http://schemas.openxmlformats.org/drawingml/2006/main" noGrp="1"/>
          </p:cNvSpPr>
          <p:nvPr/>
        </p:nvSpPr>
        <p:spPr>
          <a:xfrm xmlns:a="http://schemas.openxmlformats.org/drawingml/2006/main">
            <a:off x="9601200" y="5495925"/>
            <a:ext cx="2133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45" b="0">
                <a:solidFill>
                  <a:srgbClr val="244461"/>
                </a:solidFill>
                <a:latin typeface="Arial"/>
                <a:ea typeface="Arial"/>
                <a:cs typeface="Arial"/>
              </a:defRPr>
            </a:pPr>
            <a:r>
              <a:rPr sz="945" b="0">
                <a:solidFill>
                  <a:srgbClr val="244461"/>
                </a:solidFill>
                <a:latin typeface="Arial"/>
                <a:ea typeface="Arial"/>
                <a:cs typeface="Arial"/>
              </a:rPr>
              <a:t>Matched cases / reliability / data gaps</a:t>
            </a:r>
          </a:p>
        </p:txBody>
      </p:sp>
      <p:sp>
        <p:nvSpPr>
          <p:cNvPr id="1118" name="Architecture status">
            <a:extLst xmlns:a="http://schemas.openxmlformats.org/drawingml/2006/main">
              <a:ext uri="{FF2B5EF4-FFF2-40B4-BE49-F238E27FC236}">
                <a16:creationId xmlns:a16="http://schemas.microsoft.com/office/drawing/2014/main" id="{3CB58EF2-2D57-4A61-ACD5-596C5C28E794}"/>
              </a:ext>
            </a:extLst>
          </p:cNvPr>
          <p:cNvSpPr>
            <a:spLocks xmlns:a="http://schemas.openxmlformats.org/drawingml/2006/main" noGrp="1"/>
          </p:cNvSpPr>
          <p:nvPr/>
        </p:nvSpPr>
        <p:spPr>
          <a:xfrm xmlns:a="http://schemas.openxmlformats.org/drawingml/2006/main">
            <a:off x="238125" y="6038850"/>
            <a:ext cx="11601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90" b="0">
                <a:solidFill>
                  <a:srgbClr val="96352F"/>
                </a:solidFill>
                <a:latin typeface="Arial"/>
                <a:ea typeface="Arial"/>
                <a:cs typeface="Arial"/>
              </a:defRPr>
            </a:pPr>
            <a:r>
              <a:rPr sz="990" b="0">
                <a:solidFill>
                  <a:srgbClr val="96352F"/>
                </a:solidFill>
                <a:latin typeface="Arial"/>
                <a:ea typeface="Arial"/>
                <a:cs typeface="Arial"/>
              </a:rPr>
              <a:t>Research modules exist. Live NCR integration and * capabilities are proposed. Public model alerts remain disabled.</a:t>
            </a:r>
          </a:p>
        </p:txBody>
      </p:sp>
      <p:sp>
        <p:nvSpPr>
          <p:cNvPr id="1119" name="Architecture stack">
            <a:extLst xmlns:a="http://schemas.openxmlformats.org/drawingml/2006/main">
              <a:ext uri="{FF2B5EF4-FFF2-40B4-BE49-F238E27FC236}">
                <a16:creationId xmlns:a16="http://schemas.microsoft.com/office/drawing/2014/main" id="{DB703642-7F5D-4048-BEC1-740E144ACF40}"/>
              </a:ext>
            </a:extLst>
          </p:cNvPr>
          <p:cNvSpPr>
            <a:spLocks xmlns:a="http://schemas.openxmlformats.org/drawingml/2006/main" noGrp="1"/>
          </p:cNvSpPr>
          <p:nvPr/>
        </p:nvSpPr>
        <p:spPr>
          <a:xfrm xmlns:a="http://schemas.openxmlformats.org/drawingml/2006/main">
            <a:off x="238125" y="6200775"/>
            <a:ext cx="1160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78" b="0">
                <a:solidFill>
                  <a:srgbClr val="536A7E"/>
                </a:solidFill>
                <a:latin typeface="Arial"/>
                <a:ea typeface="Arial"/>
                <a:cs typeface="Arial"/>
              </a:defRPr>
            </a:pPr>
            <a:r>
              <a:rPr sz="878" b="0">
                <a:solidFill>
                  <a:srgbClr val="536A7E"/>
                </a:solidFill>
                <a:latin typeface="Arial"/>
                <a:ea typeface="Arial"/>
                <a:cs typeface="Arial"/>
              </a:rPr>
              <a:t>Python / PyTorch / OpenCV / xarray / FastAPI / React / React Native / SQLite     No LLM required</a:t>
            </a:r>
          </a:p>
        </p:txBody>
      </p:sp>
      <p:sp>
        <p:nvSpPr>
          <p:cNvPr id="1120" name="Officer monitor">
            <a:extLst xmlns:a="http://schemas.openxmlformats.org/drawingml/2006/main">
              <a:ext uri="{FF2B5EF4-FFF2-40B4-BE49-F238E27FC236}">
                <a16:creationId xmlns:a16="http://schemas.microsoft.com/office/drawing/2014/main" id="{2DACAD8E-C68E-49B4-ABE0-0990D873C455}"/>
              </a:ext>
            </a:extLst>
          </p:cNvPr>
          <p:cNvSpPr>
            <a:spLocks xmlns:a="http://schemas.openxmlformats.org/drawingml/2006/main" noGrp="1"/>
          </p:cNvSpPr>
          <p:nvPr/>
        </p:nvSpPr>
        <p:spPr>
          <a:xfrm xmlns:a="http://schemas.openxmlformats.org/drawingml/2006/main">
            <a:off x="11496675" y="1562100"/>
            <a:ext cx="228600" cy="161925"/>
          </a:xfrm>
          <a:prstGeom xmlns:a="http://schemas.openxmlformats.org/drawingml/2006/main" prst="roundRect">
            <a:avLst>
              <a:gd name="adj" fmla="val 47059"/>
            </a:avLst>
          </a:prstGeom>
          <a:solidFill xmlns:a="http://schemas.openxmlformats.org/drawingml/2006/main">
            <a:srgbClr val="DDF3FF"/>
          </a:solidFill>
          <a:ln xmlns:a="http://schemas.openxmlformats.org/drawingml/2006/main" w="10478">
            <a:solidFill>
              <a:srgbClr val="174C7C"/>
            </a:solidFill>
            <a:prstDash val="solid"/>
          </a:ln>
        </p:spPr>
      </p:sp>
      <p:sp>
        <p:nvSpPr>
          <p:cNvPr id="1121" name="Monitor stand">
            <a:extLst xmlns:a="http://schemas.openxmlformats.org/drawingml/2006/main">
              <a:ext uri="{FF2B5EF4-FFF2-40B4-BE49-F238E27FC236}">
                <a16:creationId xmlns:a16="http://schemas.microsoft.com/office/drawing/2014/main" id="{79345D33-1CDD-43DE-A6A6-792B50000998}"/>
              </a:ext>
            </a:extLst>
          </p:cNvPr>
          <p:cNvSpPr>
            <a:spLocks xmlns:a="http://schemas.openxmlformats.org/drawingml/2006/main" noGrp="1"/>
          </p:cNvSpPr>
          <p:nvPr/>
        </p:nvSpPr>
        <p:spPr>
          <a:xfrm xmlns:a="http://schemas.openxmlformats.org/drawingml/2006/main">
            <a:off x="11610975" y="17240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19050">
            <a:solidFill>
              <a:srgbClr val="174C7C"/>
            </a:solidFill>
            <a:prstDash val="solid"/>
          </a:ln>
        </p:spPr>
      </p:sp>
      <p:sp>
        <p:nvSpPr>
          <p:cNvPr id="1122" name="Monitor base">
            <a:extLst xmlns:a="http://schemas.openxmlformats.org/drawingml/2006/main">
              <a:ext uri="{FF2B5EF4-FFF2-40B4-BE49-F238E27FC236}">
                <a16:creationId xmlns:a16="http://schemas.microsoft.com/office/drawing/2014/main" id="{81C0D68F-4748-4E5C-B97D-5DDADAD7DD54}"/>
              </a:ext>
            </a:extLst>
          </p:cNvPr>
          <p:cNvSpPr>
            <a:spLocks xmlns:a="http://schemas.openxmlformats.org/drawingml/2006/main" noGrp="1"/>
          </p:cNvSpPr>
          <p:nvPr/>
        </p:nvSpPr>
        <p:spPr>
          <a:xfrm xmlns:a="http://schemas.openxmlformats.org/drawingml/2006/main">
            <a:off x="11534775" y="1771650"/>
            <a:ext cx="152400" cy="9525"/>
          </a:xfrm>
          <a:custGeom xmlns:a="http://schemas.openxmlformats.org/drawingml/2006/main">
            <a:pathLst>
              <a:path w="152400" h="9525">
                <a:moveTo>
                  <a:pt x="0" y="0"/>
                </a:moveTo>
                <a:lnTo>
                  <a:pt x="152400" y="0"/>
                </a:lnTo>
              </a:path>
            </a:pathLst>
          </a:custGeom>
          <a:noFill xmlns:a="http://schemas.openxmlformats.org/drawingml/2006/main"/>
          <a:ln xmlns:a="http://schemas.openxmlformats.org/drawingml/2006/main" w="19050">
            <a:solidFill>
              <a:srgbClr val="174C7C"/>
            </a:solidFill>
            <a:prstDash val="solid"/>
          </a:ln>
        </p:spPr>
      </p:sp>
      <p:sp>
        <p:nvSpPr>
          <p:cNvPr id="1123" name="Native phone">
            <a:extLst xmlns:a="http://schemas.openxmlformats.org/drawingml/2006/main">
              <a:ext uri="{FF2B5EF4-FFF2-40B4-BE49-F238E27FC236}">
                <a16:creationId xmlns:a16="http://schemas.microsoft.com/office/drawing/2014/main" id="{252C67FE-0857-4FFC-82C8-2BFCE97594A8}"/>
              </a:ext>
            </a:extLst>
          </p:cNvPr>
          <p:cNvSpPr>
            <a:spLocks xmlns:a="http://schemas.openxmlformats.org/drawingml/2006/main" noGrp="1"/>
          </p:cNvSpPr>
          <p:nvPr/>
        </p:nvSpPr>
        <p:spPr>
          <a:xfrm xmlns:a="http://schemas.openxmlformats.org/drawingml/2006/main">
            <a:off x="11553825" y="3733800"/>
            <a:ext cx="152400"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0478">
            <a:solidFill>
              <a:srgbClr val="174C7C"/>
            </a:solidFill>
            <a:prstDash val="solid"/>
          </a:ln>
        </p:spPr>
      </p:sp>
      <p:sp>
        <p:nvSpPr>
          <p:cNvPr id="1124" name="Phone screen">
            <a:extLst xmlns:a="http://schemas.openxmlformats.org/drawingml/2006/main">
              <a:ext uri="{FF2B5EF4-FFF2-40B4-BE49-F238E27FC236}">
                <a16:creationId xmlns:a16="http://schemas.microsoft.com/office/drawing/2014/main" id="{56C011A6-FFD7-4F17-A18F-2848483F8D5C}"/>
              </a:ext>
            </a:extLst>
          </p:cNvPr>
          <p:cNvSpPr>
            <a:spLocks xmlns:a="http://schemas.openxmlformats.org/drawingml/2006/main" noGrp="1"/>
          </p:cNvSpPr>
          <p:nvPr/>
        </p:nvSpPr>
        <p:spPr>
          <a:xfrm xmlns:a="http://schemas.openxmlformats.org/drawingml/2006/main">
            <a:off x="11582400" y="3781425"/>
            <a:ext cx="95250" cy="142875"/>
          </a:xfrm>
          <a:prstGeom xmlns:a="http://schemas.openxmlformats.org/drawingml/2006/main" prst="rect">
            <a:avLst/>
          </a:prstGeom>
          <a:solidFill xmlns:a="http://schemas.openxmlformats.org/drawingml/2006/main">
            <a:srgbClr val="DDF3FF"/>
          </a:solidFill>
          <a:ln xmlns:a="http://schemas.openxmlformats.org/drawingml/2006/main" w="0">
            <a:noFill/>
            <a:prstDash val="solid"/>
          </a:ln>
        </p:spPr>
      </p:sp>
      <p:sp>
        <p:nvSpPr>
          <p:cNvPr id="1125" name="Phone button">
            <a:extLst xmlns:a="http://schemas.openxmlformats.org/drawingml/2006/main">
              <a:ext uri="{FF2B5EF4-FFF2-40B4-BE49-F238E27FC236}">
                <a16:creationId xmlns:a16="http://schemas.microsoft.com/office/drawing/2014/main" id="{F4BD30B3-F973-4958-8E4E-67ADA3F495BC}"/>
              </a:ext>
            </a:extLst>
          </p:cNvPr>
          <p:cNvSpPr>
            <a:spLocks xmlns:a="http://schemas.openxmlformats.org/drawingml/2006/main" noGrp="1"/>
          </p:cNvSpPr>
          <p:nvPr/>
        </p:nvSpPr>
        <p:spPr>
          <a:xfrm xmlns:a="http://schemas.openxmlformats.org/drawingml/2006/main">
            <a:off x="11620500" y="3943350"/>
            <a:ext cx="19050" cy="19050"/>
          </a:xfrm>
          <a:prstGeom xmlns:a="http://schemas.openxmlformats.org/drawingml/2006/main" prst="ellipse">
            <a:avLst/>
          </a:prstGeom>
          <a:solidFill xmlns:a="http://schemas.openxmlformats.org/drawingml/2006/main">
            <a:srgbClr val="174C7C"/>
          </a:solidFill>
          <a:ln xmlns:a="http://schemas.openxmlformats.org/drawingml/2006/main" w="0">
            <a:noFill/>
            <a:prstDash val="solid"/>
          </a:ln>
        </p:spPr>
      </p:sp>
    </p:spTree>
    <p:extLst>
      <p:ext uri="{BB962C8B-B14F-4D97-AF65-F5344CB8AC3E}">
        <p14:creationId xmlns:p14="http://schemas.microsoft.com/office/powerpoint/2010/main" val="1175822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37" name="Google Shape;437;p5">
            <a:extLst xmlns:a="http://schemas.openxmlformats.org/drawingml/2006/main">
              <a:ext uri="{FF2B5EF4-FFF2-40B4-BE49-F238E27FC236}">
                <a16:creationId xmlns:a16="http://schemas.microsoft.com/office/drawing/2014/main" id="{0ED8179A-B7C4-4C78-960F-CE241ECB8714}"/>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438" name="Google Shape;438;p5">
            <a:extLst xmlns:a="http://schemas.openxmlformats.org/drawingml/2006/main">
              <a:ext uri="{FF2B5EF4-FFF2-40B4-BE49-F238E27FC236}">
                <a16:creationId xmlns:a16="http://schemas.microsoft.com/office/drawing/2014/main" id="{AB5FE076-C1D4-4D70-9FF0-1CBC0A95CD14}"/>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439" name="Google Shape;439;p5">
            <a:extLst xmlns:a="http://schemas.openxmlformats.org/drawingml/2006/main">
              <a:ext uri="{FF2B5EF4-FFF2-40B4-BE49-F238E27FC236}">
                <a16:creationId xmlns:a16="http://schemas.microsoft.com/office/drawing/2014/main" id="{5AF5AF07-A9D0-4B6B-9A6D-6A92685B8371}"/>
              </a:ext>
            </a:extLst>
          </p:cNvPr>
          <p:cNvSpPr>
            <a:spLocks xmlns:a="http://schemas.openxmlformats.org/drawingml/2006/main" noGrp="1"/>
          </p:cNvSpPr>
          <p:nvPr>
            <p:ph type="title" idx="0"/>
          </p:nvPr>
        </p:nvSpPr>
        <p:spPr>
          <a:xfrm xmlns:a="http://schemas.openxmlformats.org/drawingml/2006/main">
            <a:off x="1771650" y="238125"/>
            <a:ext cx="797242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Times New Roman"/>
              <a:buNone/>
            </a:pPr>
            <a:r>
              <a:rPr sz="3200" b="1">
                <a:latin typeface="Times New Roman"/>
                <a:ea typeface="Times New Roman"/>
                <a:cs typeface="Times New Roman"/>
              </a:rPr>
              <a:t>FEASIBILITY AND VIABILITY</a:t>
            </a:r>
            <a:endParaRPr/>
          </a:p>
        </p:txBody>
      </p:sp>
      <p:sp>
        <p:nvSpPr>
          <p:cNvPr id="440" name="Google Shape;440;p5">
            <a:extLst xmlns:a="http://schemas.openxmlformats.org/drawingml/2006/main">
              <a:ext uri="{FF2B5EF4-FFF2-40B4-BE49-F238E27FC236}">
                <a16:creationId xmlns:a16="http://schemas.microsoft.com/office/drawing/2014/main" id="{C8DFDF99-04D8-444B-BA5E-8394C85FAAFD}"/>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441" name="Google Shape;441;p5">
            <a:extLst xmlns:a="http://schemas.openxmlformats.org/drawingml/2006/main">
              <a:ext uri="{FF2B5EF4-FFF2-40B4-BE49-F238E27FC236}">
                <a16:creationId xmlns:a16="http://schemas.microsoft.com/office/drawing/2014/main" id="{593BA49B-3952-4540-B80D-8B42D693DCB2}"/>
              </a:ext>
            </a:extLst>
          </p:cNvPr>
          <p:cNvSpPr>
            <a:spLocks xmlns:a="http://schemas.openxmlformats.org/drawingml/2006/main" noGrp="1"/>
          </p:cNvSpPr>
          <p:nvPr/>
        </p:nvSpPr>
        <p:spPr>
          <a:xfrm xmlns:a="http://schemas.openxmlformats.org/drawingml/2006/main">
            <a:off x="285750" y="1304925"/>
            <a:ext cx="3619500" cy="342900"/>
          </a:xfrm>
          <a:prstGeom xmlns:a="http://schemas.openxmlformats.org/drawingml/2006/main" prst="rect">
            <a:avLst/>
          </a:prstGeom>
          <a:solidFill xmlns:a="http://schemas.openxmlformats.org/drawingml/2006/main">
            <a:srgbClr val="0072B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2" name="Google Shape;442;p5">
            <a:extLst xmlns:a="http://schemas.openxmlformats.org/drawingml/2006/main">
              <a:ext uri="{FF2B5EF4-FFF2-40B4-BE49-F238E27FC236}">
                <a16:creationId xmlns:a16="http://schemas.microsoft.com/office/drawing/2014/main" id="{7B6B93D3-CF9C-4E9C-A720-60B7C57643C6}"/>
              </a:ext>
            </a:extLst>
          </p:cNvPr>
          <p:cNvSpPr>
            <a:spLocks xmlns:a="http://schemas.openxmlformats.org/drawingml/2006/main" noGrp="1"/>
          </p:cNvSpPr>
          <p:nvPr/>
        </p:nvSpPr>
        <p:spPr>
          <a:xfrm xmlns:a="http://schemas.openxmlformats.org/drawingml/2006/main">
            <a:off x="333375" y="1343024"/>
            <a:ext cx="3524250" cy="2469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700"/>
              <a:buFont typeface="Arial"/>
              <a:buNone/>
            </a:pPr>
            <a:r>
              <a:rPr sz="1700" b="1" i="0" u="none" strike="noStrike" cap="none">
                <a:solidFill>
                  <a:srgbClr val="FFFFFF"/>
                </a:solidFill>
                <a:latin typeface="Arial"/>
                <a:ea typeface="Arial"/>
                <a:cs typeface="Arial"/>
              </a:rPr>
              <a:t>FEASIBILITY ANALYSIS</a:t>
            </a:r>
            <a:endParaRPr sz="1400" b="0" i="0" u="none" strike="noStrike" cap="none">
              <a:solidFill>
                <a:srgbClr val="000000"/>
              </a:solidFill>
              <a:latin typeface="Arial"/>
              <a:ea typeface="Arial"/>
              <a:cs typeface="Arial"/>
            </a:endParaRPr>
          </a:p>
        </p:txBody>
      </p:sp>
      <p:sp>
        <p:nvSpPr>
          <p:cNvPr id="443" name="Google Shape;443;p5">
            <a:extLst xmlns:a="http://schemas.openxmlformats.org/drawingml/2006/main">
              <a:ext uri="{FF2B5EF4-FFF2-40B4-BE49-F238E27FC236}">
                <a16:creationId xmlns:a16="http://schemas.microsoft.com/office/drawing/2014/main" id="{E7001960-9497-4CA3-896A-391EA68946CE}"/>
              </a:ext>
            </a:extLst>
          </p:cNvPr>
          <p:cNvSpPr>
            <a:spLocks xmlns:a="http://schemas.openxmlformats.org/drawingml/2006/main" noGrp="1"/>
          </p:cNvSpPr>
          <p:nvPr/>
        </p:nvSpPr>
        <p:spPr>
          <a:xfrm xmlns:a="http://schemas.openxmlformats.org/drawingml/2006/main">
            <a:off x="268875" y="1776863"/>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4" name="Google Shape;444;p5">
            <a:extLst xmlns:a="http://schemas.openxmlformats.org/drawingml/2006/main">
              <a:ext uri="{FF2B5EF4-FFF2-40B4-BE49-F238E27FC236}">
                <a16:creationId xmlns:a16="http://schemas.microsoft.com/office/drawing/2014/main" id="{0885DEC5-5CB3-4422-BEAB-52F81B9D3DC2}"/>
              </a:ext>
            </a:extLst>
          </p:cNvPr>
          <p:cNvSpPr>
            <a:spLocks xmlns:a="http://schemas.openxmlformats.org/drawingml/2006/main" noGrp="1"/>
          </p:cNvSpPr>
          <p:nvPr/>
        </p:nvSpPr>
        <p:spPr>
          <a:xfrm xmlns:a="http://schemas.openxmlformats.org/drawingml/2006/main">
            <a:off x="476189" y="1809124"/>
            <a:ext cx="826200" cy="702270"/>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5" name="Google Shape;445;p5">
            <a:extLst xmlns:a="http://schemas.openxmlformats.org/drawingml/2006/main">
              <a:ext uri="{FF2B5EF4-FFF2-40B4-BE49-F238E27FC236}">
                <a16:creationId xmlns:a16="http://schemas.microsoft.com/office/drawing/2014/main" id="{980A9EAE-9B8C-46E0-B91C-3145B8D69297}"/>
              </a:ext>
            </a:extLst>
          </p:cNvPr>
          <p:cNvSpPr>
            <a:spLocks xmlns:a="http://schemas.openxmlformats.org/drawingml/2006/main" noGrp="1"/>
          </p:cNvSpPr>
          <p:nvPr/>
        </p:nvSpPr>
        <p:spPr>
          <a:xfrm xmlns:a="http://schemas.openxmlformats.org/drawingml/2006/main">
            <a:off x="552073" y="1873626"/>
            <a:ext cx="674406" cy="573264"/>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6" name="Google Shape;446;p5">
            <a:extLst xmlns:a="http://schemas.openxmlformats.org/drawingml/2006/main">
              <a:ext uri="{FF2B5EF4-FFF2-40B4-BE49-F238E27FC236}">
                <a16:creationId xmlns:a16="http://schemas.microsoft.com/office/drawing/2014/main" id="{2D52B570-1468-4786-B372-BE37BEA6AFCC}"/>
              </a:ext>
            </a:extLst>
          </p:cNvPr>
          <p:cNvSpPr>
            <a:spLocks xmlns:a="http://schemas.openxmlformats.org/drawingml/2006/main" noGrp="1"/>
          </p:cNvSpPr>
          <p:nvPr/>
        </p:nvSpPr>
        <p:spPr>
          <a:xfrm xmlns:a="http://schemas.openxmlformats.org/drawingml/2006/main">
            <a:off x="74994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7" name="Google Shape;447;p5">
            <a:extLst xmlns:a="http://schemas.openxmlformats.org/drawingml/2006/main">
              <a:ext uri="{FF2B5EF4-FFF2-40B4-BE49-F238E27FC236}">
                <a16:creationId xmlns:a16="http://schemas.microsoft.com/office/drawing/2014/main" id="{72A30443-5949-4F80-B868-E8BA7178A659}"/>
              </a:ext>
            </a:extLst>
          </p:cNvPr>
          <p:cNvSpPr>
            <a:spLocks xmlns:a="http://schemas.openxmlformats.org/drawingml/2006/main" noGrp="1"/>
          </p:cNvSpPr>
          <p:nvPr/>
        </p:nvSpPr>
        <p:spPr>
          <a:xfrm xmlns:a="http://schemas.openxmlformats.org/drawingml/2006/main">
            <a:off x="737569"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8" name="Google Shape;448;p5">
            <a:extLst xmlns:a="http://schemas.openxmlformats.org/drawingml/2006/main">
              <a:ext uri="{FF2B5EF4-FFF2-40B4-BE49-F238E27FC236}">
                <a16:creationId xmlns:a16="http://schemas.microsoft.com/office/drawing/2014/main" id="{7CDAF0CE-4F38-42E0-AADE-DE7FB7DFE860}"/>
              </a:ext>
            </a:extLst>
          </p:cNvPr>
          <p:cNvSpPr>
            <a:spLocks xmlns:a="http://schemas.openxmlformats.org/drawingml/2006/main" noGrp="1"/>
          </p:cNvSpPr>
          <p:nvPr/>
        </p:nvSpPr>
        <p:spPr>
          <a:xfrm xmlns:a="http://schemas.openxmlformats.org/drawingml/2006/main">
            <a:off x="626116" y="2029300"/>
            <a:ext cx="114300" cy="405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9" name="Google Shape;449;p5">
            <a:extLst xmlns:a="http://schemas.openxmlformats.org/drawingml/2006/main">
              <a:ext uri="{FF2B5EF4-FFF2-40B4-BE49-F238E27FC236}">
                <a16:creationId xmlns:a16="http://schemas.microsoft.com/office/drawing/2014/main" id="{20FA0955-3B80-440C-BA3E-07E207111C5A}"/>
              </a:ext>
            </a:extLst>
          </p:cNvPr>
          <p:cNvSpPr>
            <a:spLocks xmlns:a="http://schemas.openxmlformats.org/drawingml/2006/main" noGrp="1"/>
          </p:cNvSpPr>
          <p:nvPr/>
        </p:nvSpPr>
        <p:spPr>
          <a:xfrm xmlns:a="http://schemas.openxmlformats.org/drawingml/2006/main">
            <a:off x="1092841" y="2029300"/>
            <a:ext cx="114300" cy="405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0" name="Google Shape;450;p5">
            <a:extLst xmlns:a="http://schemas.openxmlformats.org/drawingml/2006/main">
              <a:ext uri="{FF2B5EF4-FFF2-40B4-BE49-F238E27FC236}">
                <a16:creationId xmlns:a16="http://schemas.microsoft.com/office/drawing/2014/main" id="{FDA2B51D-0299-4263-A800-8D56EA424582}"/>
              </a:ext>
            </a:extLst>
          </p:cNvPr>
          <p:cNvSpPr>
            <a:spLocks xmlns:a="http://schemas.openxmlformats.org/drawingml/2006/main" noGrp="1"/>
          </p:cNvSpPr>
          <p:nvPr/>
        </p:nvSpPr>
        <p:spPr>
          <a:xfrm xmlns:a="http://schemas.openxmlformats.org/drawingml/2006/main">
            <a:off x="84519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1" name="Google Shape;451;p5">
            <a:extLst xmlns:a="http://schemas.openxmlformats.org/drawingml/2006/main">
              <a:ext uri="{FF2B5EF4-FFF2-40B4-BE49-F238E27FC236}">
                <a16:creationId xmlns:a16="http://schemas.microsoft.com/office/drawing/2014/main" id="{54D9F99E-CBC8-4306-9A47-31F9781BD210}"/>
              </a:ext>
            </a:extLst>
          </p:cNvPr>
          <p:cNvSpPr>
            <a:spLocks xmlns:a="http://schemas.openxmlformats.org/drawingml/2006/main" noGrp="1"/>
          </p:cNvSpPr>
          <p:nvPr/>
        </p:nvSpPr>
        <p:spPr>
          <a:xfrm xmlns:a="http://schemas.openxmlformats.org/drawingml/2006/main">
            <a:off x="821886"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2" name="Google Shape;452;p5">
            <a:extLst xmlns:a="http://schemas.openxmlformats.org/drawingml/2006/main">
              <a:ext uri="{FF2B5EF4-FFF2-40B4-BE49-F238E27FC236}">
                <a16:creationId xmlns:a16="http://schemas.microsoft.com/office/drawing/2014/main" id="{A11B61F5-5AF9-4670-9318-0C970F3B7844}"/>
              </a:ext>
            </a:extLst>
          </p:cNvPr>
          <p:cNvSpPr>
            <a:spLocks xmlns:a="http://schemas.openxmlformats.org/drawingml/2006/main" noGrp="1"/>
          </p:cNvSpPr>
          <p:nvPr/>
        </p:nvSpPr>
        <p:spPr>
          <a:xfrm xmlns:a="http://schemas.openxmlformats.org/drawingml/2006/main">
            <a:off x="860008" y="2085014"/>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3" name="Google Shape;453;p5">
            <a:extLst xmlns:a="http://schemas.openxmlformats.org/drawingml/2006/main">
              <a:ext uri="{FF2B5EF4-FFF2-40B4-BE49-F238E27FC236}">
                <a16:creationId xmlns:a16="http://schemas.microsoft.com/office/drawing/2014/main" id="{D2B3E7B6-483B-44AD-9C4E-3B501D5EDABE}"/>
              </a:ext>
            </a:extLst>
          </p:cNvPr>
          <p:cNvSpPr>
            <a:spLocks xmlns:a="http://schemas.openxmlformats.org/drawingml/2006/main" noGrp="1"/>
          </p:cNvSpPr>
          <p:nvPr/>
        </p:nvSpPr>
        <p:spPr>
          <a:xfrm xmlns:a="http://schemas.openxmlformats.org/drawingml/2006/main">
            <a:off x="626107" y="2140064"/>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4" name="Google Shape;454;p5">
            <a:extLst xmlns:a="http://schemas.openxmlformats.org/drawingml/2006/main">
              <a:ext uri="{FF2B5EF4-FFF2-40B4-BE49-F238E27FC236}">
                <a16:creationId xmlns:a16="http://schemas.microsoft.com/office/drawing/2014/main" id="{B49772AC-A159-4248-8B95-06FA4912FFBC}"/>
              </a:ext>
            </a:extLst>
          </p:cNvPr>
          <p:cNvSpPr>
            <a:spLocks xmlns:a="http://schemas.openxmlformats.org/drawingml/2006/main" noGrp="1"/>
          </p:cNvSpPr>
          <p:nvPr/>
        </p:nvSpPr>
        <p:spPr>
          <a:xfrm xmlns:a="http://schemas.openxmlformats.org/drawingml/2006/main">
            <a:off x="94044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5" name="Google Shape;455;p5">
            <a:extLst xmlns:a="http://schemas.openxmlformats.org/drawingml/2006/main">
              <a:ext uri="{FF2B5EF4-FFF2-40B4-BE49-F238E27FC236}">
                <a16:creationId xmlns:a16="http://schemas.microsoft.com/office/drawing/2014/main" id="{68F94639-4E42-447F-A646-D2B059670D99}"/>
              </a:ext>
            </a:extLst>
          </p:cNvPr>
          <p:cNvSpPr>
            <a:spLocks xmlns:a="http://schemas.openxmlformats.org/drawingml/2006/main" noGrp="1"/>
          </p:cNvSpPr>
          <p:nvPr/>
        </p:nvSpPr>
        <p:spPr>
          <a:xfrm xmlns:a="http://schemas.openxmlformats.org/drawingml/2006/main">
            <a:off x="906201"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6" name="Google Shape;456;p5">
            <a:extLst xmlns:a="http://schemas.openxmlformats.org/drawingml/2006/main">
              <a:ext uri="{FF2B5EF4-FFF2-40B4-BE49-F238E27FC236}">
                <a16:creationId xmlns:a16="http://schemas.microsoft.com/office/drawing/2014/main" id="{6E41CE7C-B93F-4879-98D6-EB4D6B159EEA}"/>
              </a:ext>
            </a:extLst>
          </p:cNvPr>
          <p:cNvSpPr>
            <a:spLocks xmlns:a="http://schemas.openxmlformats.org/drawingml/2006/main" noGrp="1"/>
          </p:cNvSpPr>
          <p:nvPr/>
        </p:nvSpPr>
        <p:spPr>
          <a:xfrm xmlns:a="http://schemas.openxmlformats.org/drawingml/2006/main">
            <a:off x="860008" y="2156683"/>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7" name="Google Shape;457;p5">
            <a:extLst xmlns:a="http://schemas.openxmlformats.org/drawingml/2006/main">
              <a:ext uri="{FF2B5EF4-FFF2-40B4-BE49-F238E27FC236}">
                <a16:creationId xmlns:a16="http://schemas.microsoft.com/office/drawing/2014/main" id="{0E88296D-98CB-4151-BFB1-78A5EA4105CE}"/>
              </a:ext>
            </a:extLst>
          </p:cNvPr>
          <p:cNvSpPr>
            <a:spLocks xmlns:a="http://schemas.openxmlformats.org/drawingml/2006/main" noGrp="1"/>
          </p:cNvSpPr>
          <p:nvPr/>
        </p:nvSpPr>
        <p:spPr>
          <a:xfrm xmlns:a="http://schemas.openxmlformats.org/drawingml/2006/main">
            <a:off x="1087657" y="2140058"/>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8" name="Google Shape;458;p5">
            <a:extLst xmlns:a="http://schemas.openxmlformats.org/drawingml/2006/main">
              <a:ext uri="{FF2B5EF4-FFF2-40B4-BE49-F238E27FC236}">
                <a16:creationId xmlns:a16="http://schemas.microsoft.com/office/drawing/2014/main" id="{3C52E41C-FFB9-4E80-ADEC-0DFA4B674FCB}"/>
              </a:ext>
            </a:extLst>
          </p:cNvPr>
          <p:cNvSpPr>
            <a:spLocks xmlns:a="http://schemas.openxmlformats.org/drawingml/2006/main" noGrp="1"/>
          </p:cNvSpPr>
          <p:nvPr/>
        </p:nvSpPr>
        <p:spPr>
          <a:xfrm xmlns:a="http://schemas.openxmlformats.org/drawingml/2006/main">
            <a:off x="103569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9" name="Google Shape;459;p5">
            <a:extLst xmlns:a="http://schemas.openxmlformats.org/drawingml/2006/main">
              <a:ext uri="{FF2B5EF4-FFF2-40B4-BE49-F238E27FC236}">
                <a16:creationId xmlns:a16="http://schemas.microsoft.com/office/drawing/2014/main" id="{39D54D25-88A8-4504-A473-D4F6519FF0EB}"/>
              </a:ext>
            </a:extLst>
          </p:cNvPr>
          <p:cNvSpPr>
            <a:spLocks xmlns:a="http://schemas.openxmlformats.org/drawingml/2006/main" noGrp="1"/>
          </p:cNvSpPr>
          <p:nvPr/>
        </p:nvSpPr>
        <p:spPr>
          <a:xfrm xmlns:a="http://schemas.openxmlformats.org/drawingml/2006/main">
            <a:off x="990516"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0" name="Google Shape;460;p5">
            <a:extLst xmlns:a="http://schemas.openxmlformats.org/drawingml/2006/main">
              <a:ext uri="{FF2B5EF4-FFF2-40B4-BE49-F238E27FC236}">
                <a16:creationId xmlns:a16="http://schemas.microsoft.com/office/drawing/2014/main" id="{B071E58C-5713-427A-A4C8-465740D3C066}"/>
              </a:ext>
            </a:extLst>
          </p:cNvPr>
          <p:cNvSpPr>
            <a:spLocks xmlns:a="http://schemas.openxmlformats.org/drawingml/2006/main" noGrp="1"/>
          </p:cNvSpPr>
          <p:nvPr/>
        </p:nvSpPr>
        <p:spPr>
          <a:xfrm xmlns:a="http://schemas.openxmlformats.org/drawingml/2006/main">
            <a:off x="627958" y="2246301"/>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1" name="Google Shape;461;p5">
            <a:extLst xmlns:a="http://schemas.openxmlformats.org/drawingml/2006/main">
              <a:ext uri="{FF2B5EF4-FFF2-40B4-BE49-F238E27FC236}">
                <a16:creationId xmlns:a16="http://schemas.microsoft.com/office/drawing/2014/main" id="{EB399509-126D-438A-A9AF-FD5796E3ACF3}"/>
              </a:ext>
            </a:extLst>
          </p:cNvPr>
          <p:cNvSpPr>
            <a:spLocks xmlns:a="http://schemas.openxmlformats.org/drawingml/2006/main" noGrp="1"/>
          </p:cNvSpPr>
          <p:nvPr/>
        </p:nvSpPr>
        <p:spPr>
          <a:xfrm xmlns:a="http://schemas.openxmlformats.org/drawingml/2006/main">
            <a:off x="1087657" y="2242601"/>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2" name="Google Shape;462;p5">
            <a:extLst xmlns:a="http://schemas.openxmlformats.org/drawingml/2006/main">
              <a:ext uri="{FF2B5EF4-FFF2-40B4-BE49-F238E27FC236}">
                <a16:creationId xmlns:a16="http://schemas.microsoft.com/office/drawing/2014/main" id="{0BC92610-483B-414F-A8B1-535F41E010AB}"/>
              </a:ext>
            </a:extLst>
          </p:cNvPr>
          <p:cNvSpPr>
            <a:spLocks xmlns:a="http://schemas.openxmlformats.org/drawingml/2006/main" noGrp="1"/>
          </p:cNvSpPr>
          <p:nvPr/>
        </p:nvSpPr>
        <p:spPr>
          <a:xfrm xmlns:a="http://schemas.openxmlformats.org/drawingml/2006/main">
            <a:off x="703843" y="2002629"/>
            <a:ext cx="379500" cy="322500"/>
          </a:xfrm>
          <a:prstGeom xmlns:a="http://schemas.openxmlformats.org/drawingml/2006/main" prst="roundRect">
            <a:avLst>
              <a:gd name="adj" fmla="val 17778"/>
            </a:avLst>
          </a:prstGeom>
          <a:solidFill xmlns:a="http://schemas.openxmlformats.org/drawingml/2006/main">
            <a:srgbClr val="59BCE7"/>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3" name="Google Shape;463;p5">
            <a:extLst xmlns:a="http://schemas.openxmlformats.org/drawingml/2006/main">
              <a:ext uri="{FF2B5EF4-FFF2-40B4-BE49-F238E27FC236}">
                <a16:creationId xmlns:a16="http://schemas.microsoft.com/office/drawing/2014/main" id="{7D58772C-35F8-42A7-932F-BBC56DE74CE9}"/>
              </a:ext>
            </a:extLst>
          </p:cNvPr>
          <p:cNvSpPr>
            <a:spLocks xmlns:a="http://schemas.openxmlformats.org/drawingml/2006/main" noGrp="1"/>
          </p:cNvSpPr>
          <p:nvPr/>
        </p:nvSpPr>
        <p:spPr>
          <a:xfrm xmlns:a="http://schemas.openxmlformats.org/drawingml/2006/main">
            <a:off x="737569" y="2052796"/>
            <a:ext cx="3120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500"/>
              <a:buFont typeface="Arial"/>
              <a:buNone/>
            </a:pPr>
            <a:r>
              <a:rPr sz="1500" b="1" i="0" u="none" strike="noStrike" cap="none">
                <a:solidFill>
                  <a:srgbClr val="161C24"/>
                </a:solidFill>
                <a:latin typeface="Arial"/>
                <a:ea typeface="Arial"/>
                <a:cs typeface="Arial"/>
              </a:rPr>
              <a:t>AI</a:t>
            </a:r>
            <a:endParaRPr sz="1400" b="0" i="0" u="none" strike="noStrike" cap="none">
              <a:solidFill>
                <a:srgbClr val="000000"/>
              </a:solidFill>
              <a:latin typeface="Arial"/>
              <a:ea typeface="Arial"/>
              <a:cs typeface="Arial"/>
            </a:endParaRPr>
          </a:p>
        </p:txBody>
      </p:sp>
      <p:sp>
        <p:nvSpPr>
          <p:cNvPr id="464" name="Google Shape;464;p5">
            <a:extLst xmlns:a="http://schemas.openxmlformats.org/drawingml/2006/main">
              <a:ext uri="{FF2B5EF4-FFF2-40B4-BE49-F238E27FC236}">
                <a16:creationId xmlns:a16="http://schemas.microsoft.com/office/drawing/2014/main" id="{CBFB490D-FA14-4642-B9FD-E2B2BD16E545}"/>
              </a:ext>
            </a:extLst>
          </p:cNvPr>
          <p:cNvSpPr>
            <a:spLocks xmlns:a="http://schemas.openxmlformats.org/drawingml/2006/main" noGrp="1"/>
          </p:cNvSpPr>
          <p:nvPr/>
        </p:nvSpPr>
        <p:spPr>
          <a:xfrm xmlns:a="http://schemas.openxmlformats.org/drawingml/2006/main">
            <a:off x="1309687" y="1793170"/>
            <a:ext cx="2476501" cy="1728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200"/>
              <a:buFont typeface="Arial"/>
              <a:buNone/>
            </a:pPr>
            <a:r>
              <a:rPr sz="1200" b="1" i="0" u="none" strike="noStrike" cap="none">
                <a:solidFill>
                  <a:srgbClr val="0072BC"/>
                </a:solidFill>
                <a:latin typeface="Arial"/>
                <a:ea typeface="Arial"/>
                <a:cs typeface="Arial"/>
              </a:rPr>
              <a:t>TECHNICAL FEASIBILITY</a:t>
            </a:r>
            <a:endParaRPr sz="1400" b="0" i="0" u="none" strike="noStrike" cap="none">
              <a:solidFill>
                <a:srgbClr val="000000"/>
              </a:solidFill>
              <a:latin typeface="Arial"/>
              <a:ea typeface="Arial"/>
              <a:cs typeface="Arial"/>
            </a:endParaRPr>
          </a:p>
        </p:txBody>
      </p:sp>
      <p:sp>
        <p:nvSpPr>
          <p:cNvPr id="465" name="Google Shape;465;p5">
            <a:extLst xmlns:a="http://schemas.openxmlformats.org/drawingml/2006/main">
              <a:ext uri="{FF2B5EF4-FFF2-40B4-BE49-F238E27FC236}">
                <a16:creationId xmlns:a16="http://schemas.microsoft.com/office/drawing/2014/main" id="{3767BE43-6A42-4F88-979C-CCBDCCC7D97E}"/>
              </a:ext>
            </a:extLst>
          </p:cNvPr>
          <p:cNvSpPr>
            <a:spLocks xmlns:a="http://schemas.openxmlformats.org/drawingml/2006/main" noGrp="1"/>
          </p:cNvSpPr>
          <p:nvPr/>
        </p:nvSpPr>
        <p:spPr>
          <a:xfrm xmlns:a="http://schemas.openxmlformats.org/drawingml/2006/main">
            <a:off x="1445720" y="1995429"/>
            <a:ext cx="21921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Compact temporal model.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Open radar processing tools.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Indian data access needed.</a:t>
            </a:r>
            <a:endParaRPr sz="1400" b="0" i="0" u="none" strike="noStrike" cap="none">
              <a:solidFill>
                <a:srgbClr val="000000"/>
              </a:solidFill>
              <a:latin typeface="Arial"/>
              <a:ea typeface="Arial"/>
              <a:cs typeface="Arial"/>
            </a:endParaRPr>
          </a:p>
        </p:txBody>
      </p:sp>
      <p:sp>
        <p:nvSpPr>
          <p:cNvPr id="466" name="Google Shape;466;p5">
            <a:extLst xmlns:a="http://schemas.openxmlformats.org/drawingml/2006/main">
              <a:ext uri="{FF2B5EF4-FFF2-40B4-BE49-F238E27FC236}">
                <a16:creationId xmlns:a16="http://schemas.microsoft.com/office/drawing/2014/main" id="{12BD855F-E2ED-4057-937A-94CE871B27C0}"/>
              </a:ext>
            </a:extLst>
          </p:cNvPr>
          <p:cNvSpPr>
            <a:spLocks xmlns:a="http://schemas.openxmlformats.org/drawingml/2006/main" noGrp="1"/>
          </p:cNvSpPr>
          <p:nvPr/>
        </p:nvSpPr>
        <p:spPr>
          <a:xfrm xmlns:a="http://schemas.openxmlformats.org/drawingml/2006/main">
            <a:off x="268875" y="2617073"/>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7" name="Google Shape;467;p5">
            <a:extLst xmlns:a="http://schemas.openxmlformats.org/drawingml/2006/main">
              <a:ext uri="{FF2B5EF4-FFF2-40B4-BE49-F238E27FC236}">
                <a16:creationId xmlns:a16="http://schemas.microsoft.com/office/drawing/2014/main" id="{DF7C3BA3-EF59-405A-BF1D-D3A2ABA60722}"/>
              </a:ext>
            </a:extLst>
          </p:cNvPr>
          <p:cNvSpPr>
            <a:spLocks xmlns:a="http://schemas.openxmlformats.org/drawingml/2006/main" noGrp="1"/>
          </p:cNvSpPr>
          <p:nvPr/>
        </p:nvSpPr>
        <p:spPr>
          <a:xfrm xmlns:a="http://schemas.openxmlformats.org/drawingml/2006/main">
            <a:off x="2689020" y="2636863"/>
            <a:ext cx="826200" cy="702270"/>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8" name="Google Shape;468;p5">
            <a:extLst xmlns:a="http://schemas.openxmlformats.org/drawingml/2006/main">
              <a:ext uri="{FF2B5EF4-FFF2-40B4-BE49-F238E27FC236}">
                <a16:creationId xmlns:a16="http://schemas.microsoft.com/office/drawing/2014/main" id="{890FC91C-E064-4D7E-A129-D44BC076F6F7}"/>
              </a:ext>
            </a:extLst>
          </p:cNvPr>
          <p:cNvSpPr>
            <a:spLocks xmlns:a="http://schemas.openxmlformats.org/drawingml/2006/main" noGrp="1"/>
          </p:cNvSpPr>
          <p:nvPr/>
        </p:nvSpPr>
        <p:spPr>
          <a:xfrm xmlns:a="http://schemas.openxmlformats.org/drawingml/2006/main">
            <a:off x="2764904" y="2701363"/>
            <a:ext cx="674406" cy="573264"/>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9" name="Google Shape;469;p5">
            <a:extLst xmlns:a="http://schemas.openxmlformats.org/drawingml/2006/main">
              <a:ext uri="{FF2B5EF4-FFF2-40B4-BE49-F238E27FC236}">
                <a16:creationId xmlns:a16="http://schemas.microsoft.com/office/drawing/2014/main" id="{4630334A-76C8-45DF-A359-EF4947E60AE2}"/>
              </a:ext>
            </a:extLst>
          </p:cNvPr>
          <p:cNvSpPr>
            <a:spLocks xmlns:a="http://schemas.openxmlformats.org/drawingml/2006/main" noGrp="1"/>
          </p:cNvSpPr>
          <p:nvPr/>
        </p:nvSpPr>
        <p:spPr>
          <a:xfrm xmlns:a="http://schemas.openxmlformats.org/drawingml/2006/main">
            <a:off x="3085306" y="3016704"/>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0" name="Google Shape;470;p5">
            <a:extLst xmlns:a="http://schemas.openxmlformats.org/drawingml/2006/main">
              <a:ext uri="{FF2B5EF4-FFF2-40B4-BE49-F238E27FC236}">
                <a16:creationId xmlns:a16="http://schemas.microsoft.com/office/drawing/2014/main" id="{CF4BDA47-C133-493F-85DE-23F7F5C3663F}"/>
              </a:ext>
            </a:extLst>
          </p:cNvPr>
          <p:cNvSpPr>
            <a:spLocks xmlns:a="http://schemas.openxmlformats.org/drawingml/2006/main" noGrp="1"/>
          </p:cNvSpPr>
          <p:nvPr/>
        </p:nvSpPr>
        <p:spPr>
          <a:xfrm xmlns:a="http://schemas.openxmlformats.org/drawingml/2006/main">
            <a:off x="3085306" y="2995203"/>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1" name="Google Shape;471;p5">
            <a:extLst xmlns:a="http://schemas.openxmlformats.org/drawingml/2006/main">
              <a:ext uri="{FF2B5EF4-FFF2-40B4-BE49-F238E27FC236}">
                <a16:creationId xmlns:a16="http://schemas.microsoft.com/office/drawing/2014/main" id="{C2ADB731-380F-4F87-A6A5-1AF0B0DC8610}"/>
              </a:ext>
            </a:extLst>
          </p:cNvPr>
          <p:cNvSpPr>
            <a:spLocks xmlns:a="http://schemas.openxmlformats.org/drawingml/2006/main" noGrp="1"/>
          </p:cNvSpPr>
          <p:nvPr/>
        </p:nvSpPr>
        <p:spPr>
          <a:xfrm xmlns:a="http://schemas.openxmlformats.org/drawingml/2006/main">
            <a:off x="3085306" y="2937868"/>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2" name="Google Shape;472;p5">
            <a:extLst xmlns:a="http://schemas.openxmlformats.org/drawingml/2006/main">
              <a:ext uri="{FF2B5EF4-FFF2-40B4-BE49-F238E27FC236}">
                <a16:creationId xmlns:a16="http://schemas.microsoft.com/office/drawing/2014/main" id="{C80EF7C6-79C9-4FC4-A813-B8AC9DCC6DDC}"/>
              </a:ext>
            </a:extLst>
          </p:cNvPr>
          <p:cNvSpPr>
            <a:spLocks xmlns:a="http://schemas.openxmlformats.org/drawingml/2006/main" noGrp="1"/>
          </p:cNvSpPr>
          <p:nvPr/>
        </p:nvSpPr>
        <p:spPr>
          <a:xfrm xmlns:a="http://schemas.openxmlformats.org/drawingml/2006/main">
            <a:off x="3085306" y="2916367"/>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3" name="Google Shape;473;p5">
            <a:extLst xmlns:a="http://schemas.openxmlformats.org/drawingml/2006/main">
              <a:ext uri="{FF2B5EF4-FFF2-40B4-BE49-F238E27FC236}">
                <a16:creationId xmlns:a16="http://schemas.microsoft.com/office/drawing/2014/main" id="{6D886857-7D03-4D9C-B25F-5C6D2BEBF691}"/>
              </a:ext>
            </a:extLst>
          </p:cNvPr>
          <p:cNvSpPr>
            <a:spLocks xmlns:a="http://schemas.openxmlformats.org/drawingml/2006/main" noGrp="1"/>
          </p:cNvSpPr>
          <p:nvPr/>
        </p:nvSpPr>
        <p:spPr>
          <a:xfrm xmlns:a="http://schemas.openxmlformats.org/drawingml/2006/main">
            <a:off x="3085306" y="2859034"/>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4" name="Google Shape;474;p5">
            <a:extLst xmlns:a="http://schemas.openxmlformats.org/drawingml/2006/main">
              <a:ext uri="{FF2B5EF4-FFF2-40B4-BE49-F238E27FC236}">
                <a16:creationId xmlns:a16="http://schemas.microsoft.com/office/drawing/2014/main" id="{9BDBA1D2-5992-446A-B475-03E151EFA6F5}"/>
              </a:ext>
            </a:extLst>
          </p:cNvPr>
          <p:cNvSpPr>
            <a:spLocks xmlns:a="http://schemas.openxmlformats.org/drawingml/2006/main" noGrp="1"/>
          </p:cNvSpPr>
          <p:nvPr/>
        </p:nvSpPr>
        <p:spPr>
          <a:xfrm xmlns:a="http://schemas.openxmlformats.org/drawingml/2006/main">
            <a:off x="3085306" y="2837533"/>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5" name="Google Shape;475;p5">
            <a:extLst xmlns:a="http://schemas.openxmlformats.org/drawingml/2006/main">
              <a:ext uri="{FF2B5EF4-FFF2-40B4-BE49-F238E27FC236}">
                <a16:creationId xmlns:a16="http://schemas.microsoft.com/office/drawing/2014/main" id="{F4149705-E26A-410A-B7E9-A1B2E037C930}"/>
              </a:ext>
            </a:extLst>
          </p:cNvPr>
          <p:cNvSpPr>
            <a:spLocks xmlns:a="http://schemas.openxmlformats.org/drawingml/2006/main" noGrp="1"/>
          </p:cNvSpPr>
          <p:nvPr/>
        </p:nvSpPr>
        <p:spPr>
          <a:xfrm xmlns:a="http://schemas.openxmlformats.org/drawingml/2006/main">
            <a:off x="2840790" y="2952202"/>
            <a:ext cx="303600" cy="258000"/>
          </a:xfrm>
          <a:prstGeom xmlns:a="http://schemas.openxmlformats.org/drawingml/2006/main" prst="ellipse">
            <a:avLst/>
          </a:prstGeom>
          <a:solidFill xmlns:a="http://schemas.openxmlformats.org/drawingml/2006/main">
            <a:srgbClr val="F3C84C"/>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6" name="Google Shape;476;p5">
            <a:extLst xmlns:a="http://schemas.openxmlformats.org/drawingml/2006/main">
              <a:ext uri="{FF2B5EF4-FFF2-40B4-BE49-F238E27FC236}">
                <a16:creationId xmlns:a16="http://schemas.microsoft.com/office/drawing/2014/main" id="{A1D12A48-1B9D-49BE-AD1B-8E223ABBB888}"/>
              </a:ext>
            </a:extLst>
          </p:cNvPr>
          <p:cNvSpPr>
            <a:spLocks xmlns:a="http://schemas.openxmlformats.org/drawingml/2006/main" noGrp="1"/>
          </p:cNvSpPr>
          <p:nvPr/>
        </p:nvSpPr>
        <p:spPr>
          <a:xfrm xmlns:a="http://schemas.openxmlformats.org/drawingml/2006/main">
            <a:off x="2882946" y="2973703"/>
            <a:ext cx="21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600"/>
              <a:buFont typeface="Arial"/>
              <a:buNone/>
            </a:pPr>
            <a:r>
              <a:rPr sz="1600" b="1" i="0" u="none" strike="noStrike" cap="none">
                <a:solidFill>
                  <a:srgbClr val="161C24"/>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77" name="Google Shape;477;p5">
            <a:extLst xmlns:a="http://schemas.openxmlformats.org/drawingml/2006/main">
              <a:ext uri="{FF2B5EF4-FFF2-40B4-BE49-F238E27FC236}">
                <a16:creationId xmlns:a16="http://schemas.microsoft.com/office/drawing/2014/main" id="{092156DA-72BB-424D-BA68-80FD099AA5B9}"/>
              </a:ext>
            </a:extLst>
          </p:cNvPr>
          <p:cNvSpPr>
            <a:spLocks xmlns:a="http://schemas.openxmlformats.org/drawingml/2006/main" noGrp="1"/>
          </p:cNvSpPr>
          <p:nvPr/>
        </p:nvSpPr>
        <p:spPr>
          <a:xfrm xmlns:a="http://schemas.openxmlformats.org/drawingml/2006/main">
            <a:off x="2891378" y="2758698"/>
            <a:ext cx="227718" cy="222102"/>
          </a:xfrm>
          <a:custGeom xmlns:a="http://schemas.openxmlformats.org/drawingml/2006/main">
            <a:rect l="l" t="t" r="r" b="b"/>
            <a:pathLst>
              <a:path w="21600" h="21600">
                <a:moveTo>
                  <a:pt x="0" y="9411"/>
                </a:moveTo>
                <a:lnTo>
                  <a:pt x="10800" y="0"/>
                </a:lnTo>
                <a:lnTo>
                  <a:pt x="21600" y="9411"/>
                </a:lnTo>
                <a:lnTo>
                  <a:pt x="16200" y="9411"/>
                </a:lnTo>
                <a:lnTo>
                  <a:pt x="16200" y="21600"/>
                </a:lnTo>
                <a:lnTo>
                  <a:pt x="5400" y="21600"/>
                </a:lnTo>
                <a:lnTo>
                  <a:pt x="5400" y="9411"/>
                </a:lnTo>
                <a:close/>
              </a:path>
            </a:pathLst>
          </a:custGeom>
          <a:solidFill xmlns:a="http://schemas.openxmlformats.org/drawingml/2006/main">
            <a:srgbClr val="91BA58"/>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8" name="Google Shape;478;p5">
            <a:extLst xmlns:a="http://schemas.openxmlformats.org/drawingml/2006/main">
              <a:ext uri="{FF2B5EF4-FFF2-40B4-BE49-F238E27FC236}">
                <a16:creationId xmlns:a16="http://schemas.microsoft.com/office/drawing/2014/main" id="{FD6B40D1-8B39-4F9E-B1BF-21ACAAAA7CFF}"/>
              </a:ext>
            </a:extLst>
          </p:cNvPr>
          <p:cNvSpPr>
            <a:spLocks xmlns:a="http://schemas.openxmlformats.org/drawingml/2006/main" noGrp="1"/>
          </p:cNvSpPr>
          <p:nvPr/>
        </p:nvSpPr>
        <p:spPr>
          <a:xfrm xmlns:a="http://schemas.openxmlformats.org/drawingml/2006/main">
            <a:off x="190050" y="2672700"/>
            <a:ext cx="26544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100"/>
              <a:buFont typeface="Arial"/>
              <a:buNone/>
            </a:pPr>
            <a:r>
              <a:rPr sz="1100" b="1" i="0" u="none" strike="noStrike" cap="none">
                <a:solidFill>
                  <a:srgbClr val="0072BC"/>
                </a:solidFill>
                <a:latin typeface="Arial"/>
                <a:ea typeface="Arial"/>
                <a:cs typeface="Arial"/>
              </a:rPr>
              <a:t>COMPUTE FEASIBILITY</a:t>
            </a:r>
            <a:endParaRPr sz="1400" b="0" i="0" u="none" strike="noStrike" cap="none">
              <a:solidFill>
                <a:srgbClr val="000000"/>
              </a:solidFill>
              <a:latin typeface="Arial"/>
              <a:ea typeface="Arial"/>
              <a:cs typeface="Arial"/>
            </a:endParaRPr>
          </a:p>
        </p:txBody>
      </p:sp>
      <p:sp>
        <p:nvSpPr>
          <p:cNvPr id="479" name="Google Shape;479;p5">
            <a:extLst xmlns:a="http://schemas.openxmlformats.org/drawingml/2006/main">
              <a:ext uri="{FF2B5EF4-FFF2-40B4-BE49-F238E27FC236}">
                <a16:creationId xmlns:a16="http://schemas.microsoft.com/office/drawing/2014/main" id="{908BC7BC-E2CF-41F8-A109-66BA7249D003}"/>
              </a:ext>
            </a:extLst>
          </p:cNvPr>
          <p:cNvSpPr>
            <a:spLocks xmlns:a="http://schemas.openxmlformats.org/drawingml/2006/main" noGrp="1"/>
          </p:cNvSpPr>
          <p:nvPr/>
        </p:nvSpPr>
        <p:spPr>
          <a:xfrm xmlns:a="http://schemas.openxmlformats.org/drawingml/2006/main">
            <a:off x="190050" y="2873374"/>
            <a:ext cx="26544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Start with one region.</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Reuse observing networks.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Bound queues and cache inputs.</a:t>
            </a:r>
            <a:endParaRPr sz="1400" b="0" i="0" u="none" strike="noStrike" cap="none">
              <a:solidFill>
                <a:srgbClr val="000000"/>
              </a:solidFill>
              <a:latin typeface="Arial"/>
              <a:ea typeface="Arial"/>
              <a:cs typeface="Arial"/>
            </a:endParaRPr>
          </a:p>
        </p:txBody>
      </p:sp>
      <p:sp>
        <p:nvSpPr>
          <p:cNvPr id="480" name="Google Shape;480;p5">
            <a:extLst xmlns:a="http://schemas.openxmlformats.org/drawingml/2006/main">
              <a:ext uri="{FF2B5EF4-FFF2-40B4-BE49-F238E27FC236}">
                <a16:creationId xmlns:a16="http://schemas.microsoft.com/office/drawing/2014/main" id="{46073BEE-EEE6-4DBA-A270-919D091E438D}"/>
              </a:ext>
            </a:extLst>
          </p:cNvPr>
          <p:cNvSpPr>
            <a:spLocks xmlns:a="http://schemas.openxmlformats.org/drawingml/2006/main" noGrp="1"/>
          </p:cNvSpPr>
          <p:nvPr/>
        </p:nvSpPr>
        <p:spPr>
          <a:xfrm xmlns:a="http://schemas.openxmlformats.org/drawingml/2006/main">
            <a:off x="285825" y="3453875"/>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1" name="Google Shape;481;p5">
            <a:extLst xmlns:a="http://schemas.openxmlformats.org/drawingml/2006/main">
              <a:ext uri="{FF2B5EF4-FFF2-40B4-BE49-F238E27FC236}">
                <a16:creationId xmlns:a16="http://schemas.microsoft.com/office/drawing/2014/main" id="{6315BA50-F68C-4354-ACFB-6909D7410AD0}"/>
              </a:ext>
            </a:extLst>
          </p:cNvPr>
          <p:cNvSpPr>
            <a:spLocks xmlns:a="http://schemas.openxmlformats.org/drawingml/2006/main" noGrp="1"/>
          </p:cNvSpPr>
          <p:nvPr/>
        </p:nvSpPr>
        <p:spPr>
          <a:xfrm xmlns:a="http://schemas.openxmlformats.org/drawingml/2006/main">
            <a:off x="539323" y="3482549"/>
            <a:ext cx="826201" cy="702271"/>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2" name="Google Shape;482;p5">
            <a:extLst xmlns:a="http://schemas.openxmlformats.org/drawingml/2006/main">
              <a:ext uri="{FF2B5EF4-FFF2-40B4-BE49-F238E27FC236}">
                <a16:creationId xmlns:a16="http://schemas.microsoft.com/office/drawing/2014/main" id="{75E6FFC7-29AB-4CEE-B993-C1E21FDF014F}"/>
              </a:ext>
            </a:extLst>
          </p:cNvPr>
          <p:cNvSpPr>
            <a:spLocks xmlns:a="http://schemas.openxmlformats.org/drawingml/2006/main" noGrp="1"/>
          </p:cNvSpPr>
          <p:nvPr/>
        </p:nvSpPr>
        <p:spPr>
          <a:xfrm xmlns:a="http://schemas.openxmlformats.org/drawingml/2006/main">
            <a:off x="615207" y="3547050"/>
            <a:ext cx="674403" cy="573242"/>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3" name="Google Shape;483;p5">
            <a:extLst xmlns:a="http://schemas.openxmlformats.org/drawingml/2006/main">
              <a:ext uri="{FF2B5EF4-FFF2-40B4-BE49-F238E27FC236}">
                <a16:creationId xmlns:a16="http://schemas.microsoft.com/office/drawing/2014/main" id="{FCB7CD9B-96F1-4452-9FFC-59D9755D6197}"/>
              </a:ext>
            </a:extLst>
          </p:cNvPr>
          <p:cNvSpPr>
            <a:spLocks xmlns:a="http://schemas.openxmlformats.org/drawingml/2006/main" noGrp="1"/>
          </p:cNvSpPr>
          <p:nvPr/>
        </p:nvSpPr>
        <p:spPr>
          <a:xfrm xmlns:a="http://schemas.openxmlformats.org/drawingml/2006/main">
            <a:off x="842862" y="3654552"/>
            <a:ext cx="354002" cy="214967"/>
          </a:xfrm>
          <a:prstGeom xmlns:a="http://schemas.openxmlformats.org/drawingml/2006/main" prst="roundRect">
            <a:avLst>
              <a:gd name="adj" fmla="val 26667"/>
            </a:avLst>
          </a:prstGeom>
          <a:solidFill xmlns:a="http://schemas.openxmlformats.org/drawingml/2006/main">
            <a:srgbClr val="59BCE7"/>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cxnSp>
        <p:nvCxnSpPr>
          <p:cNvPr id="810" name="Google Shape;484;p5"/>
          <p:cNvCxnSpPr/>
          <p:nvPr/>
        </p:nvCxnSpPr>
        <p:spPr>
          <a:xfrm xmlns:a="http://schemas.openxmlformats.org/drawingml/2006/main">
            <a:off x="1019923" y="3869557"/>
            <a:ext cx="2" cy="93077"/>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cxnSp>
        <p:nvCxnSpPr>
          <p:cNvPr id="811" name="Google Shape;485;p5"/>
          <p:cNvCxnSpPr/>
          <p:nvPr/>
        </p:nvCxnSpPr>
        <p:spPr>
          <a:xfrm xmlns:a="http://schemas.openxmlformats.org/drawingml/2006/main">
            <a:off x="918744" y="3969894"/>
            <a:ext cx="210900" cy="2"/>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sp>
        <p:nvSpPr>
          <p:cNvPr id="486" name="Google Shape;486;p5">
            <a:extLst xmlns:a="http://schemas.openxmlformats.org/drawingml/2006/main">
              <a:ext uri="{FF2B5EF4-FFF2-40B4-BE49-F238E27FC236}">
                <a16:creationId xmlns:a16="http://schemas.microsoft.com/office/drawing/2014/main" id="{CE0C04BE-A4E8-4E96-8D9B-3B0C4F3B624F}"/>
              </a:ext>
            </a:extLst>
          </p:cNvPr>
          <p:cNvSpPr>
            <a:spLocks xmlns:a="http://schemas.openxmlformats.org/drawingml/2006/main" noGrp="1"/>
          </p:cNvSpPr>
          <p:nvPr/>
        </p:nvSpPr>
        <p:spPr>
          <a:xfrm xmlns:a="http://schemas.openxmlformats.org/drawingml/2006/main">
            <a:off x="707956" y="3704721"/>
            <a:ext cx="126603" cy="107611"/>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7" name="Google Shape;487;p5">
            <a:extLst xmlns:a="http://schemas.openxmlformats.org/drawingml/2006/main">
              <a:ext uri="{FF2B5EF4-FFF2-40B4-BE49-F238E27FC236}">
                <a16:creationId xmlns:a16="http://schemas.microsoft.com/office/drawing/2014/main" id="{5C9A6D18-1DDF-404D-855F-1304A2ED6C03}"/>
              </a:ext>
            </a:extLst>
          </p:cNvPr>
          <p:cNvSpPr>
            <a:spLocks xmlns:a="http://schemas.openxmlformats.org/drawingml/2006/main" noGrp="1"/>
          </p:cNvSpPr>
          <p:nvPr/>
        </p:nvSpPr>
        <p:spPr>
          <a:xfrm xmlns:a="http://schemas.openxmlformats.org/drawingml/2006/main">
            <a:off x="682662" y="3833724"/>
            <a:ext cx="193802" cy="193547"/>
          </a:xfrm>
          <a:prstGeom xmlns:a="http://schemas.openxmlformats.org/drawingml/2006/main" prst="roundRect">
            <a:avLst>
              <a:gd name="adj" fmla="val 34783"/>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cxnSp>
        <p:nvCxnSpPr>
          <p:cNvPr id="814" name="Google Shape;488;p5"/>
          <p:cNvCxnSpPr/>
          <p:nvPr/>
        </p:nvCxnSpPr>
        <p:spPr>
          <a:xfrm xmlns:a="http://schemas.openxmlformats.org/drawingml/2006/main">
            <a:off x="834429" y="3898226"/>
            <a:ext cx="109501" cy="2"/>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sp>
        <p:nvSpPr>
          <p:cNvPr id="489" name="Google Shape;489;p5">
            <a:extLst xmlns:a="http://schemas.openxmlformats.org/drawingml/2006/main">
              <a:ext uri="{FF2B5EF4-FFF2-40B4-BE49-F238E27FC236}">
                <a16:creationId xmlns:a16="http://schemas.microsoft.com/office/drawing/2014/main" id="{796C344B-7152-41B7-9F9E-71C7C80D31CD}"/>
              </a:ext>
            </a:extLst>
          </p:cNvPr>
          <p:cNvSpPr>
            <a:spLocks xmlns:a="http://schemas.openxmlformats.org/drawingml/2006/main" noGrp="1"/>
          </p:cNvSpPr>
          <p:nvPr/>
        </p:nvSpPr>
        <p:spPr>
          <a:xfrm xmlns:a="http://schemas.openxmlformats.org/drawingml/2006/main">
            <a:off x="935608" y="3647385"/>
            <a:ext cx="202502" cy="2286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B8548"/>
              </a:buClr>
              <a:buSzPts val="1600"/>
              <a:buFont typeface="Arial"/>
              <a:buNone/>
            </a:pPr>
            <a:r>
              <a:rPr sz="1600" b="1" i="0" u="none" strike="noStrike" cap="none">
                <a:solidFill>
                  <a:srgbClr val="2B8548"/>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90" name="Google Shape;490;p5">
            <a:extLst xmlns:a="http://schemas.openxmlformats.org/drawingml/2006/main">
              <a:ext uri="{FF2B5EF4-FFF2-40B4-BE49-F238E27FC236}">
                <a16:creationId xmlns:a16="http://schemas.microsoft.com/office/drawing/2014/main" id="{7F64D41C-BD1C-435A-B438-77095D9C3909}"/>
              </a:ext>
            </a:extLst>
          </p:cNvPr>
          <p:cNvSpPr>
            <a:spLocks xmlns:a="http://schemas.openxmlformats.org/drawingml/2006/main" noGrp="1"/>
          </p:cNvSpPr>
          <p:nvPr/>
        </p:nvSpPr>
        <p:spPr>
          <a:xfrm xmlns:a="http://schemas.openxmlformats.org/drawingml/2006/main">
            <a:off x="1458367" y="3518384"/>
            <a:ext cx="2192100" cy="1478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100"/>
              <a:buFont typeface="Arial"/>
              <a:buNone/>
            </a:pPr>
            <a:r>
              <a:rPr sz="1100" b="1" i="0" u="none" strike="noStrike" cap="none">
                <a:solidFill>
                  <a:srgbClr val="0072BC"/>
                </a:solidFill>
                <a:latin typeface="Arial"/>
                <a:ea typeface="Arial"/>
                <a:cs typeface="Arial"/>
              </a:rPr>
              <a:t>OPERATIONAL FEASIBILITY</a:t>
            </a:r>
            <a:endParaRPr sz="1400" b="0" i="0" u="none" strike="noStrike" cap="none">
              <a:solidFill>
                <a:srgbClr val="000000"/>
              </a:solidFill>
              <a:latin typeface="Arial"/>
              <a:ea typeface="Arial"/>
              <a:cs typeface="Arial"/>
            </a:endParaRPr>
          </a:p>
        </p:txBody>
      </p:sp>
      <p:sp>
        <p:nvSpPr>
          <p:cNvPr id="491" name="Google Shape;491;p5">
            <a:extLst xmlns:a="http://schemas.openxmlformats.org/drawingml/2006/main">
              <a:ext uri="{FF2B5EF4-FFF2-40B4-BE49-F238E27FC236}">
                <a16:creationId xmlns:a16="http://schemas.microsoft.com/office/drawing/2014/main" id="{1BDC99D6-19A8-4383-A5E8-0FA96E6A4F02}"/>
              </a:ext>
            </a:extLst>
          </p:cNvPr>
          <p:cNvSpPr>
            <a:spLocks xmlns:a="http://schemas.openxmlformats.org/drawingml/2006/main" noGrp="1"/>
          </p:cNvSpPr>
          <p:nvPr/>
        </p:nvSpPr>
        <p:spPr>
          <a:xfrm xmlns:a="http://schemas.openxmlformats.org/drawingml/2006/main">
            <a:off x="1458367" y="3719055"/>
            <a:ext cx="21921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Evidence for officer review.</a:t>
            </a:r>
            <a:endParaRPr sz="12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Clear stale-data warnings.</a:t>
            </a:r>
            <a:endParaRPr sz="12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Versioned forecast records.</a:t>
            </a:r>
            <a:endParaRPr sz="1400" b="0" i="0" u="none" strike="noStrike" cap="none">
              <a:solidFill>
                <a:srgbClr val="000000"/>
              </a:solidFill>
              <a:latin typeface="Arial"/>
              <a:ea typeface="Arial"/>
              <a:cs typeface="Arial"/>
            </a:endParaRPr>
          </a:p>
        </p:txBody>
      </p:sp>
      <p:sp>
        <p:nvSpPr>
          <p:cNvPr id="492" name="Google Shape;492;p5">
            <a:extLst xmlns:a="http://schemas.openxmlformats.org/drawingml/2006/main">
              <a:ext uri="{FF2B5EF4-FFF2-40B4-BE49-F238E27FC236}">
                <a16:creationId xmlns:a16="http://schemas.microsoft.com/office/drawing/2014/main" id="{EA970834-21A1-4F68-90AB-A5F82F723B2E}"/>
              </a:ext>
            </a:extLst>
          </p:cNvPr>
          <p:cNvSpPr>
            <a:spLocks xmlns:a="http://schemas.openxmlformats.org/drawingml/2006/main" noGrp="1"/>
          </p:cNvSpPr>
          <p:nvPr/>
        </p:nvSpPr>
        <p:spPr>
          <a:xfrm xmlns:a="http://schemas.openxmlformats.org/drawingml/2006/main">
            <a:off x="285825" y="4299575"/>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3" name="Google Shape;493;p5">
            <a:extLst xmlns:a="http://schemas.openxmlformats.org/drawingml/2006/main">
              <a:ext uri="{FF2B5EF4-FFF2-40B4-BE49-F238E27FC236}">
                <a16:creationId xmlns:a16="http://schemas.microsoft.com/office/drawing/2014/main" id="{D6BA1D49-1530-4AFC-8956-05BCA029686F}"/>
              </a:ext>
            </a:extLst>
          </p:cNvPr>
          <p:cNvSpPr>
            <a:spLocks xmlns:a="http://schemas.openxmlformats.org/drawingml/2006/main" noGrp="1"/>
          </p:cNvSpPr>
          <p:nvPr/>
        </p:nvSpPr>
        <p:spPr>
          <a:xfrm xmlns:a="http://schemas.openxmlformats.org/drawingml/2006/main">
            <a:off x="2900165" y="4328235"/>
            <a:ext cx="826201" cy="702271"/>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4" name="Google Shape;494;p5">
            <a:extLst xmlns:a="http://schemas.openxmlformats.org/drawingml/2006/main">
              <a:ext uri="{FF2B5EF4-FFF2-40B4-BE49-F238E27FC236}">
                <a16:creationId xmlns:a16="http://schemas.microsoft.com/office/drawing/2014/main" id="{B306D6C1-6710-4104-91D4-DAD2E6E6DD3E}"/>
              </a:ext>
            </a:extLst>
          </p:cNvPr>
          <p:cNvSpPr>
            <a:spLocks xmlns:a="http://schemas.openxmlformats.org/drawingml/2006/main" noGrp="1"/>
          </p:cNvSpPr>
          <p:nvPr/>
        </p:nvSpPr>
        <p:spPr>
          <a:xfrm xmlns:a="http://schemas.openxmlformats.org/drawingml/2006/main">
            <a:off x="2976049" y="4392736"/>
            <a:ext cx="674402" cy="573243"/>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5" name="Google Shape;495;p5">
            <a:extLst xmlns:a="http://schemas.openxmlformats.org/drawingml/2006/main">
              <a:ext uri="{FF2B5EF4-FFF2-40B4-BE49-F238E27FC236}">
                <a16:creationId xmlns:a16="http://schemas.microsoft.com/office/drawing/2014/main" id="{C5490BE9-5C83-41A3-85B5-4C9BEC8165A6}"/>
              </a:ext>
            </a:extLst>
          </p:cNvPr>
          <p:cNvSpPr>
            <a:spLocks xmlns:a="http://schemas.openxmlformats.org/drawingml/2006/main" noGrp="1"/>
          </p:cNvSpPr>
          <p:nvPr/>
        </p:nvSpPr>
        <p:spPr>
          <a:xfrm xmlns:a="http://schemas.openxmlformats.org/drawingml/2006/main">
            <a:off x="3136251" y="4471573"/>
            <a:ext cx="362700" cy="308297"/>
          </a:xfrm>
          <a:prstGeom xmlns:a="http://schemas.openxmlformats.org/drawingml/2006/main" prst="pentagon">
            <a:avLst>
              <a:gd name="hf" fmla="val 105146"/>
              <a:gd name="vf" fmla="val 110557"/>
            </a:avLst>
          </a:prstGeom>
          <a:solidFill xmlns:a="http://schemas.openxmlformats.org/drawingml/2006/main">
            <a:srgbClr val="F3C84C"/>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6" name="Google Shape;496;p5">
            <a:extLst xmlns:a="http://schemas.openxmlformats.org/drawingml/2006/main">
              <a:ext uri="{FF2B5EF4-FFF2-40B4-BE49-F238E27FC236}">
                <a16:creationId xmlns:a16="http://schemas.microsoft.com/office/drawing/2014/main" id="{6390104F-A961-4FF7-9E8E-7ECFAE64C306}"/>
              </a:ext>
            </a:extLst>
          </p:cNvPr>
          <p:cNvSpPr>
            <a:spLocks xmlns:a="http://schemas.openxmlformats.org/drawingml/2006/main" noGrp="1"/>
          </p:cNvSpPr>
          <p:nvPr/>
        </p:nvSpPr>
        <p:spPr>
          <a:xfrm xmlns:a="http://schemas.openxmlformats.org/drawingml/2006/main">
            <a:off x="3220566" y="4478740"/>
            <a:ext cx="210900" cy="279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B8548"/>
              </a:buClr>
              <a:buSzPts val="1900"/>
              <a:buFont typeface="Arial"/>
              <a:buNone/>
            </a:pPr>
            <a:r>
              <a:rPr sz="1900" b="1" i="0" u="none" strike="noStrike" cap="none">
                <a:solidFill>
                  <a:srgbClr val="2B8548"/>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97" name="Google Shape;497;p5">
            <a:extLst xmlns:a="http://schemas.openxmlformats.org/drawingml/2006/main">
              <a:ext uri="{FF2B5EF4-FFF2-40B4-BE49-F238E27FC236}">
                <a16:creationId xmlns:a16="http://schemas.microsoft.com/office/drawing/2014/main" id="{0B2826A7-3303-4979-ACF3-BFE730A1EA3D}"/>
              </a:ext>
            </a:extLst>
          </p:cNvPr>
          <p:cNvSpPr>
            <a:spLocks xmlns:a="http://schemas.openxmlformats.org/drawingml/2006/main" noGrp="1"/>
          </p:cNvSpPr>
          <p:nvPr/>
        </p:nvSpPr>
        <p:spPr>
          <a:xfrm xmlns:a="http://schemas.openxmlformats.org/drawingml/2006/main">
            <a:off x="3085662"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8" name="Google Shape;498;p5">
            <a:extLst xmlns:a="http://schemas.openxmlformats.org/drawingml/2006/main">
              <a:ext uri="{FF2B5EF4-FFF2-40B4-BE49-F238E27FC236}">
                <a16:creationId xmlns:a16="http://schemas.microsoft.com/office/drawing/2014/main" id="{0194B22F-E879-4B97-B0F5-990D58638CE6}"/>
              </a:ext>
            </a:extLst>
          </p:cNvPr>
          <p:cNvSpPr>
            <a:spLocks xmlns:a="http://schemas.openxmlformats.org/drawingml/2006/main" noGrp="1"/>
          </p:cNvSpPr>
          <p:nvPr/>
        </p:nvSpPr>
        <p:spPr>
          <a:xfrm xmlns:a="http://schemas.openxmlformats.org/drawingml/2006/main">
            <a:off x="3060367"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9" name="Google Shape;499;p5">
            <a:extLst xmlns:a="http://schemas.openxmlformats.org/drawingml/2006/main">
              <a:ext uri="{FF2B5EF4-FFF2-40B4-BE49-F238E27FC236}">
                <a16:creationId xmlns:a16="http://schemas.microsoft.com/office/drawing/2014/main" id="{E1505D62-BE61-45F1-A615-B37FCDECACC6}"/>
              </a:ext>
            </a:extLst>
          </p:cNvPr>
          <p:cNvSpPr>
            <a:spLocks xmlns:a="http://schemas.openxmlformats.org/drawingml/2006/main" noGrp="1"/>
          </p:cNvSpPr>
          <p:nvPr/>
        </p:nvSpPr>
        <p:spPr>
          <a:xfrm xmlns:a="http://schemas.openxmlformats.org/drawingml/2006/main">
            <a:off x="3254292"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0" name="Google Shape;500;p5">
            <a:extLst xmlns:a="http://schemas.openxmlformats.org/drawingml/2006/main">
              <a:ext uri="{FF2B5EF4-FFF2-40B4-BE49-F238E27FC236}">
                <a16:creationId xmlns:a16="http://schemas.microsoft.com/office/drawing/2014/main" id="{1F0A5EC1-6408-45DE-8B80-64D8B310B580}"/>
              </a:ext>
            </a:extLst>
          </p:cNvPr>
          <p:cNvSpPr>
            <a:spLocks xmlns:a="http://schemas.openxmlformats.org/drawingml/2006/main" noGrp="1"/>
          </p:cNvSpPr>
          <p:nvPr/>
        </p:nvSpPr>
        <p:spPr>
          <a:xfrm xmlns:a="http://schemas.openxmlformats.org/drawingml/2006/main">
            <a:off x="3228999"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1" name="Google Shape;501;p5">
            <a:extLst xmlns:a="http://schemas.openxmlformats.org/drawingml/2006/main">
              <a:ext uri="{FF2B5EF4-FFF2-40B4-BE49-F238E27FC236}">
                <a16:creationId xmlns:a16="http://schemas.microsoft.com/office/drawing/2014/main" id="{8CDF1124-3C2A-4645-A2D6-939E8A723AF1}"/>
              </a:ext>
            </a:extLst>
          </p:cNvPr>
          <p:cNvSpPr>
            <a:spLocks xmlns:a="http://schemas.openxmlformats.org/drawingml/2006/main" noGrp="1"/>
          </p:cNvSpPr>
          <p:nvPr/>
        </p:nvSpPr>
        <p:spPr>
          <a:xfrm xmlns:a="http://schemas.openxmlformats.org/drawingml/2006/main">
            <a:off x="3422925"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2" name="Google Shape;502;p5">
            <a:extLst xmlns:a="http://schemas.openxmlformats.org/drawingml/2006/main">
              <a:ext uri="{FF2B5EF4-FFF2-40B4-BE49-F238E27FC236}">
                <a16:creationId xmlns:a16="http://schemas.microsoft.com/office/drawing/2014/main" id="{576DDD68-8204-4CB2-866C-E43803CC0A35}"/>
              </a:ext>
            </a:extLst>
          </p:cNvPr>
          <p:cNvSpPr>
            <a:spLocks xmlns:a="http://schemas.openxmlformats.org/drawingml/2006/main" noGrp="1"/>
          </p:cNvSpPr>
          <p:nvPr/>
        </p:nvSpPr>
        <p:spPr>
          <a:xfrm xmlns:a="http://schemas.openxmlformats.org/drawingml/2006/main">
            <a:off x="3397629"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3" name="Google Shape;503;p5">
            <a:extLst xmlns:a="http://schemas.openxmlformats.org/drawingml/2006/main">
              <a:ext uri="{FF2B5EF4-FFF2-40B4-BE49-F238E27FC236}">
                <a16:creationId xmlns:a16="http://schemas.microsoft.com/office/drawing/2014/main" id="{72F14FF8-6953-4D56-91D4-DDAE6CFFC7C4}"/>
              </a:ext>
            </a:extLst>
          </p:cNvPr>
          <p:cNvSpPr>
            <a:spLocks xmlns:a="http://schemas.openxmlformats.org/drawingml/2006/main" noGrp="1"/>
          </p:cNvSpPr>
          <p:nvPr/>
        </p:nvSpPr>
        <p:spPr>
          <a:xfrm xmlns:a="http://schemas.openxmlformats.org/drawingml/2006/main">
            <a:off x="640503" y="4364070"/>
            <a:ext cx="2175301"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000"/>
              <a:buFont typeface="Arial"/>
              <a:buNone/>
            </a:pPr>
            <a:r>
              <a:rPr sz="1000" b="1" i="0" u="none" strike="noStrike" cap="none">
                <a:solidFill>
                  <a:srgbClr val="0072BC"/>
                </a:solidFill>
                <a:latin typeface="Arial"/>
                <a:ea typeface="Arial"/>
                <a:cs typeface="Arial"/>
              </a:rPr>
              <a:t>PUBLIC-SERVICE FEASIBILITY</a:t>
            </a:r>
            <a:endParaRPr sz="1400" b="0" i="0" u="none" strike="noStrike" cap="none">
              <a:solidFill>
                <a:srgbClr val="000000"/>
              </a:solidFill>
              <a:latin typeface="Arial"/>
              <a:ea typeface="Arial"/>
              <a:cs typeface="Arial"/>
            </a:endParaRPr>
          </a:p>
        </p:txBody>
      </p:sp>
      <p:sp>
        <p:nvSpPr>
          <p:cNvPr id="504" name="Google Shape;504;p5">
            <a:extLst xmlns:a="http://schemas.openxmlformats.org/drawingml/2006/main">
              <a:ext uri="{FF2B5EF4-FFF2-40B4-BE49-F238E27FC236}">
                <a16:creationId xmlns:a16="http://schemas.microsoft.com/office/drawing/2014/main" id="{577C693E-9DB9-422A-9724-295161B4F948}"/>
              </a:ext>
            </a:extLst>
          </p:cNvPr>
          <p:cNvSpPr>
            <a:spLocks xmlns:a="http://schemas.openxmlformats.org/drawingml/2006/main" noGrp="1"/>
          </p:cNvSpPr>
          <p:nvPr/>
        </p:nvSpPr>
        <p:spPr>
          <a:xfrm xmlns:a="http://schemas.openxmlformats.org/drawingml/2006/main">
            <a:off x="640503" y="4564741"/>
            <a:ext cx="2175301"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Local language guidance.</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Consent for rain reports.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Coarse location by default.</a:t>
            </a:r>
            <a:endParaRPr sz="1400" b="0" i="0" u="none" strike="noStrike" cap="none">
              <a:solidFill>
                <a:srgbClr val="000000"/>
              </a:solidFill>
              <a:latin typeface="Arial"/>
              <a:ea typeface="Arial"/>
              <a:cs typeface="Arial"/>
            </a:endParaRPr>
          </a:p>
        </p:txBody>
      </p:sp>
      <p:cxnSp>
        <p:nvCxnSpPr>
          <p:cNvPr id="831" name="Google Shape;505;p5"/>
          <p:cNvCxnSpPr/>
          <p:nvPr/>
        </p:nvCxnSpPr>
        <p:spPr>
          <a:xfrm xmlns:a="http://schemas.openxmlformats.org/drawingml/2006/main" flipH="1">
            <a:off x="3962400" y="1304924"/>
            <a:ext cx="2" cy="4848227"/>
          </a:xfrm>
          <a:prstGeom xmlns:a="http://schemas.openxmlformats.org/drawingml/2006/main" prst="straightConnector1">
            <a:avLst/>
          </a:prstGeom>
          <a:ln xmlns:a="http://schemas.openxmlformats.org/drawingml/2006/main" w="10475" cap="flat">
            <a:solidFill>
              <a:srgbClr val="46515D"/>
            </a:solidFill>
            <a:prstDash val="solid"/>
            <a:round/>
            <a:headEnd type="none" w="sm" len="sm"/>
            <a:tailEnd type="none" w="sm" len="sm"/>
          </a:ln>
        </p:spPr>
      </p:cxnSp>
      <p:cxnSp>
        <p:nvCxnSpPr>
          <p:cNvPr id="832" name="Google Shape;506;p5"/>
          <p:cNvCxnSpPr/>
          <p:nvPr/>
        </p:nvCxnSpPr>
        <p:spPr>
          <a:xfrm xmlns:a="http://schemas.openxmlformats.org/drawingml/2006/main" flipH="1">
            <a:off x="7143749" y="1304924"/>
            <a:ext cx="2" cy="4848227"/>
          </a:xfrm>
          <a:prstGeom xmlns:a="http://schemas.openxmlformats.org/drawingml/2006/main" prst="straightConnector1">
            <a:avLst/>
          </a:prstGeom>
          <a:ln xmlns:a="http://schemas.openxmlformats.org/drawingml/2006/main" w="10475" cap="flat">
            <a:solidFill>
              <a:srgbClr val="46515D"/>
            </a:solidFill>
            <a:prstDash val="solid"/>
            <a:round/>
            <a:headEnd type="none" w="sm" len="sm"/>
            <a:tailEnd type="none" w="sm" len="sm"/>
          </a:ln>
        </p:spPr>
      </p:cxnSp>
      <p:sp>
        <p:nvSpPr>
          <p:cNvPr id="507" name="Google Shape;507;p5">
            <a:extLst xmlns:a="http://schemas.openxmlformats.org/drawingml/2006/main">
              <a:ext uri="{FF2B5EF4-FFF2-40B4-BE49-F238E27FC236}">
                <a16:creationId xmlns:a16="http://schemas.microsoft.com/office/drawing/2014/main" id="{02296FDE-C697-4FB7-A70C-5791D0950898}"/>
              </a:ext>
            </a:extLst>
          </p:cNvPr>
          <p:cNvSpPr>
            <a:spLocks xmlns:a="http://schemas.openxmlformats.org/drawingml/2006/main" noGrp="1"/>
          </p:cNvSpPr>
          <p:nvPr/>
        </p:nvSpPr>
        <p:spPr>
          <a:xfrm xmlns:a="http://schemas.openxmlformats.org/drawingml/2006/main">
            <a:off x="4038600" y="1304925"/>
            <a:ext cx="3028950" cy="342900"/>
          </a:xfrm>
          <a:prstGeom xmlns:a="http://schemas.openxmlformats.org/drawingml/2006/main" prst="rect">
            <a:avLst/>
          </a:prstGeom>
          <a:solidFill xmlns:a="http://schemas.openxmlformats.org/drawingml/2006/main">
            <a:srgbClr val="0072B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8" name="Google Shape;508;p5">
            <a:extLst xmlns:a="http://schemas.openxmlformats.org/drawingml/2006/main">
              <a:ext uri="{FF2B5EF4-FFF2-40B4-BE49-F238E27FC236}">
                <a16:creationId xmlns:a16="http://schemas.microsoft.com/office/drawing/2014/main" id="{4471886F-A5E8-4A8D-9F9A-42B0D29DDA41}"/>
              </a:ext>
            </a:extLst>
          </p:cNvPr>
          <p:cNvSpPr>
            <a:spLocks xmlns:a="http://schemas.openxmlformats.org/drawingml/2006/main" noGrp="1"/>
          </p:cNvSpPr>
          <p:nvPr/>
        </p:nvSpPr>
        <p:spPr>
          <a:xfrm xmlns:a="http://schemas.openxmlformats.org/drawingml/2006/main">
            <a:off x="4086225" y="1343024"/>
            <a:ext cx="2933700"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700"/>
              <a:buFont typeface="Arial"/>
              <a:buNone/>
            </a:pPr>
            <a:r>
              <a:rPr sz="1700" b="1" i="0" u="none" strike="noStrike" cap="none">
                <a:solidFill>
                  <a:srgbClr val="FFFFFF"/>
                </a:solidFill>
                <a:latin typeface="Arial"/>
                <a:ea typeface="Arial"/>
                <a:cs typeface="Arial"/>
              </a:rPr>
              <a:t>ACCURACY CHECKS</a:t>
            </a:r>
            <a:endParaRPr sz="1400" b="0" i="0" u="none" strike="noStrike" cap="none">
              <a:solidFill>
                <a:srgbClr val="000000"/>
              </a:solidFill>
              <a:latin typeface="Arial"/>
              <a:ea typeface="Arial"/>
              <a:cs typeface="Arial"/>
            </a:endParaRPr>
          </a:p>
        </p:txBody>
      </p:sp>
      <p:sp>
        <p:nvSpPr>
          <p:cNvPr id="510" name="Google Shape;510;p5">
            <a:extLst xmlns:a="http://schemas.openxmlformats.org/drawingml/2006/main">
              <a:ext uri="{FF2B5EF4-FFF2-40B4-BE49-F238E27FC236}">
                <a16:creationId xmlns:a16="http://schemas.microsoft.com/office/drawing/2014/main" id="{B9B7E3B0-09F1-4AD6-91FB-6072DEFA5918}"/>
              </a:ext>
            </a:extLst>
          </p:cNvPr>
          <p:cNvSpPr>
            <a:spLocks xmlns:a="http://schemas.openxmlformats.org/drawingml/2006/main" noGrp="1"/>
          </p:cNvSpPr>
          <p:nvPr/>
        </p:nvSpPr>
        <p:spPr>
          <a:xfrm xmlns:a="http://schemas.openxmlformats.org/drawingml/2006/main">
            <a:off x="4038600" y="4714875"/>
            <a:ext cx="3028950" cy="137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52687E"/>
              </a:buClr>
              <a:buSzPts val="900"/>
              <a:buFont typeface="Arial"/>
              <a:buNone/>
            </a:pPr>
            <a:r>
              <a:rPr sz="900" b="0" i="0" u="none" strike="noStrike" cap="none">
                <a:solidFill>
                  <a:srgbClr val="52687E"/>
                </a:solidFill>
                <a:latin typeface="Arial"/>
                <a:ea typeface="Arial"/>
                <a:cs typeface="Arial"/>
              </a:rPr>
              <a:t>Research gates before public model alerts</a:t>
            </a:r>
            <a:endParaRPr sz="1400" b="0" i="0" u="none" strike="noStrike" cap="none">
              <a:solidFill>
                <a:srgbClr val="000000"/>
              </a:solidFill>
              <a:latin typeface="Arial"/>
              <a:ea typeface="Arial"/>
              <a:cs typeface="Arial"/>
            </a:endParaRPr>
          </a:p>
        </p:txBody>
      </p:sp>
      <p:sp>
        <p:nvSpPr>
          <p:cNvPr id="511" name="Google Shape;511;p5">
            <a:extLst xmlns:a="http://schemas.openxmlformats.org/drawingml/2006/main">
              <a:ext uri="{FF2B5EF4-FFF2-40B4-BE49-F238E27FC236}">
                <a16:creationId xmlns:a16="http://schemas.microsoft.com/office/drawing/2014/main" id="{12416A33-AC7E-4ABF-A1FD-E902691A1811}"/>
              </a:ext>
            </a:extLst>
          </p:cNvPr>
          <p:cNvSpPr>
            <a:spLocks xmlns:a="http://schemas.openxmlformats.org/drawingml/2006/main" noGrp="1"/>
          </p:cNvSpPr>
          <p:nvPr/>
        </p:nvSpPr>
        <p:spPr>
          <a:xfrm xmlns:a="http://schemas.openxmlformats.org/drawingml/2006/main">
            <a:off x="4038600" y="4953000"/>
            <a:ext cx="3029100" cy="1278600"/>
          </a:xfrm>
          <a:prstGeom xmlns:a="http://schemas.openxmlformats.org/drawingml/2006/main" prst="roundRect">
            <a:avLst>
              <a:gd name="adj" fmla="val 15873"/>
            </a:avLst>
          </a:prstGeom>
          <a:solidFill xmlns:a="http://schemas.openxmlformats.org/drawingml/2006/main">
            <a:srgbClr val="F3F3F3"/>
          </a:solidFill>
          <a:ln xmlns:a="http://schemas.openxmlformats.org/drawingml/2006/main" w="10475" cap="flat" cmpd="sng">
            <a:solidFill>
              <a:srgbClr val="5177A0"/>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12" name="Google Shape;512;p5">
            <a:extLst xmlns:a="http://schemas.openxmlformats.org/drawingml/2006/main">
              <a:ext uri="{FF2B5EF4-FFF2-40B4-BE49-F238E27FC236}">
                <a16:creationId xmlns:a16="http://schemas.microsoft.com/office/drawing/2014/main" id="{11580ED1-C09D-45CE-8238-765C1C894353}"/>
              </a:ext>
            </a:extLst>
          </p:cNvPr>
          <p:cNvSpPr>
            <a:spLocks xmlns:a="http://schemas.openxmlformats.org/drawingml/2006/main" noGrp="1"/>
          </p:cNvSpPr>
          <p:nvPr/>
        </p:nvSpPr>
        <p:spPr>
          <a:xfrm xmlns:a="http://schemas.openxmlformats.org/drawingml/2006/main">
            <a:off x="4143375" y="5038725"/>
            <a:ext cx="2819400" cy="2219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REQUIREMENTS</a:t>
            </a:r>
            <a:endParaRPr sz="1400" b="0" i="0" u="none" strike="noStrike" cap="none">
              <a:solidFill>
                <a:srgbClr val="000000"/>
              </a:solidFill>
              <a:latin typeface="Arial"/>
              <a:ea typeface="Arial"/>
              <a:cs typeface="Arial"/>
            </a:endParaRPr>
          </a:p>
        </p:txBody>
      </p:sp>
      <p:sp>
        <p:nvSpPr>
          <p:cNvPr id="513" name="Google Shape;513;p5">
            <a:extLst xmlns:a="http://schemas.openxmlformats.org/drawingml/2006/main">
              <a:ext uri="{FF2B5EF4-FFF2-40B4-BE49-F238E27FC236}">
                <a16:creationId xmlns:a16="http://schemas.microsoft.com/office/drawing/2014/main" id="{5414813B-71CC-4ABD-A88A-FE6CD16DCFF6}"/>
              </a:ext>
            </a:extLst>
          </p:cNvPr>
          <p:cNvSpPr>
            <a:spLocks xmlns:a="http://schemas.openxmlformats.org/drawingml/2006/main" noGrp="1"/>
          </p:cNvSpPr>
          <p:nvPr/>
        </p:nvSpPr>
        <p:spPr>
          <a:xfrm xmlns:a="http://schemas.openxmlformats.org/drawingml/2006/main">
            <a:off x="4181475" y="5343524"/>
            <a:ext cx="274320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Matched NCR observations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CPU / GPU research worker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Versioned labels + coverage</a:t>
            </a:r>
            <a:endParaRPr sz="1400" b="0" i="0" u="none" strike="noStrike" cap="none">
              <a:solidFill>
                <a:srgbClr val="000000"/>
              </a:solidFill>
              <a:latin typeface="Arial"/>
              <a:ea typeface="Arial"/>
              <a:cs typeface="Arial"/>
            </a:endParaRPr>
          </a:p>
        </p:txBody>
      </p:sp>
      <p:graphicFrame>
        <p:nvGraphicFramePr>
          <p:cNvPr id="839" name="Google Shape;514;p5"/>
          <p:cNvGraphicFramePr/>
          <p:nvPr/>
        </p:nvGraphicFramePr>
        <p:xfrm>
          <a:off xmlns:a="http://schemas.openxmlformats.org/drawingml/2006/main" x="7219950" y="1304925"/>
          <a:ext xmlns:a="http://schemas.openxmlformats.org/drawingml/2006/main" cx="3000000" cy="3000000"/>
        </p:xfrm>
        <a:graphic xmlns:a="http://schemas.openxmlformats.org/drawingml/2006/main">
          <a:graphicData uri="http://schemas.openxmlformats.org/drawingml/2006/table">
            <a:tbl>
              <a:tblPr>
                <a:tableStyleId>{4051FD5F-A2FE-4DEC-9349-808E35BEFF39}</a:tableStyleId>
              </a:tblPr>
              <a:tblGrid>
                <a:gridCol w="1809975"/>
                <a:gridCol w="2842325"/>
              </a:tblGrid>
              <a:tr h="343300">
                <a:tc>
                  <a:txBody>
                    <a:bodyPr/>
                    <a:lstStyle/>
                    <a:p>
                      <a:pPr marL="0" marR="0" lvl="0" indent="0" algn="ctr">
                        <a:lnSpc>
                          <a:spcPct val="100000"/>
                        </a:lnSpc>
                        <a:spcBef>
                          <a:spcPts val="0"/>
                        </a:spcBef>
                        <a:spcAft>
                          <a:spcPts val="0"/>
                        </a:spcAft>
                        <a:buClr>
                          <a:srgbClr val="FFFFFF"/>
                        </a:buClr>
                        <a:buSzPts val="1700"/>
                        <a:buFont typeface="Arial"/>
                        <a:buNone/>
                      </a:pPr>
                      <a:r>
                        <a:rPr sz="1700" b="1" u="none" strike="noStrike" cap="none">
                          <a:solidFill>
                            <a:srgbClr val="FFFFFF"/>
                          </a:solidFill>
                        </a:rPr>
                        <a:t>CHALLENGES</a:t>
                      </a:r>
                      <a:endParaRPr sz="1400" u="none" strike="noStrike" cap="none"/>
                    </a:p>
                  </a:txBody>
                  <a:tcPr marL="0" marR="0" marT="0" marB="0" anchor="ctr">
                    <a:lnL w="9525" cmpd="sng">
                      <a:solidFill>
                        <a:srgbClr val="3A434C"/>
                      </a:solidFill>
                      <a:prstDash val="solid"/>
                    </a:lnL>
                    <a:lnR w="9525" cmpd="sng">
                      <a:solidFill>
                        <a:srgbClr val="3A434C"/>
                      </a:solidFill>
                      <a:prstDash val="solid"/>
                    </a:lnR>
                    <a:lnT w="9525" cmpd="sng">
                      <a:solidFill>
                        <a:srgbClr val="3A434C"/>
                      </a:solidFill>
                      <a:prstDash val="solid"/>
                    </a:lnT>
                    <a:lnB w="9525" cmpd="sng">
                      <a:solidFill>
                        <a:srgbClr val="3A434C"/>
                      </a:solidFill>
                      <a:prstDash val="dash"/>
                    </a:lnB>
                    <a:solidFill>
                      <a:srgbClr val="0072BC"/>
                    </a:solidFill>
                  </a:tcPr>
                </a:tc>
                <a:tc>
                  <a:txBody>
                    <a:bodyPr/>
                    <a:lstStyle/>
                    <a:p>
                      <a:pPr marL="0" marR="0" lvl="0" indent="0" algn="ctr">
                        <a:lnSpc>
                          <a:spcPct val="100000"/>
                        </a:lnSpc>
                        <a:spcBef>
                          <a:spcPts val="0"/>
                        </a:spcBef>
                        <a:spcAft>
                          <a:spcPts val="0"/>
                        </a:spcAft>
                        <a:buClr>
                          <a:srgbClr val="FFFFFF"/>
                        </a:buClr>
                        <a:buSzPts val="1700"/>
                        <a:buFont typeface="Arial"/>
                        <a:buNone/>
                      </a:pPr>
                      <a:r>
                        <a:rPr sz="1700" b="1" u="none" strike="noStrike" cap="none">
                          <a:solidFill>
                            <a:srgbClr val="FFFFFF"/>
                          </a:solidFill>
                        </a:rPr>
                        <a:t>STRATEGY</a:t>
                      </a:r>
                      <a:endParaRPr sz="1400" u="none" strike="noStrike" cap="none"/>
                    </a:p>
                  </a:txBody>
                  <a:tcPr marL="0" marR="0" marT="0" marB="0" anchor="ctr">
                    <a:lnL w="9525" cmpd="sng">
                      <a:solidFill>
                        <a:srgbClr val="3A434C"/>
                      </a:solidFill>
                      <a:prstDash val="solid"/>
                    </a:lnL>
                    <a:lnR w="9525" cmpd="sng">
                      <a:solidFill>
                        <a:srgbClr val="3A434C"/>
                      </a:solidFill>
                      <a:prstDash val="solid"/>
                    </a:lnR>
                    <a:lnT w="9525" cmpd="sng">
                      <a:solidFill>
                        <a:srgbClr val="3A434C"/>
                      </a:solidFill>
                      <a:prstDash val="solid"/>
                    </a:lnT>
                    <a:lnB w="9525" cmpd="sng">
                      <a:solidFill>
                        <a:srgbClr val="3A434C"/>
                      </a:solidFill>
                      <a:prstDash val="dash"/>
                    </a:lnB>
                    <a:solidFill>
                      <a:srgbClr val="0072BC"/>
                    </a:solidFill>
                  </a:tcPr>
                </a:tc>
              </a:tr>
              <a:tr h="13045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Technical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Missing or stale sensors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Quality and age masks. Preserve native resolution. Withhold a claim when coverage is unknown.</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Operational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False or missed alerts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Test on separate storms. Compare baselines. Check reliability and officer thresholds.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Social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Privacy and biased reports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b="1" u="none" strike="noStrike" cap="none">
                          <a:solidFill>
                            <a:srgbClr val="2B8548"/>
                          </a:solidFill>
                        </a:rPr>
                        <a:t>Coarse cells and consent. Deduplicate reports. Review independent corroboration.</a:t>
                      </a:r>
                      <a:endParaRPr sz="1400" u="none" strike="noStrike" cap="none">
                        <a:solidFill>
                          <a:srgbClr val="2B8548"/>
                        </a:solidFill>
                      </a:endParaRPr>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Feasibility</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Data access and compute</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Obtain permissions. Start with one region and a compact model. Measure cost per update.</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bl>
          </a:graphicData>
        </a:graphic>
      </p:graphicFrame>
      <p:pic>
        <p:nvPicPr>
          <p:cNvPr id="840" name="Google Shape;515;p5"/>
          <p:cNvPicPr>
            <a:picLocks xmlns:a="http://schemas.openxmlformats.org/drawingml/2006/main" noChangeAspect="1"/>
          </p:cNvPicPr>
          <p:nvPr/>
        </p:nvPicPr>
        <p:blipFill rotWithShape="1">
          <a:blip xmlns:r="http://schemas.openxmlformats.org/officeDocument/2006/relationships" xmlns:a="http://schemas.openxmlformats.org/drawingml/2006/main" r:embed="R3f03e7c8f7e24859">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516" name="Google Shape;516;p5">
            <a:extLst xmlns:a="http://schemas.openxmlformats.org/drawingml/2006/main">
              <a:ext uri="{FF2B5EF4-FFF2-40B4-BE49-F238E27FC236}">
                <a16:creationId xmlns:a16="http://schemas.microsoft.com/office/drawing/2014/main" id="{5F08BDE7-63D8-4BE2-B283-DC94D75D5C72}"/>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517" name="Google Shape;517;p5">
            <a:extLst xmlns:a="http://schemas.openxmlformats.org/drawingml/2006/main">
              <a:ext uri="{FF2B5EF4-FFF2-40B4-BE49-F238E27FC236}">
                <a16:creationId xmlns:a16="http://schemas.microsoft.com/office/drawing/2014/main" id="{8400D493-9357-45DE-BFE2-3E8143B9063A}"/>
              </a:ext>
            </a:extLst>
          </p:cNvPr>
          <p:cNvSpPr>
            <a:spLocks xmlns:a="http://schemas.openxmlformats.org/drawingml/2006/main" noGrp="1"/>
          </p:cNvSpPr>
          <p:nvPr/>
        </p:nvSpPr>
        <p:spPr>
          <a:xfrm xmlns:a="http://schemas.openxmlformats.org/drawingml/2006/main">
            <a:off x="343350" y="5142425"/>
            <a:ext cx="3400500" cy="1122300"/>
          </a:xfrm>
          <a:prstGeom xmlns:a="http://schemas.openxmlformats.org/drawingml/2006/main" prst="roundRect">
            <a:avLst>
              <a:gd name="adj" fmla="val 16667"/>
            </a:avLst>
          </a:prstGeom>
          <a:solidFill xmlns:a="http://schemas.openxmlformats.org/drawingml/2006/main">
            <a:srgbClr val="F3F3F3"/>
          </a:solidFill>
          <a:ln xmlns:a="http://schemas.openxmlformats.org/drawingml/2006/main" w="9525"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18" name="Google Shape;518;p5">
            <a:extLst xmlns:a="http://schemas.openxmlformats.org/drawingml/2006/main">
              <a:ext uri="{FF2B5EF4-FFF2-40B4-BE49-F238E27FC236}">
                <a16:creationId xmlns:a16="http://schemas.microsoft.com/office/drawing/2014/main" id="{E0BC7FA1-7158-4314-9A52-6CF2AFD9F458}"/>
              </a:ext>
            </a:extLst>
          </p:cNvPr>
          <p:cNvSpPr>
            <a:spLocks xmlns:a="http://schemas.openxmlformats.org/drawingml/2006/main" noGrp="1"/>
          </p:cNvSpPr>
          <p:nvPr/>
        </p:nvSpPr>
        <p:spPr>
          <a:xfrm xmlns:a="http://schemas.openxmlformats.org/drawingml/2006/main">
            <a:off x="419100" y="5219700"/>
            <a:ext cx="3381300" cy="21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400"/>
              <a:buFont typeface="Arial"/>
              <a:buNone/>
            </a:pPr>
            <a:r>
              <a:rPr sz="1400" b="1" i="0" u="none" strike="noStrike" cap="none">
                <a:solidFill>
                  <a:srgbClr val="0072BC"/>
                </a:solidFill>
                <a:latin typeface="Arial"/>
                <a:ea typeface="Arial"/>
                <a:cs typeface="Arial"/>
              </a:rPr>
              <a:t>VIABILITY</a:t>
            </a:r>
            <a:endParaRPr sz="1400" b="0" i="0" u="none" strike="noStrike" cap="none">
              <a:solidFill>
                <a:srgbClr val="000000"/>
              </a:solidFill>
              <a:latin typeface="Arial"/>
              <a:ea typeface="Arial"/>
              <a:cs typeface="Arial"/>
            </a:endParaRPr>
          </a:p>
        </p:txBody>
      </p:sp>
      <p:sp>
        <p:nvSpPr>
          <p:cNvPr id="519" name="Google Shape;519;p5">
            <a:extLst xmlns:a="http://schemas.openxmlformats.org/drawingml/2006/main">
              <a:ext uri="{FF2B5EF4-FFF2-40B4-BE49-F238E27FC236}">
                <a16:creationId xmlns:a16="http://schemas.microsoft.com/office/drawing/2014/main" id="{C3C1BE47-3E5E-49B7-BC31-0D8B7ED93A9F}"/>
              </a:ext>
            </a:extLst>
          </p:cNvPr>
          <p:cNvSpPr>
            <a:spLocks xmlns:a="http://schemas.openxmlformats.org/drawingml/2006/main" noGrp="1"/>
          </p:cNvSpPr>
          <p:nvPr/>
        </p:nvSpPr>
        <p:spPr>
          <a:xfrm xmlns:a="http://schemas.openxmlformats.org/drawingml/2006/main">
            <a:off x="771525" y="5496938"/>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Pilot with documented Indian data rights.</a:t>
            </a:r>
            <a:endParaRPr sz="1400" b="0" i="0" u="none" strike="noStrike" cap="none">
              <a:solidFill>
                <a:srgbClr val="000000"/>
              </a:solidFill>
              <a:latin typeface="Arial"/>
              <a:ea typeface="Arial"/>
              <a:cs typeface="Arial"/>
            </a:endParaRPr>
          </a:p>
        </p:txBody>
      </p:sp>
      <p:sp>
        <p:nvSpPr>
          <p:cNvPr id="520" name="Google Shape;520;p5">
            <a:extLst xmlns:a="http://schemas.openxmlformats.org/drawingml/2006/main">
              <a:ext uri="{FF2B5EF4-FFF2-40B4-BE49-F238E27FC236}">
                <a16:creationId xmlns:a16="http://schemas.microsoft.com/office/drawing/2014/main" id="{870C2E08-B153-4136-89C5-E440E40E9DEB}"/>
              </a:ext>
            </a:extLst>
          </p:cNvPr>
          <p:cNvSpPr>
            <a:spLocks xmlns:a="http://schemas.openxmlformats.org/drawingml/2006/main" noGrp="1"/>
          </p:cNvSpPr>
          <p:nvPr/>
        </p:nvSpPr>
        <p:spPr>
          <a:xfrm xmlns:a="http://schemas.openxmlformats.org/drawingml/2006/main">
            <a:off x="771525" y="5739325"/>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Measure skill, latency and useful lead time.</a:t>
            </a:r>
            <a:endParaRPr sz="1400" b="0" i="0" u="none" strike="noStrike" cap="none">
              <a:solidFill>
                <a:srgbClr val="000000"/>
              </a:solidFill>
              <a:latin typeface="Arial"/>
              <a:ea typeface="Arial"/>
              <a:cs typeface="Arial"/>
            </a:endParaRPr>
          </a:p>
        </p:txBody>
      </p:sp>
      <p:sp>
        <p:nvSpPr>
          <p:cNvPr id="521" name="Google Shape;521;p5">
            <a:extLst xmlns:a="http://schemas.openxmlformats.org/drawingml/2006/main">
              <a:ext uri="{FF2B5EF4-FFF2-40B4-BE49-F238E27FC236}">
                <a16:creationId xmlns:a16="http://schemas.microsoft.com/office/drawing/2014/main" id="{60E60D94-8076-49F4-916C-047381760387}"/>
              </a:ext>
            </a:extLst>
          </p:cNvPr>
          <p:cNvSpPr>
            <a:spLocks xmlns:a="http://schemas.openxmlformats.org/drawingml/2006/main" noGrp="1"/>
          </p:cNvSpPr>
          <p:nvPr/>
        </p:nvSpPr>
        <p:spPr>
          <a:xfrm xmlns:a="http://schemas.openxmlformats.org/drawingml/2006/main">
            <a:off x="773432" y="5981700"/>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sng" strike="noStrike" cap="none">
                <a:solidFill>
                  <a:srgbClr val="172534"/>
                </a:solidFill>
                <a:latin typeface="Arial"/>
                <a:ea typeface="Arial"/>
                <a:cs typeface="Arial"/>
              </a:rPr>
              <a:t>Scale only after independent evaluation.</a:t>
            </a:r>
            <a:endParaRPr sz="1400" b="0" i="0" u="none" strike="noStrike" cap="none">
              <a:solidFill>
                <a:srgbClr val="000000"/>
              </a:solidFill>
              <a:latin typeface="Arial"/>
              <a:ea typeface="Arial"/>
              <a:cs typeface="Arial"/>
            </a:endParaRPr>
          </a:p>
        </p:txBody>
      </p:sp>
      <p:sp>
        <p:nvSpPr>
          <p:cNvPr id="522" name="Google Shape;522;p5">
            <a:extLst xmlns:a="http://schemas.openxmlformats.org/drawingml/2006/main">
              <a:ext uri="{FF2B5EF4-FFF2-40B4-BE49-F238E27FC236}">
                <a16:creationId xmlns:a16="http://schemas.microsoft.com/office/drawing/2014/main" id="{0539CEC3-7DD8-4D08-AB38-113E9A2BFDB4}"/>
              </a:ext>
            </a:extLst>
          </p:cNvPr>
          <p:cNvSpPr>
            <a:spLocks xmlns:a="http://schemas.openxmlformats.org/drawingml/2006/main" noGrp="1"/>
          </p:cNvSpPr>
          <p:nvPr/>
        </p:nvSpPr>
        <p:spPr>
          <a:xfrm xmlns:a="http://schemas.openxmlformats.org/drawingml/2006/main">
            <a:off x="606225" y="55686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3" name="Google Shape;523;p5">
            <a:extLst xmlns:a="http://schemas.openxmlformats.org/drawingml/2006/main">
              <a:ext uri="{FF2B5EF4-FFF2-40B4-BE49-F238E27FC236}">
                <a16:creationId xmlns:a16="http://schemas.microsoft.com/office/drawing/2014/main" id="{0DA9E1AD-ABC6-4291-BF49-B70E0846DE68}"/>
              </a:ext>
            </a:extLst>
          </p:cNvPr>
          <p:cNvSpPr>
            <a:spLocks xmlns:a="http://schemas.openxmlformats.org/drawingml/2006/main" noGrp="1"/>
          </p:cNvSpPr>
          <p:nvPr/>
        </p:nvSpPr>
        <p:spPr>
          <a:xfrm xmlns:a="http://schemas.openxmlformats.org/drawingml/2006/main">
            <a:off x="606225" y="58219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4" name="Google Shape;524;p5">
            <a:extLst xmlns:a="http://schemas.openxmlformats.org/drawingml/2006/main">
              <a:ext uri="{FF2B5EF4-FFF2-40B4-BE49-F238E27FC236}">
                <a16:creationId xmlns:a16="http://schemas.microsoft.com/office/drawing/2014/main" id="{D3A01F72-7CAE-4F14-B616-31058AF3F991}"/>
              </a:ext>
            </a:extLst>
          </p:cNvPr>
          <p:cNvSpPr>
            <a:spLocks xmlns:a="http://schemas.openxmlformats.org/drawingml/2006/main" noGrp="1"/>
          </p:cNvSpPr>
          <p:nvPr/>
        </p:nvSpPr>
        <p:spPr>
          <a:xfrm xmlns:a="http://schemas.openxmlformats.org/drawingml/2006/main">
            <a:off x="606225" y="60752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8" name="Accuracy gate 1">
            <a:extLst xmlns:a="http://schemas.openxmlformats.org/drawingml/2006/main">
              <a:ext uri="{FF2B5EF4-FFF2-40B4-BE49-F238E27FC236}">
                <a16:creationId xmlns:a16="http://schemas.microsoft.com/office/drawing/2014/main" id="{844717DD-95D2-438D-B81B-7A15B6DC2FCE}"/>
              </a:ext>
            </a:extLst>
          </p:cNvPr>
          <p:cNvSpPr>
            <a:spLocks xmlns:a="http://schemas.openxmlformats.org/drawingml/2006/main" noGrp="1"/>
          </p:cNvSpPr>
          <p:nvPr/>
        </p:nvSpPr>
        <p:spPr>
          <a:xfrm xmlns:a="http://schemas.openxmlformats.org/drawingml/2006/main">
            <a:off x="4114800" y="1781175"/>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29" name="Accuracy gate 1 title">
            <a:extLst xmlns:a="http://schemas.openxmlformats.org/drawingml/2006/main">
              <a:ext uri="{FF2B5EF4-FFF2-40B4-BE49-F238E27FC236}">
                <a16:creationId xmlns:a16="http://schemas.microsoft.com/office/drawing/2014/main" id="{CCF2921A-7FE5-4710-9777-4F2A1CD5591F}"/>
              </a:ext>
            </a:extLst>
          </p:cNvPr>
          <p:cNvSpPr>
            <a:spLocks xmlns:a="http://schemas.openxmlformats.org/drawingml/2006/main" noGrp="1"/>
          </p:cNvSpPr>
          <p:nvPr/>
        </p:nvSpPr>
        <p:spPr>
          <a:xfrm xmlns:a="http://schemas.openxmlformats.org/drawingml/2006/main">
            <a:off x="4200525" y="180975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1  Freeze available inputs</a:t>
            </a:r>
          </a:p>
        </p:txBody>
      </p:sp>
      <p:sp>
        <p:nvSpPr>
          <p:cNvPr id="530" name="Accuracy gate 1 detail">
            <a:extLst xmlns:a="http://schemas.openxmlformats.org/drawingml/2006/main">
              <a:ext uri="{FF2B5EF4-FFF2-40B4-BE49-F238E27FC236}">
                <a16:creationId xmlns:a16="http://schemas.microsoft.com/office/drawing/2014/main" id="{72087541-9EE8-4A74-AA71-F7A86CF77FA7}"/>
              </a:ext>
            </a:extLst>
          </p:cNvPr>
          <p:cNvSpPr>
            <a:spLocks xmlns:a="http://schemas.openxmlformats.org/drawingml/2006/main" noGrp="1"/>
          </p:cNvSpPr>
          <p:nvPr/>
        </p:nvSpPr>
        <p:spPr>
          <a:xfrm xmlns:a="http://schemas.openxmlformats.org/drawingml/2006/main">
            <a:off x="4200525" y="202882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No future observations in a forecast</a:t>
            </a:r>
          </a:p>
        </p:txBody>
      </p:sp>
      <p:sp>
        <p:nvSpPr>
          <p:cNvPr id="531" name="Accuracy gate connector 1">
            <a:extLst xmlns:a="http://schemas.openxmlformats.org/drawingml/2006/main">
              <a:ext uri="{FF2B5EF4-FFF2-40B4-BE49-F238E27FC236}">
                <a16:creationId xmlns:a16="http://schemas.microsoft.com/office/drawing/2014/main" id="{7E14FE45-3372-4738-AEBA-CDDC7CDE6281}"/>
              </a:ext>
            </a:extLst>
          </p:cNvPr>
          <p:cNvSpPr>
            <a:spLocks xmlns:a="http://schemas.openxmlformats.org/drawingml/2006/main" noGrp="1"/>
          </p:cNvSpPr>
          <p:nvPr/>
        </p:nvSpPr>
        <p:spPr>
          <a:xfrm xmlns:a="http://schemas.openxmlformats.org/drawingml/2006/main">
            <a:off x="5505450" y="2238375"/>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32" name="Accuracy gate 2">
            <a:extLst xmlns:a="http://schemas.openxmlformats.org/drawingml/2006/main">
              <a:ext uri="{FF2B5EF4-FFF2-40B4-BE49-F238E27FC236}">
                <a16:creationId xmlns:a16="http://schemas.microsoft.com/office/drawing/2014/main" id="{5C64ABEE-4974-46FC-8980-A9D05B8343AA}"/>
              </a:ext>
            </a:extLst>
          </p:cNvPr>
          <p:cNvSpPr>
            <a:spLocks xmlns:a="http://schemas.openxmlformats.org/drawingml/2006/main" noGrp="1"/>
          </p:cNvSpPr>
          <p:nvPr/>
        </p:nvSpPr>
        <p:spPr>
          <a:xfrm xmlns:a="http://schemas.openxmlformats.org/drawingml/2006/main">
            <a:off x="4114800" y="2362200"/>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33" name="Accuracy gate 2 title">
            <a:extLst xmlns:a="http://schemas.openxmlformats.org/drawingml/2006/main">
              <a:ext uri="{FF2B5EF4-FFF2-40B4-BE49-F238E27FC236}">
                <a16:creationId xmlns:a16="http://schemas.microsoft.com/office/drawing/2014/main" id="{B27707EC-CBA5-423F-9AAB-4670AFAE3AFF}"/>
              </a:ext>
            </a:extLst>
          </p:cNvPr>
          <p:cNvSpPr>
            <a:spLocks xmlns:a="http://schemas.openxmlformats.org/drawingml/2006/main" noGrp="1"/>
          </p:cNvSpPr>
          <p:nvPr/>
        </p:nvSpPr>
        <p:spPr>
          <a:xfrm xmlns:a="http://schemas.openxmlformats.org/drawingml/2006/main">
            <a:off x="4200525" y="239077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2  Separate storm events</a:t>
            </a:r>
          </a:p>
        </p:txBody>
      </p:sp>
      <p:sp>
        <p:nvSpPr>
          <p:cNvPr id="534" name="Accuracy gate 2 detail">
            <a:extLst xmlns:a="http://schemas.openxmlformats.org/drawingml/2006/main">
              <a:ext uri="{FF2B5EF4-FFF2-40B4-BE49-F238E27FC236}">
                <a16:creationId xmlns:a16="http://schemas.microsoft.com/office/drawing/2014/main" id="{7DED1695-223F-499F-9B8C-768C07641E93}"/>
              </a:ext>
            </a:extLst>
          </p:cNvPr>
          <p:cNvSpPr>
            <a:spLocks xmlns:a="http://schemas.openxmlformats.org/drawingml/2006/main" noGrp="1"/>
          </p:cNvSpPr>
          <p:nvPr/>
        </p:nvSpPr>
        <p:spPr>
          <a:xfrm xmlns:a="http://schemas.openxmlformats.org/drawingml/2006/main">
            <a:off x="4200525" y="2609850"/>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Train, validate, calibrate, then test</a:t>
            </a:r>
          </a:p>
        </p:txBody>
      </p:sp>
      <p:sp>
        <p:nvSpPr>
          <p:cNvPr id="535" name="Accuracy gate connector 2">
            <a:extLst xmlns:a="http://schemas.openxmlformats.org/drawingml/2006/main">
              <a:ext uri="{FF2B5EF4-FFF2-40B4-BE49-F238E27FC236}">
                <a16:creationId xmlns:a16="http://schemas.microsoft.com/office/drawing/2014/main" id="{C9155626-753B-4A6C-963C-C11DD1CD9A10}"/>
              </a:ext>
            </a:extLst>
          </p:cNvPr>
          <p:cNvSpPr>
            <a:spLocks xmlns:a="http://schemas.openxmlformats.org/drawingml/2006/main" noGrp="1"/>
          </p:cNvSpPr>
          <p:nvPr/>
        </p:nvSpPr>
        <p:spPr>
          <a:xfrm xmlns:a="http://schemas.openxmlformats.org/drawingml/2006/main">
            <a:off x="5505450" y="2819400"/>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36" name="Accuracy gate 3">
            <a:extLst xmlns:a="http://schemas.openxmlformats.org/drawingml/2006/main">
              <a:ext uri="{FF2B5EF4-FFF2-40B4-BE49-F238E27FC236}">
                <a16:creationId xmlns:a16="http://schemas.microsoft.com/office/drawing/2014/main" id="{83E87019-F394-43BC-8278-AF001CAC2B6E}"/>
              </a:ext>
            </a:extLst>
          </p:cNvPr>
          <p:cNvSpPr>
            <a:spLocks xmlns:a="http://schemas.openxmlformats.org/drawingml/2006/main" noGrp="1"/>
          </p:cNvSpPr>
          <p:nvPr/>
        </p:nvSpPr>
        <p:spPr>
          <a:xfrm xmlns:a="http://schemas.openxmlformats.org/drawingml/2006/main">
            <a:off x="4114800" y="2943225"/>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37" name="Accuracy gate 3 title">
            <a:extLst xmlns:a="http://schemas.openxmlformats.org/drawingml/2006/main">
              <a:ext uri="{FF2B5EF4-FFF2-40B4-BE49-F238E27FC236}">
                <a16:creationId xmlns:a16="http://schemas.microsoft.com/office/drawing/2014/main" id="{78B2FB66-19F0-4511-8C83-92FAF65E35F7}"/>
              </a:ext>
            </a:extLst>
          </p:cNvPr>
          <p:cNvSpPr>
            <a:spLocks xmlns:a="http://schemas.openxmlformats.org/drawingml/2006/main" noGrp="1"/>
          </p:cNvSpPr>
          <p:nvPr/>
        </p:nvSpPr>
        <p:spPr>
          <a:xfrm xmlns:a="http://schemas.openxmlformats.org/drawingml/2006/main">
            <a:off x="4200525" y="297180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3  Compare baselines</a:t>
            </a:r>
          </a:p>
        </p:txBody>
      </p:sp>
      <p:sp>
        <p:nvSpPr>
          <p:cNvPr id="538" name="Accuracy gate 3 detail">
            <a:extLst xmlns:a="http://schemas.openxmlformats.org/drawingml/2006/main">
              <a:ext uri="{FF2B5EF4-FFF2-40B4-BE49-F238E27FC236}">
                <a16:creationId xmlns:a16="http://schemas.microsoft.com/office/drawing/2014/main" id="{93F93929-9D13-4E6C-9767-BBBB740BD272}"/>
              </a:ext>
            </a:extLst>
          </p:cNvPr>
          <p:cNvSpPr>
            <a:spLocks xmlns:a="http://schemas.openxmlformats.org/drawingml/2006/main" noGrp="1"/>
          </p:cNvSpPr>
          <p:nvPr/>
        </p:nvSpPr>
        <p:spPr>
          <a:xfrm xmlns:a="http://schemas.openxmlformats.org/drawingml/2006/main">
            <a:off x="4200525" y="319087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Persistence and motion on equal cases</a:t>
            </a:r>
          </a:p>
        </p:txBody>
      </p:sp>
      <p:sp>
        <p:nvSpPr>
          <p:cNvPr id="539" name="Accuracy gate connector 3">
            <a:extLst xmlns:a="http://schemas.openxmlformats.org/drawingml/2006/main">
              <a:ext uri="{FF2B5EF4-FFF2-40B4-BE49-F238E27FC236}">
                <a16:creationId xmlns:a16="http://schemas.microsoft.com/office/drawing/2014/main" id="{71EA877C-5D0C-47BA-A91D-ED6479A8BC86}"/>
              </a:ext>
            </a:extLst>
          </p:cNvPr>
          <p:cNvSpPr>
            <a:spLocks xmlns:a="http://schemas.openxmlformats.org/drawingml/2006/main" noGrp="1"/>
          </p:cNvSpPr>
          <p:nvPr/>
        </p:nvSpPr>
        <p:spPr>
          <a:xfrm xmlns:a="http://schemas.openxmlformats.org/drawingml/2006/main">
            <a:off x="5505450" y="3400425"/>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40" name="Accuracy gate 4">
            <a:extLst xmlns:a="http://schemas.openxmlformats.org/drawingml/2006/main">
              <a:ext uri="{FF2B5EF4-FFF2-40B4-BE49-F238E27FC236}">
                <a16:creationId xmlns:a16="http://schemas.microsoft.com/office/drawing/2014/main" id="{3F56D815-C2B0-47AE-82D7-2A9E8F9C11AA}"/>
              </a:ext>
            </a:extLst>
          </p:cNvPr>
          <p:cNvSpPr>
            <a:spLocks xmlns:a="http://schemas.openxmlformats.org/drawingml/2006/main" noGrp="1"/>
          </p:cNvSpPr>
          <p:nvPr/>
        </p:nvSpPr>
        <p:spPr>
          <a:xfrm xmlns:a="http://schemas.openxmlformats.org/drawingml/2006/main">
            <a:off x="4114800" y="3524250"/>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41" name="Accuracy gate 4 title">
            <a:extLst xmlns:a="http://schemas.openxmlformats.org/drawingml/2006/main">
              <a:ext uri="{FF2B5EF4-FFF2-40B4-BE49-F238E27FC236}">
                <a16:creationId xmlns:a16="http://schemas.microsoft.com/office/drawing/2014/main" id="{20D03ACE-C33B-412B-8B74-1F2732417ACD}"/>
              </a:ext>
            </a:extLst>
          </p:cNvPr>
          <p:cNvSpPr>
            <a:spLocks xmlns:a="http://schemas.openxmlformats.org/drawingml/2006/main" noGrp="1"/>
          </p:cNvSpPr>
          <p:nvPr/>
        </p:nvSpPr>
        <p:spPr>
          <a:xfrm xmlns:a="http://schemas.openxmlformats.org/drawingml/2006/main">
            <a:off x="4200525" y="355282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4  Check probabilities</a:t>
            </a:r>
          </a:p>
        </p:txBody>
      </p:sp>
      <p:sp>
        <p:nvSpPr>
          <p:cNvPr id="542" name="Accuracy gate 4 detail">
            <a:extLst xmlns:a="http://schemas.openxmlformats.org/drawingml/2006/main">
              <a:ext uri="{FF2B5EF4-FFF2-40B4-BE49-F238E27FC236}">
                <a16:creationId xmlns:a16="http://schemas.microsoft.com/office/drawing/2014/main" id="{86752278-BCA6-4341-92A3-57D7F3E93BA3}"/>
              </a:ext>
            </a:extLst>
          </p:cNvPr>
          <p:cNvSpPr>
            <a:spLocks xmlns:a="http://schemas.openxmlformats.org/drawingml/2006/main" noGrp="1"/>
          </p:cNvSpPr>
          <p:nvPr/>
        </p:nvSpPr>
        <p:spPr>
          <a:xfrm xmlns:a="http://schemas.openxmlformats.org/drawingml/2006/main">
            <a:off x="4200525" y="3771900"/>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Reliability, Brier, POD, FAR and CSI</a:t>
            </a:r>
          </a:p>
        </p:txBody>
      </p:sp>
      <p:sp>
        <p:nvSpPr>
          <p:cNvPr id="543" name="Accuracy gate connector 4">
            <a:extLst xmlns:a="http://schemas.openxmlformats.org/drawingml/2006/main">
              <a:ext uri="{FF2B5EF4-FFF2-40B4-BE49-F238E27FC236}">
                <a16:creationId xmlns:a16="http://schemas.microsoft.com/office/drawing/2014/main" id="{F36FE7CA-93CC-448F-9B2E-9A7BBE697165}"/>
              </a:ext>
            </a:extLst>
          </p:cNvPr>
          <p:cNvSpPr>
            <a:spLocks xmlns:a="http://schemas.openxmlformats.org/drawingml/2006/main" noGrp="1"/>
          </p:cNvSpPr>
          <p:nvPr/>
        </p:nvSpPr>
        <p:spPr>
          <a:xfrm xmlns:a="http://schemas.openxmlformats.org/drawingml/2006/main">
            <a:off x="5505450" y="3981450"/>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44" name="Accuracy gate 5">
            <a:extLst xmlns:a="http://schemas.openxmlformats.org/drawingml/2006/main">
              <a:ext uri="{FF2B5EF4-FFF2-40B4-BE49-F238E27FC236}">
                <a16:creationId xmlns:a16="http://schemas.microsoft.com/office/drawing/2014/main" id="{82BD3E4F-1274-4485-90BE-73BC06E0B6E1}"/>
              </a:ext>
            </a:extLst>
          </p:cNvPr>
          <p:cNvSpPr>
            <a:spLocks xmlns:a="http://schemas.openxmlformats.org/drawingml/2006/main" noGrp="1"/>
          </p:cNvSpPr>
          <p:nvPr/>
        </p:nvSpPr>
        <p:spPr>
          <a:xfrm xmlns:a="http://schemas.openxmlformats.org/drawingml/2006/main">
            <a:off x="4114800" y="4105275"/>
            <a:ext cx="2876550" cy="447675"/>
          </a:xfrm>
          <a:prstGeom xmlns:a="http://schemas.openxmlformats.org/drawingml/2006/main" prst="roundRect">
            <a:avLst>
              <a:gd name="adj" fmla="val 17021"/>
            </a:avLst>
          </a:prstGeom>
          <a:solidFill xmlns:a="http://schemas.openxmlformats.org/drawingml/2006/main">
            <a:srgbClr val="F0FAF4"/>
          </a:solidFill>
          <a:ln xmlns:a="http://schemas.openxmlformats.org/drawingml/2006/main" w="9525">
            <a:solidFill>
              <a:srgbClr val="08A65B"/>
            </a:solidFill>
          </a:ln>
        </p:spPr>
      </p:sp>
      <p:sp>
        <p:nvSpPr>
          <p:cNvPr id="545" name="Accuracy gate 5 title">
            <a:extLst xmlns:a="http://schemas.openxmlformats.org/drawingml/2006/main">
              <a:ext uri="{FF2B5EF4-FFF2-40B4-BE49-F238E27FC236}">
                <a16:creationId xmlns:a16="http://schemas.microsoft.com/office/drawing/2014/main" id="{CC96ECE4-518B-4DFF-ADC4-DE0844C149B5}"/>
              </a:ext>
            </a:extLst>
          </p:cNvPr>
          <p:cNvSpPr>
            <a:spLocks xmlns:a="http://schemas.openxmlformats.org/drawingml/2006/main" noGrp="1"/>
          </p:cNvSpPr>
          <p:nvPr/>
        </p:nvSpPr>
        <p:spPr>
          <a:xfrm xmlns:a="http://schemas.openxmlformats.org/drawingml/2006/main">
            <a:off x="4200525" y="413385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5  Run a shadow pilot</a:t>
            </a:r>
          </a:p>
        </p:txBody>
      </p:sp>
      <p:sp>
        <p:nvSpPr>
          <p:cNvPr id="546" name="Accuracy gate 5 detail">
            <a:extLst xmlns:a="http://schemas.openxmlformats.org/drawingml/2006/main">
              <a:ext uri="{FF2B5EF4-FFF2-40B4-BE49-F238E27FC236}">
                <a16:creationId xmlns:a16="http://schemas.microsoft.com/office/drawing/2014/main" id="{6D94975D-3AE4-44E1-8970-1577C3342B9F}"/>
              </a:ext>
            </a:extLst>
          </p:cNvPr>
          <p:cNvSpPr>
            <a:spLocks xmlns:a="http://schemas.openxmlformats.org/drawingml/2006/main" noGrp="1"/>
          </p:cNvSpPr>
          <p:nvPr/>
        </p:nvSpPr>
        <p:spPr>
          <a:xfrm xmlns:a="http://schemas.openxmlformats.org/drawingml/2006/main">
            <a:off x="4200525" y="435292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Test outages and useful warning time</a:t>
            </a:r>
          </a:p>
        </p:txBody>
      </p:sp>
    </p:spTree>
    <p:extLst>
      <p:ext uri="{BB962C8B-B14F-4D97-AF65-F5344CB8AC3E}">
        <p14:creationId xmlns:p14="http://schemas.microsoft.com/office/powerpoint/2010/main" val="9939670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29" name="Google Shape;529;p6">
            <a:extLst xmlns:a="http://schemas.openxmlformats.org/drawingml/2006/main">
              <a:ext uri="{FF2B5EF4-FFF2-40B4-BE49-F238E27FC236}">
                <a16:creationId xmlns:a16="http://schemas.microsoft.com/office/drawing/2014/main" id="{39BA9A1B-B796-49EE-8400-EA4E5B628988}"/>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530" name="Google Shape;530;p6">
            <a:extLst xmlns:a="http://schemas.openxmlformats.org/drawingml/2006/main">
              <a:ext uri="{FF2B5EF4-FFF2-40B4-BE49-F238E27FC236}">
                <a16:creationId xmlns:a16="http://schemas.microsoft.com/office/drawing/2014/main" id="{BF86B9B2-03C8-4409-8C03-7D2AE8C0B1BD}"/>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531" name="Google Shape;531;p6">
            <a:extLst xmlns:a="http://schemas.openxmlformats.org/drawingml/2006/main">
              <a:ext uri="{FF2B5EF4-FFF2-40B4-BE49-F238E27FC236}">
                <a16:creationId xmlns:a16="http://schemas.microsoft.com/office/drawing/2014/main" id="{E42D7C8B-690D-4D60-AD9C-677D035E66CA}"/>
              </a:ext>
            </a:extLst>
          </p:cNvPr>
          <p:cNvSpPr>
            <a:spLocks xmlns:a="http://schemas.openxmlformats.org/drawingml/2006/main" noGrp="1"/>
          </p:cNvSpPr>
          <p:nvPr>
            <p:ph type="title" idx="0"/>
          </p:nvPr>
        </p:nvSpPr>
        <p:spPr>
          <a:xfrm xmlns:a="http://schemas.openxmlformats.org/drawingml/2006/main">
            <a:off x="1771650" y="238125"/>
            <a:ext cx="797242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400"/>
              <a:buFont typeface="Times New Roman"/>
              <a:buNone/>
            </a:pPr>
            <a:r>
              <a:rPr sz="3400" b="1">
                <a:latin typeface="Times New Roman"/>
                <a:ea typeface="Times New Roman"/>
                <a:cs typeface="Times New Roman"/>
              </a:rPr>
              <a:t>IMPACT AND BENEFITS</a:t>
            </a:r>
            <a:endParaRPr/>
          </a:p>
        </p:txBody>
      </p:sp>
      <p:sp>
        <p:nvSpPr>
          <p:cNvPr id="532" name="Google Shape;532;p6">
            <a:extLst xmlns:a="http://schemas.openxmlformats.org/drawingml/2006/main">
              <a:ext uri="{FF2B5EF4-FFF2-40B4-BE49-F238E27FC236}">
                <a16:creationId xmlns:a16="http://schemas.microsoft.com/office/drawing/2014/main" id="{9E688853-468C-48F0-BAA2-66CE619B17F2}"/>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533" name="Google Shape;533;p6">
            <a:extLst xmlns:a="http://schemas.openxmlformats.org/drawingml/2006/main">
              <a:ext uri="{FF2B5EF4-FFF2-40B4-BE49-F238E27FC236}">
                <a16:creationId xmlns:a16="http://schemas.microsoft.com/office/drawing/2014/main" id="{42832D4C-BC8D-4D72-B7E7-5FF0F1D01975}"/>
              </a:ext>
            </a:extLst>
          </p:cNvPr>
          <p:cNvSpPr>
            <a:spLocks xmlns:a="http://schemas.openxmlformats.org/drawingml/2006/main" noGrp="1"/>
          </p:cNvSpPr>
          <p:nvPr/>
        </p:nvSpPr>
        <p:spPr>
          <a:xfrm xmlns:a="http://schemas.openxmlformats.org/drawingml/2006/main">
            <a:off x="285750" y="1304925"/>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34" name="Google Shape;534;p6">
            <a:extLst xmlns:a="http://schemas.openxmlformats.org/drawingml/2006/main">
              <a:ext uri="{FF2B5EF4-FFF2-40B4-BE49-F238E27FC236}">
                <a16:creationId xmlns:a16="http://schemas.microsoft.com/office/drawing/2014/main" id="{B001BD67-8D4D-40A5-AD4B-61EDF2FD7996}"/>
              </a:ext>
            </a:extLst>
          </p:cNvPr>
          <p:cNvSpPr>
            <a:spLocks xmlns:a="http://schemas.openxmlformats.org/drawingml/2006/main" noGrp="1"/>
          </p:cNvSpPr>
          <p:nvPr/>
        </p:nvSpPr>
        <p:spPr>
          <a:xfrm xmlns:a="http://schemas.openxmlformats.org/drawingml/2006/main">
            <a:off x="419100" y="1400174"/>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Support Weather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Operators</a:t>
            </a:r>
            <a:endParaRPr sz="1400" b="0" i="0" u="none" strike="noStrike" cap="none">
              <a:solidFill>
                <a:srgbClr val="000000"/>
              </a:solidFill>
              <a:latin typeface="Arial"/>
              <a:ea typeface="Arial"/>
              <a:cs typeface="Arial"/>
            </a:endParaRPr>
          </a:p>
        </p:txBody>
      </p:sp>
      <p:sp>
        <p:nvSpPr>
          <p:cNvPr id="535" name="Google Shape;535;p6">
            <a:extLst xmlns:a="http://schemas.openxmlformats.org/drawingml/2006/main">
              <a:ext uri="{FF2B5EF4-FFF2-40B4-BE49-F238E27FC236}">
                <a16:creationId xmlns:a16="http://schemas.microsoft.com/office/drawing/2014/main" id="{961C56F8-DF37-4579-A976-7D04A466F6C4}"/>
              </a:ext>
            </a:extLst>
          </p:cNvPr>
          <p:cNvSpPr>
            <a:spLocks xmlns:a="http://schemas.openxmlformats.org/drawingml/2006/main" noGrp="1"/>
          </p:cNvSpPr>
          <p:nvPr/>
        </p:nvSpPr>
        <p:spPr>
          <a:xfrm xmlns:a="http://schemas.openxmlformats.org/drawingml/2006/main">
            <a:off x="419100" y="1958519"/>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Bring forecast risk and sensor evidence into one review.</a:t>
            </a:r>
            <a:endParaRPr sz="1400" b="0" i="0" u="none" strike="noStrike" cap="none">
              <a:solidFill>
                <a:srgbClr val="000000"/>
              </a:solidFill>
              <a:latin typeface="Arial"/>
              <a:ea typeface="Arial"/>
              <a:cs typeface="Arial"/>
            </a:endParaRPr>
          </a:p>
        </p:txBody>
      </p:sp>
      <p:sp>
        <p:nvSpPr>
          <p:cNvPr id="536" name="Google Shape;536;p6">
            <a:extLst xmlns:a="http://schemas.openxmlformats.org/drawingml/2006/main">
              <a:ext uri="{FF2B5EF4-FFF2-40B4-BE49-F238E27FC236}">
                <a16:creationId xmlns:a16="http://schemas.microsoft.com/office/drawing/2014/main" id="{D9D3C12D-1D6A-4BD9-84F2-CDE2DD2E6C2D}"/>
              </a:ext>
            </a:extLst>
          </p:cNvPr>
          <p:cNvSpPr>
            <a:spLocks xmlns:a="http://schemas.openxmlformats.org/drawingml/2006/main" noGrp="1"/>
          </p:cNvSpPr>
          <p:nvPr/>
        </p:nvSpPr>
        <p:spPr>
          <a:xfrm xmlns:a="http://schemas.openxmlformats.org/drawingml/2006/main">
            <a:off x="419100" y="2881993"/>
            <a:ext cx="26100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Shows where evidence supports action or needs caution.</a:t>
            </a:r>
            <a:endParaRPr sz="1400" b="0" i="0" u="none" strike="noStrike" cap="none">
              <a:solidFill>
                <a:srgbClr val="000000"/>
              </a:solidFill>
              <a:latin typeface="Arial"/>
              <a:ea typeface="Arial"/>
              <a:cs typeface="Arial"/>
            </a:endParaRPr>
          </a:p>
        </p:txBody>
      </p:sp>
      <p:sp>
        <p:nvSpPr>
          <p:cNvPr id="537" name="Google Shape;537;p6">
            <a:extLst xmlns:a="http://schemas.openxmlformats.org/drawingml/2006/main">
              <a:ext uri="{FF2B5EF4-FFF2-40B4-BE49-F238E27FC236}">
                <a16:creationId xmlns:a16="http://schemas.microsoft.com/office/drawing/2014/main" id="{E94385D7-9244-42FD-8FE9-D9C7BEAB676C}"/>
              </a:ext>
            </a:extLst>
          </p:cNvPr>
          <p:cNvSpPr>
            <a:spLocks xmlns:a="http://schemas.openxmlformats.org/drawingml/2006/main" noGrp="1"/>
          </p:cNvSpPr>
          <p:nvPr/>
        </p:nvSpPr>
        <p:spPr>
          <a:xfrm xmlns:a="http://schemas.openxmlformats.org/drawingml/2006/main">
            <a:off x="3276600" y="1304925"/>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38" name="Google Shape;538;p6">
            <a:extLst xmlns:a="http://schemas.openxmlformats.org/drawingml/2006/main">
              <a:ext uri="{FF2B5EF4-FFF2-40B4-BE49-F238E27FC236}">
                <a16:creationId xmlns:a16="http://schemas.microsoft.com/office/drawing/2014/main" id="{5C63BB93-1415-484F-9CB3-06B06DFF4EA9}"/>
              </a:ext>
            </a:extLst>
          </p:cNvPr>
          <p:cNvSpPr>
            <a:spLocks xmlns:a="http://schemas.openxmlformats.org/drawingml/2006/main" noGrp="1"/>
          </p:cNvSpPr>
          <p:nvPr/>
        </p:nvSpPr>
        <p:spPr>
          <a:xfrm xmlns:a="http://schemas.openxmlformats.org/drawingml/2006/main">
            <a:off x="3409950" y="1400174"/>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Help Outdoor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Communities</a:t>
            </a:r>
            <a:endParaRPr sz="1400" b="0" i="0" u="none" strike="noStrike" cap="none">
              <a:solidFill>
                <a:srgbClr val="000000"/>
              </a:solidFill>
              <a:latin typeface="Arial"/>
              <a:ea typeface="Arial"/>
              <a:cs typeface="Arial"/>
            </a:endParaRPr>
          </a:p>
        </p:txBody>
      </p:sp>
      <p:sp>
        <p:nvSpPr>
          <p:cNvPr id="539" name="Google Shape;539;p6">
            <a:extLst xmlns:a="http://schemas.openxmlformats.org/drawingml/2006/main">
              <a:ext uri="{FF2B5EF4-FFF2-40B4-BE49-F238E27FC236}">
                <a16:creationId xmlns:a16="http://schemas.microsoft.com/office/drawing/2014/main" id="{1AB8B39E-CFE3-46EF-8977-44A8A6FB77D6}"/>
              </a:ext>
            </a:extLst>
          </p:cNvPr>
          <p:cNvSpPr>
            <a:spLocks xmlns:a="http://schemas.openxmlformats.org/drawingml/2006/main" noGrp="1"/>
          </p:cNvSpPr>
          <p:nvPr/>
        </p:nvSpPr>
        <p:spPr>
          <a:xfrm xmlns:a="http://schemas.openxmlformats.org/drawingml/2006/main">
            <a:off x="3409950" y="1981199"/>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Give local guidance to farmers, schools and outdoor workers.</a:t>
            </a:r>
            <a:endParaRPr sz="1400" b="0" i="0" u="none" strike="noStrike" cap="none">
              <a:solidFill>
                <a:srgbClr val="000000"/>
              </a:solidFill>
              <a:latin typeface="Arial"/>
              <a:ea typeface="Arial"/>
              <a:cs typeface="Arial"/>
            </a:endParaRPr>
          </a:p>
        </p:txBody>
      </p:sp>
      <p:sp>
        <p:nvSpPr>
          <p:cNvPr id="540" name="Google Shape;540;p6">
            <a:extLst xmlns:a="http://schemas.openxmlformats.org/drawingml/2006/main">
              <a:ext uri="{FF2B5EF4-FFF2-40B4-BE49-F238E27FC236}">
                <a16:creationId xmlns:a16="http://schemas.microsoft.com/office/drawing/2014/main" id="{DFE5967B-EBD7-4EEB-8A76-DAC54E20D53C}"/>
              </a:ext>
            </a:extLst>
          </p:cNvPr>
          <p:cNvSpPr>
            <a:spLocks xmlns:a="http://schemas.openxmlformats.org/drawingml/2006/main" noGrp="1"/>
          </p:cNvSpPr>
          <p:nvPr/>
        </p:nvSpPr>
        <p:spPr>
          <a:xfrm xmlns:a="http://schemas.openxmlformats.org/drawingml/2006/main">
            <a:off x="3409950" y="2847975"/>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Aim for more preparation time, subject to verified skill.</a:t>
            </a:r>
            <a:endParaRPr sz="1400" b="0" i="0" u="none" strike="noStrike" cap="none">
              <a:solidFill>
                <a:srgbClr val="000000"/>
              </a:solidFill>
              <a:latin typeface="Arial"/>
              <a:ea typeface="Arial"/>
              <a:cs typeface="Arial"/>
            </a:endParaRPr>
          </a:p>
        </p:txBody>
      </p:sp>
      <p:sp>
        <p:nvSpPr>
          <p:cNvPr id="541" name="Google Shape;541;p6">
            <a:extLst xmlns:a="http://schemas.openxmlformats.org/drawingml/2006/main">
              <a:ext uri="{FF2B5EF4-FFF2-40B4-BE49-F238E27FC236}">
                <a16:creationId xmlns:a16="http://schemas.microsoft.com/office/drawing/2014/main" id="{85A7D1A0-07CD-4B45-A99B-9574AE2FC112}"/>
              </a:ext>
            </a:extLst>
          </p:cNvPr>
          <p:cNvSpPr>
            <a:spLocks xmlns:a="http://schemas.openxmlformats.org/drawingml/2006/main" noGrp="1"/>
          </p:cNvSpPr>
          <p:nvPr/>
        </p:nvSpPr>
        <p:spPr>
          <a:xfrm xmlns:a="http://schemas.openxmlformats.org/drawingml/2006/main">
            <a:off x="285750" y="3790950"/>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2" name="Google Shape;542;p6">
            <a:extLst xmlns:a="http://schemas.openxmlformats.org/drawingml/2006/main">
              <a:ext uri="{FF2B5EF4-FFF2-40B4-BE49-F238E27FC236}">
                <a16:creationId xmlns:a16="http://schemas.microsoft.com/office/drawing/2014/main" id="{1B03E735-A38F-426F-9047-10FDC225C70C}"/>
              </a:ext>
            </a:extLst>
          </p:cNvPr>
          <p:cNvSpPr>
            <a:spLocks xmlns:a="http://schemas.openxmlformats.org/drawingml/2006/main" noGrp="1"/>
          </p:cNvSpPr>
          <p:nvPr/>
        </p:nvSpPr>
        <p:spPr>
          <a:xfrm xmlns:a="http://schemas.openxmlformats.org/drawingml/2006/main">
            <a:off x="419100" y="3886199"/>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Reuse Observing</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Networks</a:t>
            </a:r>
            <a:endParaRPr sz="1400" b="0" i="0" u="none" strike="noStrike" cap="none">
              <a:solidFill>
                <a:srgbClr val="000000"/>
              </a:solidFill>
              <a:latin typeface="Arial"/>
              <a:ea typeface="Arial"/>
              <a:cs typeface="Arial"/>
            </a:endParaRPr>
          </a:p>
        </p:txBody>
      </p:sp>
      <p:sp>
        <p:nvSpPr>
          <p:cNvPr id="543" name="Google Shape;543;p6">
            <a:extLst xmlns:a="http://schemas.openxmlformats.org/drawingml/2006/main">
              <a:ext uri="{FF2B5EF4-FFF2-40B4-BE49-F238E27FC236}">
                <a16:creationId xmlns:a16="http://schemas.microsoft.com/office/drawing/2014/main" id="{CE5D422D-B2AD-4FE0-8478-BA798A78321B}"/>
              </a:ext>
            </a:extLst>
          </p:cNvPr>
          <p:cNvSpPr>
            <a:spLocks xmlns:a="http://schemas.openxmlformats.org/drawingml/2006/main" noGrp="1"/>
          </p:cNvSpPr>
          <p:nvPr/>
        </p:nvSpPr>
        <p:spPr>
          <a:xfrm xmlns:a="http://schemas.openxmlformats.org/drawingml/2006/main">
            <a:off x="419100" y="4467225"/>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Combine existing radar, satellite and station data.</a:t>
            </a:r>
            <a:endParaRPr sz="1400" b="0" i="0" u="none" strike="noStrike" cap="none">
              <a:solidFill>
                <a:srgbClr val="000000"/>
              </a:solidFill>
              <a:latin typeface="Arial"/>
              <a:ea typeface="Arial"/>
              <a:cs typeface="Arial"/>
            </a:endParaRPr>
          </a:p>
        </p:txBody>
      </p:sp>
      <p:sp>
        <p:nvSpPr>
          <p:cNvPr id="544" name="Google Shape;544;p6">
            <a:extLst xmlns:a="http://schemas.openxmlformats.org/drawingml/2006/main">
              <a:ext uri="{FF2B5EF4-FFF2-40B4-BE49-F238E27FC236}">
                <a16:creationId xmlns:a16="http://schemas.microsoft.com/office/drawing/2014/main" id="{DCA02C6E-5D27-41ED-92A6-75AEF6973120}"/>
              </a:ext>
            </a:extLst>
          </p:cNvPr>
          <p:cNvSpPr>
            <a:spLocks xmlns:a="http://schemas.openxmlformats.org/drawingml/2006/main" noGrp="1"/>
          </p:cNvSpPr>
          <p:nvPr/>
        </p:nvSpPr>
        <p:spPr>
          <a:xfrm xmlns:a="http://schemas.openxmlformats.org/drawingml/2006/main">
            <a:off x="419100" y="5288643"/>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A regional pilot can share data and compute resources.</a:t>
            </a:r>
            <a:endParaRPr sz="1400" b="0" i="0" u="none" strike="noStrike" cap="none">
              <a:solidFill>
                <a:srgbClr val="000000"/>
              </a:solidFill>
              <a:latin typeface="Arial"/>
              <a:ea typeface="Arial"/>
              <a:cs typeface="Arial"/>
            </a:endParaRPr>
          </a:p>
        </p:txBody>
      </p:sp>
      <p:sp>
        <p:nvSpPr>
          <p:cNvPr id="545" name="Google Shape;545;p6">
            <a:extLst xmlns:a="http://schemas.openxmlformats.org/drawingml/2006/main">
              <a:ext uri="{FF2B5EF4-FFF2-40B4-BE49-F238E27FC236}">
                <a16:creationId xmlns:a16="http://schemas.microsoft.com/office/drawing/2014/main" id="{834294B2-874D-4BD9-AD2A-AC0F76DC53D9}"/>
              </a:ext>
            </a:extLst>
          </p:cNvPr>
          <p:cNvSpPr>
            <a:spLocks xmlns:a="http://schemas.openxmlformats.org/drawingml/2006/main" noGrp="1"/>
          </p:cNvSpPr>
          <p:nvPr/>
        </p:nvSpPr>
        <p:spPr>
          <a:xfrm xmlns:a="http://schemas.openxmlformats.org/drawingml/2006/main">
            <a:off x="3276600" y="3790950"/>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6" name="Google Shape;546;p6">
            <a:extLst xmlns:a="http://schemas.openxmlformats.org/drawingml/2006/main">
              <a:ext uri="{FF2B5EF4-FFF2-40B4-BE49-F238E27FC236}">
                <a16:creationId xmlns:a16="http://schemas.microsoft.com/office/drawing/2014/main" id="{51718704-AC3D-4EBD-8FA4-76CA7256B3A6}"/>
              </a:ext>
            </a:extLst>
          </p:cNvPr>
          <p:cNvSpPr>
            <a:spLocks xmlns:a="http://schemas.openxmlformats.org/drawingml/2006/main" noGrp="1"/>
          </p:cNvSpPr>
          <p:nvPr/>
        </p:nvSpPr>
        <p:spPr>
          <a:xfrm xmlns:a="http://schemas.openxmlformats.org/drawingml/2006/main">
            <a:off x="3409950" y="3886199"/>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Improve Local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Preparedness</a:t>
            </a:r>
            <a:endParaRPr sz="1400" b="0" i="0" u="none" strike="noStrike" cap="none">
              <a:solidFill>
                <a:srgbClr val="000000"/>
              </a:solidFill>
              <a:latin typeface="Arial"/>
              <a:ea typeface="Arial"/>
              <a:cs typeface="Arial"/>
            </a:endParaRPr>
          </a:p>
        </p:txBody>
      </p:sp>
      <p:sp>
        <p:nvSpPr>
          <p:cNvPr id="547" name="Google Shape;547;p6">
            <a:extLst xmlns:a="http://schemas.openxmlformats.org/drawingml/2006/main">
              <a:ext uri="{FF2B5EF4-FFF2-40B4-BE49-F238E27FC236}">
                <a16:creationId xmlns:a16="http://schemas.microsoft.com/office/drawing/2014/main" id="{F68A6352-C419-4797-96E5-72ABA4FF84BF}"/>
              </a:ext>
            </a:extLst>
          </p:cNvPr>
          <p:cNvSpPr>
            <a:spLocks xmlns:a="http://schemas.openxmlformats.org/drawingml/2006/main" noGrp="1"/>
          </p:cNvSpPr>
          <p:nvPr/>
        </p:nvSpPr>
        <p:spPr>
          <a:xfrm xmlns:a="http://schemas.openxmlformats.org/drawingml/2006/main">
            <a:off x="3409950" y="4467225"/>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Show the place, onset window and alert expiry.</a:t>
            </a:r>
            <a:endParaRPr sz="1400" b="0" i="0" u="none" strike="noStrike" cap="none">
              <a:solidFill>
                <a:srgbClr val="000000"/>
              </a:solidFill>
              <a:latin typeface="Arial"/>
              <a:ea typeface="Arial"/>
              <a:cs typeface="Arial"/>
            </a:endParaRPr>
          </a:p>
        </p:txBody>
      </p:sp>
      <p:sp>
        <p:nvSpPr>
          <p:cNvPr id="548" name="Google Shape;548;p6">
            <a:extLst xmlns:a="http://schemas.openxmlformats.org/drawingml/2006/main">
              <a:ext uri="{FF2B5EF4-FFF2-40B4-BE49-F238E27FC236}">
                <a16:creationId xmlns:a16="http://schemas.microsoft.com/office/drawing/2014/main" id="{27B9CCA8-6E15-49B1-84D6-C93BEFB45730}"/>
              </a:ext>
            </a:extLst>
          </p:cNvPr>
          <p:cNvSpPr>
            <a:spLocks xmlns:a="http://schemas.openxmlformats.org/drawingml/2006/main" noGrp="1"/>
          </p:cNvSpPr>
          <p:nvPr/>
        </p:nvSpPr>
        <p:spPr>
          <a:xfrm xmlns:a="http://schemas.openxmlformats.org/drawingml/2006/main">
            <a:off x="3406321" y="5235121"/>
            <a:ext cx="2610002"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Local language speech and reviewed feedback improve access.</a:t>
            </a:r>
            <a:endParaRPr sz="1400" b="0" i="0" u="none" strike="noStrike" cap="none">
              <a:solidFill>
                <a:srgbClr val="000000"/>
              </a:solidFill>
              <a:latin typeface="Arial"/>
              <a:ea typeface="Arial"/>
              <a:cs typeface="Arial"/>
            </a:endParaRPr>
          </a:p>
        </p:txBody>
      </p:sp>
      <p:sp>
        <p:nvSpPr>
          <p:cNvPr id="549" name="Google Shape;549;p6">
            <a:extLst xmlns:a="http://schemas.openxmlformats.org/drawingml/2006/main">
              <a:ext uri="{FF2B5EF4-FFF2-40B4-BE49-F238E27FC236}">
                <a16:creationId xmlns:a16="http://schemas.microsoft.com/office/drawing/2014/main" id="{6C308EAB-E7CF-41BF-A27F-C2AD01508264}"/>
              </a:ext>
            </a:extLst>
          </p:cNvPr>
          <p:cNvSpPr>
            <a:spLocks xmlns:a="http://schemas.openxmlformats.org/drawingml/2006/main" noGrp="1"/>
          </p:cNvSpPr>
          <p:nvPr/>
        </p:nvSpPr>
        <p:spPr>
          <a:xfrm xmlns:a="http://schemas.openxmlformats.org/drawingml/2006/main">
            <a:off x="63627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300"/>
              <a:buFont typeface="Arial"/>
              <a:buNone/>
            </a:pPr>
            <a:r>
              <a:rPr sz="1300" b="1" i="0" u="none" strike="noStrike" cap="none">
                <a:solidFill>
                  <a:srgbClr val="214E83"/>
                </a:solidFill>
                <a:latin typeface="Arial"/>
                <a:ea typeface="Arial"/>
                <a:cs typeface="Arial"/>
              </a:rPr>
              <a:t>Observations</a:t>
            </a:r>
            <a:endParaRPr sz="1400" b="0" i="0" u="none" strike="noStrike" cap="none">
              <a:solidFill>
                <a:srgbClr val="000000"/>
              </a:solidFill>
              <a:latin typeface="Arial"/>
              <a:ea typeface="Arial"/>
              <a:cs typeface="Arial"/>
            </a:endParaRPr>
          </a:p>
        </p:txBody>
      </p:sp>
      <p:sp>
        <p:nvSpPr>
          <p:cNvPr id="550" name="Google Shape;550;p6">
            <a:extLst xmlns:a="http://schemas.openxmlformats.org/drawingml/2006/main">
              <a:ext uri="{FF2B5EF4-FFF2-40B4-BE49-F238E27FC236}">
                <a16:creationId xmlns:a16="http://schemas.microsoft.com/office/drawing/2014/main" id="{C6EB5647-EC98-4940-9031-660BF9402948}"/>
              </a:ext>
            </a:extLst>
          </p:cNvPr>
          <p:cNvSpPr>
            <a:spLocks xmlns:a="http://schemas.openxmlformats.org/drawingml/2006/main" noGrp="1"/>
          </p:cNvSpPr>
          <p:nvPr/>
        </p:nvSpPr>
        <p:spPr>
          <a:xfrm xmlns:a="http://schemas.openxmlformats.org/drawingml/2006/main">
            <a:off x="63627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Radar + INSAT</a:t>
            </a:r>
            <a:endParaRPr sz="1400" b="0" i="0" u="none" strike="noStrike" cap="none">
              <a:solidFill>
                <a:srgbClr val="000000"/>
              </a:solidFill>
              <a:latin typeface="Arial"/>
              <a:ea typeface="Arial"/>
              <a:cs typeface="Arial"/>
            </a:endParaRPr>
          </a:p>
        </p:txBody>
      </p:sp>
      <p:sp>
        <p:nvSpPr>
          <p:cNvPr id="551" name="Google Shape;551;p6">
            <a:extLst xmlns:a="http://schemas.openxmlformats.org/drawingml/2006/main">
              <a:ext uri="{FF2B5EF4-FFF2-40B4-BE49-F238E27FC236}">
                <a16:creationId xmlns:a16="http://schemas.microsoft.com/office/drawing/2014/main" id="{262FC8D5-D62D-4BBD-83B9-F229C9D39EF6}"/>
              </a:ext>
            </a:extLst>
          </p:cNvPr>
          <p:cNvSpPr>
            <a:spLocks xmlns:a="http://schemas.openxmlformats.org/drawingml/2006/main" noGrp="1"/>
          </p:cNvSpPr>
          <p:nvPr/>
        </p:nvSpPr>
        <p:spPr>
          <a:xfrm xmlns:a="http://schemas.openxmlformats.org/drawingml/2006/main">
            <a:off x="63627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Lightning labels</a:t>
            </a:r>
            <a:endParaRPr sz="1400" b="0" i="0" u="none" strike="noStrike" cap="none">
              <a:solidFill>
                <a:srgbClr val="000000"/>
              </a:solidFill>
              <a:latin typeface="Arial"/>
              <a:ea typeface="Arial"/>
              <a:cs typeface="Arial"/>
            </a:endParaRPr>
          </a:p>
        </p:txBody>
      </p:sp>
      <p:sp>
        <p:nvSpPr>
          <p:cNvPr id="552" name="Google Shape;552;p6">
            <a:extLst xmlns:a="http://schemas.openxmlformats.org/drawingml/2006/main">
              <a:ext uri="{FF2B5EF4-FFF2-40B4-BE49-F238E27FC236}">
                <a16:creationId xmlns:a16="http://schemas.microsoft.com/office/drawing/2014/main" id="{2C8D2C75-109D-46FF-ABA7-09CB42D882C8}"/>
              </a:ext>
            </a:extLst>
          </p:cNvPr>
          <p:cNvSpPr>
            <a:spLocks xmlns:a="http://schemas.openxmlformats.org/drawingml/2006/main" noGrp="1"/>
          </p:cNvSpPr>
          <p:nvPr/>
        </p:nvSpPr>
        <p:spPr>
          <a:xfrm xmlns:a="http://schemas.openxmlformats.org/drawingml/2006/main">
            <a:off x="63627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Rain gauges</a:t>
            </a:r>
            <a:endParaRPr sz="1400" b="0" i="0" u="none" strike="noStrike" cap="none">
              <a:solidFill>
                <a:srgbClr val="000000"/>
              </a:solidFill>
              <a:latin typeface="Arial"/>
              <a:ea typeface="Arial"/>
              <a:cs typeface="Arial"/>
            </a:endParaRPr>
          </a:p>
        </p:txBody>
      </p:sp>
      <p:sp>
        <p:nvSpPr>
          <p:cNvPr id="553" name="Google Shape;553;p6">
            <a:extLst xmlns:a="http://schemas.openxmlformats.org/drawingml/2006/main">
              <a:ext uri="{FF2B5EF4-FFF2-40B4-BE49-F238E27FC236}">
                <a16:creationId xmlns:a16="http://schemas.microsoft.com/office/drawing/2014/main" id="{22A95B12-CDB6-4BCD-89A2-DF1FE812C5C2}"/>
              </a:ext>
            </a:extLst>
          </p:cNvPr>
          <p:cNvSpPr>
            <a:spLocks xmlns:a="http://schemas.openxmlformats.org/drawingml/2006/main" noGrp="1"/>
          </p:cNvSpPr>
          <p:nvPr/>
        </p:nvSpPr>
        <p:spPr>
          <a:xfrm xmlns:a="http://schemas.openxmlformats.org/drawingml/2006/main">
            <a:off x="63627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Time + coverage</a:t>
            </a:r>
            <a:endParaRPr sz="1400" b="0" i="0" u="none" strike="noStrike" cap="none">
              <a:solidFill>
                <a:srgbClr val="000000"/>
              </a:solidFill>
              <a:latin typeface="Arial"/>
              <a:ea typeface="Arial"/>
              <a:cs typeface="Arial"/>
            </a:endParaRPr>
          </a:p>
        </p:txBody>
      </p:sp>
      <p:sp>
        <p:nvSpPr>
          <p:cNvPr id="554" name="Google Shape;554;p6">
            <a:extLst xmlns:a="http://schemas.openxmlformats.org/drawingml/2006/main">
              <a:ext uri="{FF2B5EF4-FFF2-40B4-BE49-F238E27FC236}">
                <a16:creationId xmlns:a16="http://schemas.microsoft.com/office/drawing/2014/main" id="{E25018CF-F276-49B9-8A62-66FEFF845081}"/>
              </a:ext>
            </a:extLst>
          </p:cNvPr>
          <p:cNvSpPr>
            <a:spLocks xmlns:a="http://schemas.openxmlformats.org/drawingml/2006/main" noGrp="1"/>
          </p:cNvSpPr>
          <p:nvPr/>
        </p:nvSpPr>
        <p:spPr>
          <a:xfrm xmlns:a="http://schemas.openxmlformats.org/drawingml/2006/main">
            <a:off x="82296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7D83"/>
              </a:buClr>
              <a:buSzPts val="1300"/>
              <a:buFont typeface="Arial"/>
              <a:buNone/>
            </a:pPr>
            <a:r>
              <a:rPr sz="1300" b="1" i="0" u="none" strike="noStrike" cap="none">
                <a:solidFill>
                  <a:srgbClr val="147D83"/>
                </a:solidFill>
                <a:latin typeface="Arial"/>
                <a:ea typeface="Arial"/>
                <a:cs typeface="Arial"/>
              </a:rPr>
              <a:t>VAJRA</a:t>
            </a:r>
            <a:endParaRPr sz="1400" b="0" i="0" u="none" strike="noStrike" cap="none">
              <a:solidFill>
                <a:srgbClr val="000000"/>
              </a:solidFill>
              <a:latin typeface="Arial"/>
              <a:ea typeface="Arial"/>
              <a:cs typeface="Arial"/>
            </a:endParaRPr>
          </a:p>
        </p:txBody>
      </p:sp>
      <p:sp>
        <p:nvSpPr>
          <p:cNvPr id="555" name="Google Shape;555;p6">
            <a:extLst xmlns:a="http://schemas.openxmlformats.org/drawingml/2006/main">
              <a:ext uri="{FF2B5EF4-FFF2-40B4-BE49-F238E27FC236}">
                <a16:creationId xmlns:a16="http://schemas.microsoft.com/office/drawing/2014/main" id="{EC38A1E1-2F48-4413-9632-13EC0EF6B6CB}"/>
              </a:ext>
            </a:extLst>
          </p:cNvPr>
          <p:cNvSpPr>
            <a:spLocks xmlns:a="http://schemas.openxmlformats.org/drawingml/2006/main" noGrp="1"/>
          </p:cNvSpPr>
          <p:nvPr/>
        </p:nvSpPr>
        <p:spPr>
          <a:xfrm xmlns:a="http://schemas.openxmlformats.org/drawingml/2006/main">
            <a:off x="82296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Temporal model</a:t>
            </a:r>
            <a:endParaRPr sz="1400" b="0" i="0" u="none" strike="noStrike" cap="none">
              <a:solidFill>
                <a:srgbClr val="000000"/>
              </a:solidFill>
              <a:latin typeface="Arial"/>
              <a:ea typeface="Arial"/>
              <a:cs typeface="Arial"/>
            </a:endParaRPr>
          </a:p>
        </p:txBody>
      </p:sp>
      <p:sp>
        <p:nvSpPr>
          <p:cNvPr id="556" name="Google Shape;556;p6">
            <a:extLst xmlns:a="http://schemas.openxmlformats.org/drawingml/2006/main">
              <a:ext uri="{FF2B5EF4-FFF2-40B4-BE49-F238E27FC236}">
                <a16:creationId xmlns:a16="http://schemas.microsoft.com/office/drawing/2014/main" id="{47665ABF-EFCA-4A8E-8BCA-F5E9505E67F3}"/>
              </a:ext>
            </a:extLst>
          </p:cNvPr>
          <p:cNvSpPr>
            <a:spLocks xmlns:a="http://schemas.openxmlformats.org/drawingml/2006/main" noGrp="1"/>
          </p:cNvSpPr>
          <p:nvPr/>
        </p:nvSpPr>
        <p:spPr>
          <a:xfrm xmlns:a="http://schemas.openxmlformats.org/drawingml/2006/main">
            <a:off x="82296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Risk + timing</a:t>
            </a:r>
            <a:endParaRPr sz="1400" b="0" i="0" u="none" strike="noStrike" cap="none">
              <a:solidFill>
                <a:srgbClr val="000000"/>
              </a:solidFill>
              <a:latin typeface="Arial"/>
              <a:ea typeface="Arial"/>
              <a:cs typeface="Arial"/>
            </a:endParaRPr>
          </a:p>
        </p:txBody>
      </p:sp>
      <p:sp>
        <p:nvSpPr>
          <p:cNvPr id="557" name="Google Shape;557;p6">
            <a:extLst xmlns:a="http://schemas.openxmlformats.org/drawingml/2006/main">
              <a:ext uri="{FF2B5EF4-FFF2-40B4-BE49-F238E27FC236}">
                <a16:creationId xmlns:a16="http://schemas.microsoft.com/office/drawing/2014/main" id="{444454C6-56DF-4CBB-AEEF-6B4AA4641EFA}"/>
              </a:ext>
            </a:extLst>
          </p:cNvPr>
          <p:cNvSpPr>
            <a:spLocks xmlns:a="http://schemas.openxmlformats.org/drawingml/2006/main" noGrp="1"/>
          </p:cNvSpPr>
          <p:nvPr/>
        </p:nvSpPr>
        <p:spPr>
          <a:xfrm xmlns:a="http://schemas.openxmlformats.org/drawingml/2006/main">
            <a:off x="82296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Quality masks</a:t>
            </a:r>
            <a:endParaRPr sz="1400" b="0" i="0" u="none" strike="noStrike" cap="none">
              <a:solidFill>
                <a:srgbClr val="000000"/>
              </a:solidFill>
              <a:latin typeface="Arial"/>
              <a:ea typeface="Arial"/>
              <a:cs typeface="Arial"/>
            </a:endParaRPr>
          </a:p>
        </p:txBody>
      </p:sp>
      <p:sp>
        <p:nvSpPr>
          <p:cNvPr id="558" name="Google Shape;558;p6">
            <a:extLst xmlns:a="http://schemas.openxmlformats.org/drawingml/2006/main">
              <a:ext uri="{FF2B5EF4-FFF2-40B4-BE49-F238E27FC236}">
                <a16:creationId xmlns:a16="http://schemas.microsoft.com/office/drawing/2014/main" id="{214299BE-4ED4-4658-8180-F52EF20EA3E8}"/>
              </a:ext>
            </a:extLst>
          </p:cNvPr>
          <p:cNvSpPr>
            <a:spLocks xmlns:a="http://schemas.openxmlformats.org/drawingml/2006/main" noGrp="1"/>
          </p:cNvSpPr>
          <p:nvPr/>
        </p:nvSpPr>
        <p:spPr>
          <a:xfrm xmlns:a="http://schemas.openxmlformats.org/drawingml/2006/main">
            <a:off x="82296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Measured skill</a:t>
            </a:r>
            <a:endParaRPr sz="1400" b="0" i="0" u="none" strike="noStrike" cap="none">
              <a:solidFill>
                <a:srgbClr val="000000"/>
              </a:solidFill>
              <a:latin typeface="Arial"/>
              <a:ea typeface="Arial"/>
              <a:cs typeface="Arial"/>
            </a:endParaRPr>
          </a:p>
        </p:txBody>
      </p:sp>
      <p:sp>
        <p:nvSpPr>
          <p:cNvPr id="559" name="Google Shape;559;p6">
            <a:extLst xmlns:a="http://schemas.openxmlformats.org/drawingml/2006/main">
              <a:ext uri="{FF2B5EF4-FFF2-40B4-BE49-F238E27FC236}">
                <a16:creationId xmlns:a16="http://schemas.microsoft.com/office/drawing/2014/main" id="{ED665BD4-31FA-4FDE-82E9-8F1207E5B57C}"/>
              </a:ext>
            </a:extLst>
          </p:cNvPr>
          <p:cNvSpPr>
            <a:spLocks xmlns:a="http://schemas.openxmlformats.org/drawingml/2006/main" noGrp="1"/>
          </p:cNvSpPr>
          <p:nvPr/>
        </p:nvSpPr>
        <p:spPr>
          <a:xfrm xmlns:a="http://schemas.openxmlformats.org/drawingml/2006/main">
            <a:off x="100965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300"/>
              <a:buFont typeface="Arial"/>
              <a:buNone/>
            </a:pPr>
            <a:r>
              <a:rPr sz="1300" b="1" i="0" u="none" strike="noStrike" cap="none">
                <a:solidFill>
                  <a:srgbClr val="214E83"/>
                </a:solidFill>
                <a:latin typeface="Arial"/>
                <a:ea typeface="Arial"/>
                <a:cs typeface="Arial"/>
              </a:rPr>
              <a:t>Public guidance</a:t>
            </a:r>
            <a:endParaRPr sz="1400" b="0" i="0" u="none" strike="noStrike" cap="none">
              <a:solidFill>
                <a:srgbClr val="000000"/>
              </a:solidFill>
              <a:latin typeface="Arial"/>
              <a:ea typeface="Arial"/>
              <a:cs typeface="Arial"/>
            </a:endParaRPr>
          </a:p>
        </p:txBody>
      </p:sp>
      <p:sp>
        <p:nvSpPr>
          <p:cNvPr id="560" name="Google Shape;560;p6">
            <a:extLst xmlns:a="http://schemas.openxmlformats.org/drawingml/2006/main">
              <a:ext uri="{FF2B5EF4-FFF2-40B4-BE49-F238E27FC236}">
                <a16:creationId xmlns:a16="http://schemas.microsoft.com/office/drawing/2014/main" id="{3C2B59BB-C06C-4C27-93D2-2AFAF5A3A609}"/>
              </a:ext>
            </a:extLst>
          </p:cNvPr>
          <p:cNvSpPr>
            <a:spLocks xmlns:a="http://schemas.openxmlformats.org/drawingml/2006/main" noGrp="1"/>
          </p:cNvSpPr>
          <p:nvPr/>
        </p:nvSpPr>
        <p:spPr>
          <a:xfrm xmlns:a="http://schemas.openxmlformats.org/drawingml/2006/main">
            <a:off x="100965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Officer approval</a:t>
            </a:r>
            <a:endParaRPr sz="1400" b="0" i="0" u="none" strike="noStrike" cap="none">
              <a:solidFill>
                <a:srgbClr val="000000"/>
              </a:solidFill>
              <a:latin typeface="Arial"/>
              <a:ea typeface="Arial"/>
              <a:cs typeface="Arial"/>
            </a:endParaRPr>
          </a:p>
        </p:txBody>
      </p:sp>
      <p:sp>
        <p:nvSpPr>
          <p:cNvPr id="561" name="Google Shape;561;p6">
            <a:extLst xmlns:a="http://schemas.openxmlformats.org/drawingml/2006/main">
              <a:ext uri="{FF2B5EF4-FFF2-40B4-BE49-F238E27FC236}">
                <a16:creationId xmlns:a16="http://schemas.microsoft.com/office/drawing/2014/main" id="{78C4D322-6BB4-44A7-BC6B-A2FE2E747579}"/>
              </a:ext>
            </a:extLst>
          </p:cNvPr>
          <p:cNvSpPr>
            <a:spLocks xmlns:a="http://schemas.openxmlformats.org/drawingml/2006/main" noGrp="1"/>
          </p:cNvSpPr>
          <p:nvPr/>
        </p:nvSpPr>
        <p:spPr>
          <a:xfrm xmlns:a="http://schemas.openxmlformats.org/drawingml/2006/main">
            <a:off x="100965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Local language</a:t>
            </a:r>
            <a:endParaRPr sz="1400" b="0" i="0" u="none" strike="noStrike" cap="none">
              <a:solidFill>
                <a:srgbClr val="000000"/>
              </a:solidFill>
              <a:latin typeface="Arial"/>
              <a:ea typeface="Arial"/>
              <a:cs typeface="Arial"/>
            </a:endParaRPr>
          </a:p>
        </p:txBody>
      </p:sp>
      <p:sp>
        <p:nvSpPr>
          <p:cNvPr id="562" name="Google Shape;562;p6">
            <a:extLst xmlns:a="http://schemas.openxmlformats.org/drawingml/2006/main">
              <a:ext uri="{FF2B5EF4-FFF2-40B4-BE49-F238E27FC236}">
                <a16:creationId xmlns:a16="http://schemas.microsoft.com/office/drawing/2014/main" id="{24613809-1EB9-4888-BBEC-CE84176F9EA0}"/>
              </a:ext>
            </a:extLst>
          </p:cNvPr>
          <p:cNvSpPr>
            <a:spLocks xmlns:a="http://schemas.openxmlformats.org/drawingml/2006/main" noGrp="1"/>
          </p:cNvSpPr>
          <p:nvPr/>
        </p:nvSpPr>
        <p:spPr>
          <a:xfrm xmlns:a="http://schemas.openxmlformats.org/drawingml/2006/main">
            <a:off x="100965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Clear expiry</a:t>
            </a:r>
            <a:endParaRPr sz="1400" b="0" i="0" u="none" strike="noStrike" cap="none">
              <a:solidFill>
                <a:srgbClr val="000000"/>
              </a:solidFill>
              <a:latin typeface="Arial"/>
              <a:ea typeface="Arial"/>
              <a:cs typeface="Arial"/>
            </a:endParaRPr>
          </a:p>
        </p:txBody>
      </p:sp>
      <p:sp>
        <p:nvSpPr>
          <p:cNvPr id="563" name="Google Shape;563;p6">
            <a:extLst xmlns:a="http://schemas.openxmlformats.org/drawingml/2006/main">
              <a:ext uri="{FF2B5EF4-FFF2-40B4-BE49-F238E27FC236}">
                <a16:creationId xmlns:a16="http://schemas.microsoft.com/office/drawing/2014/main" id="{069C879B-B499-499B-84D9-3DF004D2F18D}"/>
              </a:ext>
            </a:extLst>
          </p:cNvPr>
          <p:cNvSpPr>
            <a:spLocks xmlns:a="http://schemas.openxmlformats.org/drawingml/2006/main" noGrp="1"/>
          </p:cNvSpPr>
          <p:nvPr/>
        </p:nvSpPr>
        <p:spPr>
          <a:xfrm xmlns:a="http://schemas.openxmlformats.org/drawingml/2006/main">
            <a:off x="100965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Reviewed reports</a:t>
            </a:r>
            <a:endParaRPr sz="1400" b="0" i="0" u="none" strike="noStrike" cap="none">
              <a:solidFill>
                <a:srgbClr val="000000"/>
              </a:solidFill>
              <a:latin typeface="Arial"/>
              <a:ea typeface="Arial"/>
              <a:cs typeface="Arial"/>
            </a:endParaRPr>
          </a:p>
        </p:txBody>
      </p:sp>
      <p:sp>
        <p:nvSpPr>
          <p:cNvPr id="568" name="Google Shape;568;p6">
            <a:extLst xmlns:a="http://schemas.openxmlformats.org/drawingml/2006/main">
              <a:ext uri="{FF2B5EF4-FFF2-40B4-BE49-F238E27FC236}">
                <a16:creationId xmlns:a16="http://schemas.microsoft.com/office/drawing/2014/main" id="{14F4807F-EB7F-48FD-824D-D6A5844E35B4}"/>
              </a:ext>
            </a:extLst>
          </p:cNvPr>
          <p:cNvSpPr>
            <a:spLocks xmlns:a="http://schemas.openxmlformats.org/drawingml/2006/main" noGrp="1"/>
          </p:cNvSpPr>
          <p:nvPr/>
        </p:nvSpPr>
        <p:spPr>
          <a:xfrm xmlns:a="http://schemas.openxmlformats.org/drawingml/2006/main" rot="0" flipH="0" flipV="0">
            <a:off x="6278850" y="3643176"/>
            <a:ext cx="2454900" cy="297144"/>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69" name="Google Shape;569;p6">
            <a:extLst xmlns:a="http://schemas.openxmlformats.org/drawingml/2006/main">
              <a:ext uri="{FF2B5EF4-FFF2-40B4-BE49-F238E27FC236}">
                <a16:creationId xmlns:a16="http://schemas.microsoft.com/office/drawing/2014/main" id="{55B47004-241F-459F-A350-97AA1E5F90FF}"/>
              </a:ext>
            </a:extLst>
          </p:cNvPr>
          <p:cNvSpPr>
            <a:spLocks xmlns:a="http://schemas.openxmlformats.org/drawingml/2006/main" noGrp="1"/>
          </p:cNvSpPr>
          <p:nvPr/>
        </p:nvSpPr>
        <p:spPr>
          <a:xfrm xmlns:a="http://schemas.openxmlformats.org/drawingml/2006/main" rot="0" flipH="0" flipV="0">
            <a:off x="6285975" y="3610025"/>
            <a:ext cx="2440500" cy="39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30-min forecast target</a:t>
            </a:r>
            <a:endParaRPr sz="1400" b="0" i="0" u="none" strike="noStrike" cap="none">
              <a:solidFill>
                <a:srgbClr val="000000"/>
              </a:solidFill>
              <a:latin typeface="Arial"/>
              <a:ea typeface="Arial"/>
              <a:cs typeface="Arial"/>
            </a:endParaRPr>
          </a:p>
        </p:txBody>
      </p:sp>
      <p:sp>
        <p:nvSpPr>
          <p:cNvPr id="571" name="Google Shape;571;p6">
            <a:extLst xmlns:a="http://schemas.openxmlformats.org/drawingml/2006/main">
              <a:ext uri="{FF2B5EF4-FFF2-40B4-BE49-F238E27FC236}">
                <a16:creationId xmlns:a16="http://schemas.microsoft.com/office/drawing/2014/main" id="{07E7D17C-DD08-4D48-A388-B4584F8ABF35}"/>
              </a:ext>
            </a:extLst>
          </p:cNvPr>
          <p:cNvSpPr>
            <a:spLocks xmlns:a="http://schemas.openxmlformats.org/drawingml/2006/main" noGrp="1"/>
          </p:cNvSpPr>
          <p:nvPr/>
        </p:nvSpPr>
        <p:spPr>
          <a:xfrm xmlns:a="http://schemas.openxmlformats.org/drawingml/2006/main" rot="0" flipH="0" flipV="0">
            <a:off x="6267467" y="4006896"/>
            <a:ext cx="2454902" cy="504902"/>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2" name="Google Shape;572;p6">
            <a:extLst xmlns:a="http://schemas.openxmlformats.org/drawingml/2006/main">
              <a:ext uri="{FF2B5EF4-FFF2-40B4-BE49-F238E27FC236}">
                <a16:creationId xmlns:a16="http://schemas.microsoft.com/office/drawing/2014/main" id="{11520CBD-54F4-4562-B523-B3D63853E83C}"/>
              </a:ext>
            </a:extLst>
          </p:cNvPr>
          <p:cNvSpPr>
            <a:spLocks xmlns:a="http://schemas.openxmlformats.org/drawingml/2006/main" noGrp="1"/>
          </p:cNvSpPr>
          <p:nvPr/>
        </p:nvSpPr>
        <p:spPr>
          <a:xfrm xmlns:a="http://schemas.openxmlformats.org/drawingml/2006/main" rot="0" flipH="0" flipV="0">
            <a:off x="6274604" y="3967628"/>
            <a:ext cx="2440500" cy="60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highlight>
                  <a:srgbClr val="FFF2CC"/>
                </a:highlight>
                <a:latin typeface="Arial"/>
                <a:ea typeface="Arial"/>
                <a:cs typeface="Arial"/>
              </a:rPr>
              <a:t>6 onset bins</a:t>
            </a:r>
            <a:endParaRPr sz="14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of 5 minutes each</a:t>
            </a:r>
            <a:endParaRPr sz="1400" b="0" i="0" u="none" strike="noStrike" cap="none">
              <a:solidFill>
                <a:srgbClr val="000000"/>
              </a:solidFill>
              <a:latin typeface="Arial"/>
              <a:ea typeface="Arial"/>
              <a:cs typeface="Arial"/>
            </a:endParaRPr>
          </a:p>
        </p:txBody>
      </p:sp>
      <p:sp>
        <p:nvSpPr>
          <p:cNvPr id="574" name="Google Shape;574;p6">
            <a:extLst xmlns:a="http://schemas.openxmlformats.org/drawingml/2006/main">
              <a:ext uri="{FF2B5EF4-FFF2-40B4-BE49-F238E27FC236}">
                <a16:creationId xmlns:a16="http://schemas.microsoft.com/office/drawing/2014/main" id="{08944B2C-8077-48D3-AA5C-2133412837EE}"/>
              </a:ext>
            </a:extLst>
          </p:cNvPr>
          <p:cNvSpPr>
            <a:spLocks xmlns:a="http://schemas.openxmlformats.org/drawingml/2006/main" noGrp="1"/>
          </p:cNvSpPr>
          <p:nvPr/>
        </p:nvSpPr>
        <p:spPr>
          <a:xfrm xmlns:a="http://schemas.openxmlformats.org/drawingml/2006/main" rot="0" flipH="0" flipV="0">
            <a:off x="6267450" y="4591193"/>
            <a:ext cx="2531249" cy="435477"/>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5" name="Google Shape;575;p6">
            <a:extLst xmlns:a="http://schemas.openxmlformats.org/drawingml/2006/main">
              <a:ext uri="{FF2B5EF4-FFF2-40B4-BE49-F238E27FC236}">
                <a16:creationId xmlns:a16="http://schemas.microsoft.com/office/drawing/2014/main" id="{EA5903CF-F32C-4480-804E-84289CAF90E5}"/>
              </a:ext>
            </a:extLst>
          </p:cNvPr>
          <p:cNvSpPr>
            <a:spLocks xmlns:a="http://schemas.openxmlformats.org/drawingml/2006/main" noGrp="1"/>
          </p:cNvSpPr>
          <p:nvPr/>
        </p:nvSpPr>
        <p:spPr>
          <a:xfrm xmlns:a="http://schemas.openxmlformats.org/drawingml/2006/main" rot="0" flipH="0" flipV="0">
            <a:off x="6274799" y="4522814"/>
            <a:ext cx="2516399" cy="60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12 Indian languages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 English</a:t>
            </a:r>
            <a:endParaRPr sz="1400" b="0" i="0" u="none" strike="noStrike" cap="none">
              <a:solidFill>
                <a:srgbClr val="000000"/>
              </a:solidFill>
              <a:latin typeface="Arial"/>
              <a:ea typeface="Arial"/>
              <a:cs typeface="Arial"/>
            </a:endParaRPr>
          </a:p>
        </p:txBody>
      </p:sp>
      <p:sp>
        <p:nvSpPr>
          <p:cNvPr id="577" name="Google Shape;577;p6">
            <a:extLst xmlns:a="http://schemas.openxmlformats.org/drawingml/2006/main">
              <a:ext uri="{FF2B5EF4-FFF2-40B4-BE49-F238E27FC236}">
                <a16:creationId xmlns:a16="http://schemas.microsoft.com/office/drawing/2014/main" id="{75091F27-04E9-40EE-B6BC-349196AD4CD5}"/>
              </a:ext>
            </a:extLst>
          </p:cNvPr>
          <p:cNvSpPr>
            <a:spLocks xmlns:a="http://schemas.openxmlformats.org/drawingml/2006/main" noGrp="1"/>
          </p:cNvSpPr>
          <p:nvPr/>
        </p:nvSpPr>
        <p:spPr>
          <a:xfrm xmlns:a="http://schemas.openxmlformats.org/drawingml/2006/main" rot="0" flipH="0" flipV="0">
            <a:off x="6267448" y="5111190"/>
            <a:ext cx="2454903" cy="986403"/>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8" name="Google Shape;578;p6">
            <a:extLst xmlns:a="http://schemas.openxmlformats.org/drawingml/2006/main">
              <a:ext uri="{FF2B5EF4-FFF2-40B4-BE49-F238E27FC236}">
                <a16:creationId xmlns:a16="http://schemas.microsoft.com/office/drawing/2014/main" id="{A994AAAB-6664-4EFB-A791-8793F74F9C65}"/>
              </a:ext>
            </a:extLst>
          </p:cNvPr>
          <p:cNvSpPr>
            <a:spLocks xmlns:a="http://schemas.openxmlformats.org/drawingml/2006/main" noGrp="1"/>
          </p:cNvSpPr>
          <p:nvPr/>
        </p:nvSpPr>
        <p:spPr>
          <a:xfrm xmlns:a="http://schemas.openxmlformats.org/drawingml/2006/main" rot="0" flipH="0" flipV="0">
            <a:off x="6274585" y="5100215"/>
            <a:ext cx="2440500" cy="103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2,862 lightning deaths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India, 2020 [1]</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Historical need, not 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claim of lives saved</a:t>
            </a:r>
            <a:endParaRPr sz="1400" b="0" i="0" u="none" strike="noStrike" cap="none">
              <a:solidFill>
                <a:srgbClr val="000000"/>
              </a:solidFill>
              <a:latin typeface="Arial"/>
              <a:ea typeface="Arial"/>
              <a:cs typeface="Arial"/>
            </a:endParaRPr>
          </a:p>
        </p:txBody>
      </p:sp>
      <p:pic>
        <p:nvPicPr>
          <p:cNvPr id="636" name="Google Shape;579;p6"/>
          <p:cNvPicPr>
            <a:picLocks xmlns:a="http://schemas.openxmlformats.org/drawingml/2006/main" noChangeAspect="1"/>
          </p:cNvPicPr>
          <p:nvPr/>
        </p:nvPicPr>
        <p:blipFill rotWithShape="1">
          <a:blip xmlns:r="http://schemas.openxmlformats.org/officeDocument/2006/relationships" xmlns:a="http://schemas.openxmlformats.org/drawingml/2006/main" r:embed="R90f84cb2823b486b">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580" name="Google Shape;580;p6">
            <a:extLst xmlns:a="http://schemas.openxmlformats.org/drawingml/2006/main">
              <a:ext uri="{FF2B5EF4-FFF2-40B4-BE49-F238E27FC236}">
                <a16:creationId xmlns:a16="http://schemas.microsoft.com/office/drawing/2014/main" id="{8B697115-944A-4C3B-B07E-13D916E8D736}"/>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582" name="Google Shape;582;p6">
            <a:extLst xmlns:a="http://schemas.openxmlformats.org/drawingml/2006/main">
              <a:ext uri="{FF2B5EF4-FFF2-40B4-BE49-F238E27FC236}">
                <a16:creationId xmlns:a16="http://schemas.microsoft.com/office/drawing/2014/main" id="{34BFCE6F-ADD0-4464-8788-543E642CB1D3}"/>
              </a:ext>
            </a:extLst>
          </p:cNvPr>
          <p:cNvSpPr>
            <a:spLocks xmlns:a="http://schemas.openxmlformats.org/drawingml/2006/main" noGrp="1"/>
          </p:cNvSpPr>
          <p:nvPr/>
        </p:nvSpPr>
        <p:spPr>
          <a:xfrm xmlns:a="http://schemas.openxmlformats.org/drawingml/2006/main">
            <a:off x="8912525" y="5911013"/>
            <a:ext cx="3079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81"/>
              </a:buClr>
              <a:buSzPts val="900"/>
              <a:buFont typeface="Arial"/>
              <a:buNone/>
            </a:pPr>
            <a:r>
              <a:rPr sz="900" b="0" i="0" u="none" strike="noStrike" cap="none">
                <a:solidFill>
                  <a:srgbClr val="627181"/>
                </a:solidFill>
                <a:latin typeface="Arial"/>
                <a:ea typeface="Arial"/>
                <a:cs typeface="Arial"/>
              </a:rPr>
              <a:t>One French radar case, 19 Dec 2018</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627181"/>
              </a:buClr>
              <a:buSzPts val="900"/>
              <a:buFont typeface="Arial"/>
              <a:buNone/>
            </a:pPr>
            <a:r>
              <a:rPr sz="900" b="0" i="0" u="none" strike="noStrike" cap="none">
                <a:solidFill>
                  <a:srgbClr val="627181"/>
                </a:solidFill>
                <a:latin typeface="Arial"/>
                <a:ea typeface="Arial"/>
                <a:cs typeface="Arial"/>
              </a:rPr>
              <a:t>Echo </a:t>
            </a:r>
            <a:r>
              <a:rPr sz="900" b="0" i="0" u="none" strike="noStrike" cap="none">
                <a:solidFill>
                  <a:srgbClr val="627181"/>
                </a:solidFill>
                <a:latin typeface="Arial"/>
                <a:ea typeface="Arial"/>
                <a:cs typeface="Arial"/>
              </a:rPr>
              <a:t>&gt;=</a:t>
            </a:r>
            <a:r>
              <a:rPr sz="900" b="0" i="0" u="none" strike="noStrike" cap="none">
                <a:solidFill>
                  <a:srgbClr val="627181"/>
                </a:solidFill>
                <a:latin typeface="Arial"/>
                <a:ea typeface="Arial"/>
                <a:cs typeface="Arial"/>
              </a:rPr>
              <a:t>20 dBZ. NCR skill is unmeasured.</a:t>
            </a:r>
            <a:endParaRPr sz="1400" b="0" i="0" u="none" strike="noStrike" cap="none">
              <a:solidFill>
                <a:srgbClr val="000000"/>
              </a:solidFill>
              <a:latin typeface="Arial"/>
              <a:ea typeface="Arial"/>
              <a:cs typeface="Arial"/>
            </a:endParaRPr>
          </a:p>
        </p:txBody>
      </p:sp>
      <p:sp>
        <p:nvSpPr>
          <p:cNvPr id="588" name="VAJRA diagram label 564">
            <a:extLst xmlns:a="http://schemas.openxmlformats.org/drawingml/2006/main">
              <a:ext uri="{FF2B5EF4-FFF2-40B4-BE49-F238E27FC236}">
                <a16:creationId xmlns:a16="http://schemas.microsoft.com/office/drawing/2014/main" id="{27263A7E-7CA7-4733-A44D-20D731107D1A}"/>
              </a:ext>
            </a:extLst>
          </p:cNvPr>
          <p:cNvSpPr>
            <a:spLocks xmlns:a="http://schemas.openxmlformats.org/drawingml/2006/main" noGrp="1"/>
          </p:cNvSpPr>
          <p:nvPr/>
        </p:nvSpPr>
        <p:spPr>
          <a:xfrm xmlns:a="http://schemas.openxmlformats.org/drawingml/2006/main">
            <a:off x="68770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RADAR</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INSAT</a:t>
            </a:r>
          </a:p>
        </p:txBody>
      </p:sp>
      <p:sp>
        <p:nvSpPr>
          <p:cNvPr id="589" name="VAJRA diagram label 565">
            <a:extLst xmlns:a="http://schemas.openxmlformats.org/drawingml/2006/main">
              <a:ext uri="{FF2B5EF4-FFF2-40B4-BE49-F238E27FC236}">
                <a16:creationId xmlns:a16="http://schemas.microsoft.com/office/drawing/2014/main" id="{7ADBB8E0-32DF-4359-84FB-A243E8F369A2}"/>
              </a:ext>
            </a:extLst>
          </p:cNvPr>
          <p:cNvSpPr>
            <a:spLocks xmlns:a="http://schemas.openxmlformats.org/drawingml/2006/main" noGrp="1"/>
          </p:cNvSpPr>
          <p:nvPr/>
        </p:nvSpPr>
        <p:spPr>
          <a:xfrm xmlns:a="http://schemas.openxmlformats.org/drawingml/2006/main">
            <a:off x="87439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RISK</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 TIME</a:t>
            </a:r>
          </a:p>
        </p:txBody>
      </p:sp>
      <p:sp>
        <p:nvSpPr>
          <p:cNvPr id="590" name="VAJRA diagram label 566">
            <a:extLst xmlns:a="http://schemas.openxmlformats.org/drawingml/2006/main">
              <a:ext uri="{FF2B5EF4-FFF2-40B4-BE49-F238E27FC236}">
                <a16:creationId xmlns:a16="http://schemas.microsoft.com/office/drawing/2014/main" id="{98089890-C869-4C7A-B0F3-C85E9A4123D9}"/>
              </a:ext>
            </a:extLst>
          </p:cNvPr>
          <p:cNvSpPr>
            <a:spLocks xmlns:a="http://schemas.openxmlformats.org/drawingml/2006/main" noGrp="1"/>
          </p:cNvSpPr>
          <p:nvPr/>
        </p:nvSpPr>
        <p:spPr>
          <a:xfrm xmlns:a="http://schemas.openxmlformats.org/drawingml/2006/main">
            <a:off x="106108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LOCAL</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ALERT</a:t>
            </a:r>
          </a:p>
        </p:txBody>
      </p:sp>
      <p:graphicFrame>
        <p:nvGraphicFramePr>
          <p:cNvPr id="642" name="Chart"/>
          <p:cNvGraphicFramePr/>
          <p:nvPr/>
        </p:nvGraphicFramePr>
        <p:xfrm>
          <a:off xmlns:a="http://schemas.openxmlformats.org/drawingml/2006/main" x="8743950" y="3655409"/>
          <a:ext xmlns:a="http://schemas.openxmlformats.org/drawingml/2006/main" cx="3340989" cy="2227326"/>
        </p:xfrm>
        <a:graphic xmlns:a="http://schemas.openxmlformats.org/drawingml/2006/main">
          <a:graphicData uri="http://schemas.openxmlformats.org/drawingml/2006/chart">
            <c:chart xmlns:r="http://schemas.openxmlformats.org/officeDocument/2006/relationships" xmlns:c="http://schemas.openxmlformats.org/drawingml/2006/chart" r:id="R5894ece288a84a43"/>
          </a:graphicData>
        </a:graphic>
      </p:graphicFrame>
    </p:spTree>
    <p:extLst>
      <p:ext uri="{BB962C8B-B14F-4D97-AF65-F5344CB8AC3E}">
        <p14:creationId xmlns:p14="http://schemas.microsoft.com/office/powerpoint/2010/main" val="18206902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87" name="Google Shape;587;p8">
            <a:extLst xmlns:a="http://schemas.openxmlformats.org/drawingml/2006/main">
              <a:ext uri="{FF2B5EF4-FFF2-40B4-BE49-F238E27FC236}">
                <a16:creationId xmlns:a16="http://schemas.microsoft.com/office/drawing/2014/main" id="{5254B3DA-0843-4D76-9EF8-07E73E6B81E7}"/>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588" name="Google Shape;588;p8">
            <a:extLst xmlns:a="http://schemas.openxmlformats.org/drawingml/2006/main">
              <a:ext uri="{FF2B5EF4-FFF2-40B4-BE49-F238E27FC236}">
                <a16:creationId xmlns:a16="http://schemas.microsoft.com/office/drawing/2014/main" id="{D6A3526E-0CE2-4B4A-8141-B4A672F89CD4}"/>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589" name="Google Shape;589;p8">
            <a:extLst xmlns:a="http://schemas.openxmlformats.org/drawingml/2006/main">
              <a:ext uri="{FF2B5EF4-FFF2-40B4-BE49-F238E27FC236}">
                <a16:creationId xmlns:a16="http://schemas.microsoft.com/office/drawing/2014/main" id="{6E15AF3A-F536-42FC-9391-447E2508BC29}"/>
              </a:ext>
            </a:extLst>
          </p:cNvPr>
          <p:cNvSpPr>
            <a:spLocks xmlns:a="http://schemas.openxmlformats.org/drawingml/2006/main" noGrp="1"/>
          </p:cNvSpPr>
          <p:nvPr>
            <p:ph type="title" idx="0"/>
          </p:nvPr>
        </p:nvSpPr>
        <p:spPr>
          <a:xfrm xmlns:a="http://schemas.openxmlformats.org/drawingml/2006/main">
            <a:off x="1771650" y="234450"/>
            <a:ext cx="79725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Times New Roman"/>
              <a:buNone/>
            </a:pPr>
            <a:r>
              <a:rPr sz="3200" b="1">
                <a:latin typeface="Times New Roman"/>
                <a:ea typeface="Times New Roman"/>
                <a:cs typeface="Times New Roman"/>
              </a:rPr>
              <a:t>RESEARCH AND REFERENCES</a:t>
            </a:r>
            <a:endParaRPr/>
          </a:p>
        </p:txBody>
      </p:sp>
      <p:sp>
        <p:nvSpPr>
          <p:cNvPr id="590" name="Google Shape;590;p8">
            <a:extLst xmlns:a="http://schemas.openxmlformats.org/drawingml/2006/main">
              <a:ext uri="{FF2B5EF4-FFF2-40B4-BE49-F238E27FC236}">
                <a16:creationId xmlns:a16="http://schemas.microsoft.com/office/drawing/2014/main" id="{1986B4F5-A1B0-4DE5-BACE-BCD6299BA845}"/>
              </a:ext>
            </a:extLst>
          </p:cNvPr>
          <p:cNvSpPr>
            <a:spLocks xmlns:a="http://schemas.openxmlformats.org/drawingml/2006/main" noGrp="1"/>
          </p:cNvSpPr>
          <p:nvPr>
            <p:ph type="sldNum" idx="4294967295"/>
          </p:nvPr>
        </p:nvSpPr>
        <p:spPr>
          <a:xfrm xmlns:a="http://schemas.openxmlformats.org/drawingml/2006/main">
            <a:off x="11393558" y="6404325"/>
            <a:ext cx="3414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591" name="Google Shape;591;p8">
            <a:extLst xmlns:a="http://schemas.openxmlformats.org/drawingml/2006/main">
              <a:ext uri="{FF2B5EF4-FFF2-40B4-BE49-F238E27FC236}">
                <a16:creationId xmlns:a16="http://schemas.microsoft.com/office/drawing/2014/main" id="{39573FB2-D121-42C3-86F5-695E828ACE98}"/>
              </a:ext>
            </a:extLst>
          </p:cNvPr>
          <p:cNvSpPr>
            <a:spLocks xmlns:a="http://schemas.openxmlformats.org/drawingml/2006/main" noGrp="1"/>
          </p:cNvSpPr>
          <p:nvPr/>
        </p:nvSpPr>
        <p:spPr>
          <a:xfrm xmlns:a="http://schemas.openxmlformats.org/drawingml/2006/main">
            <a:off x="285750" y="1096576"/>
            <a:ext cx="5905500" cy="51951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2" name="Google Shape;592;p8">
            <a:extLst xmlns:a="http://schemas.openxmlformats.org/drawingml/2006/main">
              <a:ext uri="{FF2B5EF4-FFF2-40B4-BE49-F238E27FC236}">
                <a16:creationId xmlns:a16="http://schemas.microsoft.com/office/drawing/2014/main" id="{01D459DA-6284-4EEF-890B-A0715E246EDA}"/>
              </a:ext>
            </a:extLst>
          </p:cNvPr>
          <p:cNvSpPr>
            <a:spLocks xmlns:a="http://schemas.openxmlformats.org/drawingml/2006/main" noGrp="1"/>
          </p:cNvSpPr>
          <p:nvPr/>
        </p:nvSpPr>
        <p:spPr>
          <a:xfrm xmlns:a="http://schemas.openxmlformats.org/drawingml/2006/main">
            <a:off x="419100" y="1191816"/>
            <a:ext cx="56199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References</a:t>
            </a:r>
            <a:endParaRPr sz="1400" b="0" i="0" u="none" strike="noStrike" cap="none">
              <a:solidFill>
                <a:srgbClr val="000000"/>
              </a:solidFill>
              <a:latin typeface="Arial"/>
              <a:ea typeface="Arial"/>
              <a:cs typeface="Arial"/>
            </a:endParaRPr>
          </a:p>
        </p:txBody>
      </p:sp>
      <p:sp>
        <p:nvSpPr>
          <p:cNvPr id="593" name="Google Shape;593;p8">
            <a:extLst xmlns:a="http://schemas.openxmlformats.org/drawingml/2006/main">
              <a:ext uri="{FF2B5EF4-FFF2-40B4-BE49-F238E27FC236}">
                <a16:creationId xmlns:a16="http://schemas.microsoft.com/office/drawing/2014/main" id="{4F9C544F-629B-459B-86DB-FF93289BA291}"/>
              </a:ext>
            </a:extLst>
          </p:cNvPr>
          <p:cNvSpPr>
            <a:spLocks xmlns:a="http://schemas.openxmlformats.org/drawingml/2006/main" noGrp="1"/>
          </p:cNvSpPr>
          <p:nvPr/>
        </p:nvSpPr>
        <p:spPr>
          <a:xfrm xmlns:a="http://schemas.openxmlformats.org/drawingml/2006/main">
            <a:off x="6339950" y="1115341"/>
            <a:ext cx="5711400" cy="26481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4" name="Google Shape;594;p8">
            <a:extLst xmlns:a="http://schemas.openxmlformats.org/drawingml/2006/main">
              <a:ext uri="{FF2B5EF4-FFF2-40B4-BE49-F238E27FC236}">
                <a16:creationId xmlns:a16="http://schemas.microsoft.com/office/drawing/2014/main" id="{7AA589A5-0C09-4D20-BD9E-88CF39077632}"/>
              </a:ext>
            </a:extLst>
          </p:cNvPr>
          <p:cNvSpPr>
            <a:spLocks xmlns:a="http://schemas.openxmlformats.org/drawingml/2006/main" noGrp="1"/>
          </p:cNvSpPr>
          <p:nvPr/>
        </p:nvSpPr>
        <p:spPr>
          <a:xfrm xmlns:a="http://schemas.openxmlformats.org/drawingml/2006/main">
            <a:off x="6320527" y="3908346"/>
            <a:ext cx="5711400" cy="20478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5" name="Google Shape;595;p8">
            <a:extLst xmlns:a="http://schemas.openxmlformats.org/drawingml/2006/main">
              <a:ext uri="{FF2B5EF4-FFF2-40B4-BE49-F238E27FC236}">
                <a16:creationId xmlns:a16="http://schemas.microsoft.com/office/drawing/2014/main" id="{BE5AF8A9-DB1F-48D4-A1A9-2747EF70F708}"/>
              </a:ext>
            </a:extLst>
          </p:cNvPr>
          <p:cNvSpPr>
            <a:spLocks xmlns:a="http://schemas.openxmlformats.org/drawingml/2006/main" noGrp="1"/>
          </p:cNvSpPr>
          <p:nvPr/>
        </p:nvSpPr>
        <p:spPr>
          <a:xfrm xmlns:a="http://schemas.openxmlformats.org/drawingml/2006/main">
            <a:off x="6477414" y="1191811"/>
            <a:ext cx="5397600" cy="26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3568F"/>
              </a:buClr>
              <a:buSzPts val="1700"/>
              <a:buFont typeface="Arial"/>
              <a:buNone/>
            </a:pPr>
            <a:r>
              <a:rPr sz="1700" b="1" i="0" u="none" strike="noStrike" cap="none">
                <a:solidFill>
                  <a:srgbClr val="23568F"/>
                </a:solidFill>
                <a:latin typeface="Arial"/>
                <a:ea typeface="Arial"/>
                <a:cs typeface="Arial"/>
              </a:rPr>
              <a:t>Evaluation method</a:t>
            </a:r>
            <a:endParaRPr sz="1400" b="0" i="0" u="none" strike="noStrike" cap="none">
              <a:solidFill>
                <a:srgbClr val="000000"/>
              </a:solidFill>
              <a:latin typeface="Arial"/>
              <a:ea typeface="Arial"/>
              <a:cs typeface="Arial"/>
            </a:endParaRPr>
          </a:p>
        </p:txBody>
      </p:sp>
      <p:sp>
        <p:nvSpPr>
          <p:cNvPr id="596" name="Google Shape;596;p8">
            <a:extLst xmlns:a="http://schemas.openxmlformats.org/drawingml/2006/main">
              <a:ext uri="{FF2B5EF4-FFF2-40B4-BE49-F238E27FC236}">
                <a16:creationId xmlns:a16="http://schemas.microsoft.com/office/drawing/2014/main" id="{2EED4E63-D477-4E29-990D-5DA708FF4CFA}"/>
              </a:ext>
            </a:extLst>
          </p:cNvPr>
          <p:cNvSpPr>
            <a:spLocks xmlns:a="http://schemas.openxmlformats.org/drawingml/2006/main" noGrp="1"/>
          </p:cNvSpPr>
          <p:nvPr/>
        </p:nvSpPr>
        <p:spPr>
          <a:xfrm xmlns:a="http://schemas.openxmlformats.org/drawingml/2006/main">
            <a:off x="6477414" y="1620437"/>
            <a:ext cx="53976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Accuracy requires independent storm events</a:t>
            </a:r>
            <a:endParaRPr sz="1400" b="0" i="0" u="none" strike="noStrike" cap="none">
              <a:solidFill>
                <a:srgbClr val="000000"/>
              </a:solidFill>
              <a:latin typeface="Arial"/>
              <a:ea typeface="Arial"/>
              <a:cs typeface="Arial"/>
            </a:endParaRPr>
          </a:p>
        </p:txBody>
      </p:sp>
      <p:sp>
        <p:nvSpPr>
          <p:cNvPr id="597" name="Google Shape;597;p8">
            <a:extLst xmlns:a="http://schemas.openxmlformats.org/drawingml/2006/main">
              <a:ext uri="{FF2B5EF4-FFF2-40B4-BE49-F238E27FC236}">
                <a16:creationId xmlns:a16="http://schemas.microsoft.com/office/drawing/2014/main" id="{C198CBAE-189C-4CC4-AA24-3B6B61D1496D}"/>
              </a:ext>
            </a:extLst>
          </p:cNvPr>
          <p:cNvSpPr>
            <a:spLocks xmlns:a="http://schemas.openxmlformats.org/drawingml/2006/main" noGrp="1"/>
          </p:cNvSpPr>
          <p:nvPr/>
        </p:nvSpPr>
        <p:spPr>
          <a:xfrm xmlns:a="http://schemas.openxmlformats.org/drawingml/2006/main">
            <a:off x="6477414" y="1906187"/>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Train / validation / calibration / test</a:t>
            </a:r>
            <a:endParaRPr sz="1400" b="0" i="0" u="none" strike="noStrike" cap="none">
              <a:solidFill>
                <a:srgbClr val="000000"/>
              </a:solidFill>
              <a:latin typeface="Arial"/>
              <a:ea typeface="Arial"/>
              <a:cs typeface="Arial"/>
            </a:endParaRPr>
          </a:p>
        </p:txBody>
      </p:sp>
      <p:sp>
        <p:nvSpPr>
          <p:cNvPr id="598" name="Google Shape;598;p8">
            <a:extLst xmlns:a="http://schemas.openxmlformats.org/drawingml/2006/main">
              <a:ext uri="{FF2B5EF4-FFF2-40B4-BE49-F238E27FC236}">
                <a16:creationId xmlns:a16="http://schemas.microsoft.com/office/drawing/2014/main" id="{E166CE34-B034-45A3-9CFE-417D05CA9EB4}"/>
              </a:ext>
            </a:extLst>
          </p:cNvPr>
          <p:cNvSpPr>
            <a:spLocks xmlns:a="http://schemas.openxmlformats.org/drawingml/2006/main" noGrp="1"/>
          </p:cNvSpPr>
          <p:nvPr/>
        </p:nvSpPr>
        <p:spPr>
          <a:xfrm xmlns:a="http://schemas.openxmlformats.org/drawingml/2006/main">
            <a:off x="6477414" y="2239562"/>
            <a:ext cx="5397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Freeze input availability and target windows.</a:t>
            </a:r>
            <a:endParaRPr sz="1200" b="0" i="0" u="none" strike="noStrike" cap="none">
              <a:solidFill>
                <a:srgbClr val="172534"/>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Check phase, sensor gaps and no-event outcomes.</a:t>
            </a:r>
            <a:endParaRPr sz="1400" b="0" i="0" u="none" strike="noStrike" cap="none">
              <a:solidFill>
                <a:srgbClr val="000000"/>
              </a:solidFill>
              <a:latin typeface="Arial"/>
              <a:ea typeface="Arial"/>
              <a:cs typeface="Arial"/>
            </a:endParaRPr>
          </a:p>
        </p:txBody>
      </p:sp>
      <p:sp>
        <p:nvSpPr>
          <p:cNvPr id="599" name="Google Shape;599;p8">
            <a:extLst xmlns:a="http://schemas.openxmlformats.org/drawingml/2006/main">
              <a:ext uri="{FF2B5EF4-FFF2-40B4-BE49-F238E27FC236}">
                <a16:creationId xmlns:a16="http://schemas.microsoft.com/office/drawing/2014/main" id="{EA21D1E9-47CC-4002-97DF-7ECB904DA258}"/>
              </a:ext>
            </a:extLst>
          </p:cNvPr>
          <p:cNvSpPr>
            <a:spLocks xmlns:a="http://schemas.openxmlformats.org/drawingml/2006/main" noGrp="1"/>
          </p:cNvSpPr>
          <p:nvPr/>
        </p:nvSpPr>
        <p:spPr>
          <a:xfrm xmlns:a="http://schemas.openxmlformats.org/drawingml/2006/main">
            <a:off x="6477414" y="2726222"/>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Compare baselines on the same covered cells.</a:t>
            </a:r>
            <a:endParaRPr sz="1400" b="0" i="0" u="none" strike="noStrike" cap="none">
              <a:solidFill>
                <a:srgbClr val="000000"/>
              </a:solidFill>
              <a:latin typeface="Arial"/>
              <a:ea typeface="Arial"/>
              <a:cs typeface="Arial"/>
            </a:endParaRPr>
          </a:p>
        </p:txBody>
      </p:sp>
      <p:sp>
        <p:nvSpPr>
          <p:cNvPr id="600" name="Google Shape;600;p8">
            <a:extLst xmlns:a="http://schemas.openxmlformats.org/drawingml/2006/main">
              <a:ext uri="{FF2B5EF4-FFF2-40B4-BE49-F238E27FC236}">
                <a16:creationId xmlns:a16="http://schemas.microsoft.com/office/drawing/2014/main" id="{D649F417-D97E-4D9D-BA80-7CA095C3309C}"/>
              </a:ext>
            </a:extLst>
          </p:cNvPr>
          <p:cNvSpPr>
            <a:spLocks xmlns:a="http://schemas.openxmlformats.org/drawingml/2006/main" noGrp="1"/>
          </p:cNvSpPr>
          <p:nvPr/>
        </p:nvSpPr>
        <p:spPr>
          <a:xfrm xmlns:a="http://schemas.openxmlformats.org/drawingml/2006/main">
            <a:off x="6477414" y="3049188"/>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Report POD, FAR, CSI, Brier and reliability.</a:t>
            </a:r>
            <a:endParaRPr sz="1400" b="0" i="0" u="none" strike="noStrike" cap="none">
              <a:solidFill>
                <a:srgbClr val="000000"/>
              </a:solidFill>
              <a:latin typeface="Arial"/>
              <a:ea typeface="Arial"/>
              <a:cs typeface="Arial"/>
            </a:endParaRPr>
          </a:p>
        </p:txBody>
      </p:sp>
      <p:sp>
        <p:nvSpPr>
          <p:cNvPr id="601" name="Google Shape;601;p8">
            <a:extLst xmlns:a="http://schemas.openxmlformats.org/drawingml/2006/main">
              <a:ext uri="{FF2B5EF4-FFF2-40B4-BE49-F238E27FC236}">
                <a16:creationId xmlns:a16="http://schemas.microsoft.com/office/drawing/2014/main" id="{BB25B475-3065-43FF-905D-B99441506240}"/>
              </a:ext>
            </a:extLst>
          </p:cNvPr>
          <p:cNvSpPr>
            <a:spLocks xmlns:a="http://schemas.openxmlformats.org/drawingml/2006/main" noGrp="1"/>
          </p:cNvSpPr>
          <p:nvPr/>
        </p:nvSpPr>
        <p:spPr>
          <a:xfrm xmlns:a="http://schemas.openxmlformats.org/drawingml/2006/main">
            <a:off x="6477414" y="3392088"/>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200"/>
              <a:buFont typeface="Arial"/>
              <a:buNone/>
            </a:pPr>
            <a:r>
              <a:rPr sz="1200" b="0" i="0" u="none" strike="noStrike" cap="none">
                <a:solidFill>
                  <a:srgbClr val="526477"/>
                </a:solidFill>
                <a:latin typeface="Arial"/>
                <a:ea typeface="Arial"/>
                <a:cs typeface="Arial"/>
              </a:rPr>
              <a:t>NCR skill unmeasured. Public model warnings disabled.</a:t>
            </a:r>
            <a:endParaRPr sz="1400" b="0" i="0" u="none" strike="noStrike" cap="none">
              <a:solidFill>
                <a:srgbClr val="000000"/>
              </a:solidFill>
              <a:latin typeface="Arial"/>
              <a:ea typeface="Arial"/>
              <a:cs typeface="Arial"/>
            </a:endParaRPr>
          </a:p>
        </p:txBody>
      </p:sp>
      <p:pic>
        <p:nvPicPr>
          <p:cNvPr id="712" name="Google Shape;603;p8"/>
          <p:cNvPicPr>
            <a:picLocks xmlns:a="http://schemas.openxmlformats.org/drawingml/2006/main" noChangeAspect="1"/>
          </p:cNvPicPr>
          <p:nvPr/>
        </p:nvPicPr>
        <p:blipFill rotWithShape="1">
          <a:blip xmlns:r="http://schemas.openxmlformats.org/officeDocument/2006/relationships" xmlns:a="http://schemas.openxmlformats.org/drawingml/2006/main" r:embed="R3dbd88d971ea43cb">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604" name="Google Shape;604;p8">
            <a:extLst xmlns:a="http://schemas.openxmlformats.org/drawingml/2006/main">
              <a:ext uri="{FF2B5EF4-FFF2-40B4-BE49-F238E27FC236}">
                <a16:creationId xmlns:a16="http://schemas.microsoft.com/office/drawing/2014/main" id="{A65EF0EA-8A45-465B-9784-143AFD2475FD}"/>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605" name="Google Shape;605;p8">
            <a:extLst xmlns:a="http://schemas.openxmlformats.org/drawingml/2006/main">
              <a:ext uri="{FF2B5EF4-FFF2-40B4-BE49-F238E27FC236}">
                <a16:creationId xmlns:a16="http://schemas.microsoft.com/office/drawing/2014/main" id="{7CC6F289-8A8F-4BC0-958E-64E070FCB5FF}"/>
              </a:ext>
            </a:extLst>
          </p:cNvPr>
          <p:cNvSpPr>
            <a:spLocks xmlns:a="http://schemas.openxmlformats.org/drawingml/2006/main" noGrp="1"/>
          </p:cNvSpPr>
          <p:nvPr/>
        </p:nvSpPr>
        <p:spPr>
          <a:xfrm xmlns:a="http://schemas.openxmlformats.org/drawingml/2006/main">
            <a:off x="6454758" y="3961777"/>
            <a:ext cx="29718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72BC"/>
              </a:buClr>
              <a:buSzPts val="1400"/>
              <a:buFont typeface="Arial"/>
              <a:buNone/>
            </a:pPr>
            <a:r>
              <a:rPr sz="1400" b="1" i="0" u="none" strike="noStrike" cap="none">
                <a:solidFill>
                  <a:srgbClr val="0072BC"/>
                </a:solidFill>
                <a:latin typeface="Arial"/>
                <a:ea typeface="Arial"/>
                <a:cs typeface="Arial"/>
              </a:rPr>
              <a:t>Synthetic lightning smoke</a:t>
            </a:r>
            <a:endParaRPr sz="1400" b="0" i="0" u="none" strike="noStrike" cap="none">
              <a:solidFill>
                <a:srgbClr val="000000"/>
              </a:solidFill>
              <a:latin typeface="Arial"/>
              <a:ea typeface="Arial"/>
              <a:cs typeface="Arial"/>
            </a:endParaRPr>
          </a:p>
        </p:txBody>
      </p:sp>
      <p:sp>
        <p:nvSpPr>
          <p:cNvPr id="606" name="Google Shape;606;p8">
            <a:extLst xmlns:a="http://schemas.openxmlformats.org/drawingml/2006/main">
              <a:ext uri="{FF2B5EF4-FFF2-40B4-BE49-F238E27FC236}">
                <a16:creationId xmlns:a16="http://schemas.microsoft.com/office/drawing/2014/main" id="{32F03CD1-3623-4814-A2F5-FA0FB4710FCA}"/>
              </a:ext>
            </a:extLst>
          </p:cNvPr>
          <p:cNvSpPr>
            <a:spLocks xmlns:a="http://schemas.openxmlformats.org/drawingml/2006/main" noGrp="1"/>
          </p:cNvSpPr>
          <p:nvPr/>
        </p:nvSpPr>
        <p:spPr>
          <a:xfrm xmlns:a="http://schemas.openxmlformats.org/drawingml/2006/main">
            <a:off x="6484996" y="4222883"/>
            <a:ext cx="2971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100"/>
              <a:buFont typeface="Arial"/>
              <a:buNone/>
            </a:pPr>
            <a:r>
              <a:rPr sz="1100" b="0" i="0" u="none" strike="noStrike" cap="none">
                <a:solidFill>
                  <a:srgbClr val="526477"/>
                </a:solidFill>
                <a:latin typeface="Arial"/>
                <a:ea typeface="Arial"/>
                <a:cs typeface="Arial"/>
              </a:rPr>
              <a:t>30 September 2026, 20 training steps</a:t>
            </a:r>
            <a:endParaRPr sz="1400" b="0" i="0" u="none" strike="noStrike" cap="none">
              <a:solidFill>
                <a:srgbClr val="000000"/>
              </a:solidFill>
              <a:latin typeface="Arial"/>
              <a:ea typeface="Arial"/>
              <a:cs typeface="Arial"/>
            </a:endParaRPr>
          </a:p>
        </p:txBody>
      </p:sp>
      <p:graphicFrame>
        <p:nvGraphicFramePr>
          <p:cNvPr id="716" name="Google Shape;607;p8"/>
          <p:cNvGraphicFramePr/>
          <p:nvPr/>
        </p:nvGraphicFramePr>
        <p:xfrm>
          <a:off xmlns:a="http://schemas.openxmlformats.org/drawingml/2006/main" x="6469877" y="4466904"/>
          <a:ext xmlns:a="http://schemas.openxmlformats.org/drawingml/2006/main" cx="3000000" cy="3000000"/>
        </p:xfrm>
        <a:graphic xmlns:a="http://schemas.openxmlformats.org/drawingml/2006/main">
          <a:graphicData uri="http://schemas.openxmlformats.org/drawingml/2006/table">
            <a:tbl>
              <a:tblPr>
                <a:tableStyleId>{4051FD5F-A2FE-4DEC-9349-808E35BEFF39}</a:tableStyleId>
              </a:tblPr>
              <a:tblGrid>
                <a:gridCol w="1128200"/>
                <a:gridCol w="1019850"/>
              </a:tblGrid>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Brier</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0.2361</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Baseline</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0.2158</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Skill</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-0.0939</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Test events</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2</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r>
            </a:tbl>
          </a:graphicData>
        </a:graphic>
      </p:graphicFrame>
      <p:sp>
        <p:nvSpPr>
          <p:cNvPr id="608" name="Google Shape;608;p8">
            <a:extLst xmlns:a="http://schemas.openxmlformats.org/drawingml/2006/main">
              <a:ext uri="{FF2B5EF4-FFF2-40B4-BE49-F238E27FC236}">
                <a16:creationId xmlns:a16="http://schemas.microsoft.com/office/drawing/2014/main" id="{0A121FA0-5891-4F62-A2AD-2D53E81F3089}"/>
              </a:ext>
            </a:extLst>
          </p:cNvPr>
          <p:cNvSpPr>
            <a:spLocks xmlns:a="http://schemas.openxmlformats.org/drawingml/2006/main" noGrp="1"/>
          </p:cNvSpPr>
          <p:nvPr/>
        </p:nvSpPr>
        <p:spPr>
          <a:xfrm xmlns:a="http://schemas.openxmlformats.org/drawingml/2006/main">
            <a:off x="6366925" y="5685046"/>
            <a:ext cx="365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100"/>
              <a:buFont typeface="Arial"/>
              <a:buNone/>
            </a:pPr>
            <a:r>
              <a:rPr sz="1100" b="0" i="0" u="none" strike="noStrike" cap="none">
                <a:solidFill>
                  <a:srgbClr val="526477"/>
                </a:solidFill>
                <a:latin typeface="Arial"/>
                <a:ea typeface="Arial"/>
                <a:cs typeface="Arial"/>
              </a:rPr>
              <a:t>Two synthetic test events. Baseline wins.</a:t>
            </a:r>
            <a:endParaRPr sz="1400" b="0" i="0" u="none" strike="noStrike" cap="none">
              <a:solidFill>
                <a:srgbClr val="000000"/>
              </a:solidFill>
              <a:latin typeface="Arial"/>
              <a:ea typeface="Arial"/>
              <a:cs typeface="Arial"/>
            </a:endParaRPr>
          </a:p>
        </p:txBody>
      </p:sp>
      <p:sp>
        <p:nvSpPr>
          <p:cNvPr id="609" name="Google Shape;609;p8">
            <a:extLst xmlns:a="http://schemas.openxmlformats.org/drawingml/2006/main">
              <a:ext uri="{FF2B5EF4-FFF2-40B4-BE49-F238E27FC236}">
                <a16:creationId xmlns:a16="http://schemas.microsoft.com/office/drawing/2014/main" id="{E07DB0BE-78B8-4E8F-B974-5E6A185CB24D}"/>
              </a:ext>
            </a:extLst>
          </p:cNvPr>
          <p:cNvSpPr>
            <a:spLocks xmlns:a="http://schemas.openxmlformats.org/drawingml/2006/main" noGrp="1"/>
          </p:cNvSpPr>
          <p:nvPr/>
        </p:nvSpPr>
        <p:spPr>
          <a:xfrm xmlns:a="http://schemas.openxmlformats.org/drawingml/2006/main">
            <a:off x="419100" y="14870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8">
            <a:extLst xmlns:a="http://schemas.openxmlformats.org/drawingml/2006/main">
              <a:ext uri="{FF2B5EF4-FFF2-40B4-BE49-F238E27FC236}">
                <a16:creationId xmlns:a16="http://schemas.microsoft.com/office/drawing/2014/main" id="{22794B90-9E70-4459-B39E-29483F1C219E}"/>
              </a:ext>
            </a:extLst>
          </p:cNvPr>
          <p:cNvSpPr>
            <a:spLocks xmlns:a="http://schemas.openxmlformats.org/drawingml/2006/main" noGrp="1"/>
          </p:cNvSpPr>
          <p:nvPr/>
        </p:nvSpPr>
        <p:spPr>
          <a:xfrm xmlns:a="http://schemas.openxmlformats.org/drawingml/2006/main">
            <a:off x="485775" y="1506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64003c87e7944788"/>
              </a:rPr>
              <a:t>01  Lightning deaths: 2,862 in 2020 (S5)</a:t>
            </a:r>
            <a:endParaRPr sz="860" b="0" i="0" u="none" strike="noStrike" cap="none">
              <a:solidFill>
                <a:srgbClr val="000000"/>
              </a:solidFill>
              <a:latin typeface="Arial"/>
              <a:ea typeface="Arial"/>
              <a:cs typeface="Arial"/>
            </a:endParaRPr>
          </a:p>
        </p:txBody>
      </p:sp>
      <p:sp>
        <p:nvSpPr>
          <p:cNvPr id="611" name="Google Shape;611;p8">
            <a:extLst xmlns:a="http://schemas.openxmlformats.org/drawingml/2006/main">
              <a:ext uri="{FF2B5EF4-FFF2-40B4-BE49-F238E27FC236}">
                <a16:creationId xmlns:a16="http://schemas.microsoft.com/office/drawing/2014/main" id="{B85FF8A3-35BB-4195-8145-E608F5D1396D}"/>
              </a:ext>
            </a:extLst>
          </p:cNvPr>
          <p:cNvSpPr>
            <a:spLocks xmlns:a="http://schemas.openxmlformats.org/drawingml/2006/main" noGrp="1"/>
          </p:cNvSpPr>
          <p:nvPr/>
        </p:nvSpPr>
        <p:spPr>
          <a:xfrm xmlns:a="http://schemas.openxmlformats.org/drawingml/2006/main">
            <a:off x="485775" y="1639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7a11188a9c8f47f7"/>
              </a:rPr>
              <a:t>MHA / NCRB, Rajya Sabha (2022)</a:t>
            </a:r>
            <a:endParaRPr sz="780" b="0" i="0" u="none" strike="noStrike" cap="none">
              <a:solidFill>
                <a:srgbClr val="000000"/>
              </a:solidFill>
              <a:latin typeface="Arial"/>
              <a:ea typeface="Arial"/>
              <a:cs typeface="Arial"/>
            </a:endParaRPr>
          </a:p>
        </p:txBody>
      </p:sp>
      <p:sp>
        <p:nvSpPr>
          <p:cNvPr id="612" name="Google Shape;612;p8">
            <a:extLst xmlns:a="http://schemas.openxmlformats.org/drawingml/2006/main">
              <a:ext uri="{FF2B5EF4-FFF2-40B4-BE49-F238E27FC236}">
                <a16:creationId xmlns:a16="http://schemas.microsoft.com/office/drawing/2014/main" id="{3E433DBE-9247-4D87-8296-751655FFEA2E}"/>
              </a:ext>
            </a:extLst>
          </p:cNvPr>
          <p:cNvSpPr>
            <a:spLocks xmlns:a="http://schemas.openxmlformats.org/drawingml/2006/main" noGrp="1"/>
          </p:cNvSpPr>
          <p:nvPr/>
        </p:nvSpPr>
        <p:spPr>
          <a:xfrm xmlns:a="http://schemas.openxmlformats.org/drawingml/2006/main">
            <a:off x="485775" y="1749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5e990fd72f564bad"/>
              </a:rPr>
              <a:t>Official historical count for India.</a:t>
            </a:r>
            <a:endParaRPr sz="780" b="0" i="0" u="none" strike="noStrike" cap="none">
              <a:solidFill>
                <a:srgbClr val="000000"/>
              </a:solidFill>
              <a:latin typeface="Arial"/>
              <a:ea typeface="Arial"/>
              <a:cs typeface="Arial"/>
            </a:endParaRPr>
          </a:p>
        </p:txBody>
      </p:sp>
      <p:sp>
        <p:nvSpPr>
          <p:cNvPr id="613" name="Google Shape;613;p8">
            <a:extLst xmlns:a="http://schemas.openxmlformats.org/drawingml/2006/main">
              <a:ext uri="{FF2B5EF4-FFF2-40B4-BE49-F238E27FC236}">
                <a16:creationId xmlns:a16="http://schemas.microsoft.com/office/drawing/2014/main" id="{47A77FBE-80BA-4190-8D6E-3598ECAF10D6}"/>
              </a:ext>
            </a:extLst>
          </p:cNvPr>
          <p:cNvSpPr>
            <a:spLocks xmlns:a="http://schemas.openxmlformats.org/drawingml/2006/main" noGrp="1"/>
          </p:cNvSpPr>
          <p:nvPr/>
        </p:nvSpPr>
        <p:spPr>
          <a:xfrm xmlns:a="http://schemas.openxmlformats.org/drawingml/2006/main">
            <a:off x="485775" y="1858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3eff8e7c43e4c7d"/>
              </a:rPr>
              <a:t>Does not estimate lives VAJRA could save.</a:t>
            </a:r>
            <a:endParaRPr sz="780" b="0" i="0" u="none" strike="noStrike" cap="none">
              <a:solidFill>
                <a:srgbClr val="000000"/>
              </a:solidFill>
              <a:latin typeface="Arial"/>
              <a:ea typeface="Arial"/>
              <a:cs typeface="Arial"/>
            </a:endParaRPr>
          </a:p>
        </p:txBody>
      </p:sp>
      <p:sp>
        <p:nvSpPr>
          <p:cNvPr id="614" name="Google Shape;614;p8">
            <a:extLst xmlns:a="http://schemas.openxmlformats.org/drawingml/2006/main">
              <a:ext uri="{FF2B5EF4-FFF2-40B4-BE49-F238E27FC236}">
                <a16:creationId xmlns:a16="http://schemas.microsoft.com/office/drawing/2014/main" id="{450898F1-AEAA-447B-9408-177B67F69F7C}"/>
              </a:ext>
            </a:extLst>
          </p:cNvPr>
          <p:cNvSpPr>
            <a:spLocks xmlns:a="http://schemas.openxmlformats.org/drawingml/2006/main" noGrp="1"/>
          </p:cNvSpPr>
          <p:nvPr/>
        </p:nvSpPr>
        <p:spPr>
          <a:xfrm xmlns:a="http://schemas.openxmlformats.org/drawingml/2006/main">
            <a:off x="419100" y="20014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5" name="Google Shape;615;p8">
            <a:extLst xmlns:a="http://schemas.openxmlformats.org/drawingml/2006/main">
              <a:ext uri="{FF2B5EF4-FFF2-40B4-BE49-F238E27FC236}">
                <a16:creationId xmlns:a16="http://schemas.microsoft.com/office/drawing/2014/main" id="{0DD7D28B-4D68-44F5-85E5-D972B753F40D}"/>
              </a:ext>
            </a:extLst>
          </p:cNvPr>
          <p:cNvSpPr>
            <a:spLocks xmlns:a="http://schemas.openxmlformats.org/drawingml/2006/main" noGrp="1"/>
          </p:cNvSpPr>
          <p:nvPr/>
        </p:nvSpPr>
        <p:spPr>
          <a:xfrm xmlns:a="http://schemas.openxmlformats.org/drawingml/2006/main">
            <a:off x="485775" y="2020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9bebd292bf6e441c"/>
              </a:rPr>
              <a:t>02  Existing Indian warning service (S2)</a:t>
            </a:r>
            <a:endParaRPr sz="860" b="0" i="0" u="none" strike="noStrike" cap="none">
              <a:solidFill>
                <a:srgbClr val="000000"/>
              </a:solidFill>
              <a:latin typeface="Arial"/>
              <a:ea typeface="Arial"/>
              <a:cs typeface="Arial"/>
            </a:endParaRPr>
          </a:p>
        </p:txBody>
      </p:sp>
      <p:sp>
        <p:nvSpPr>
          <p:cNvPr id="616" name="Google Shape;616;p8">
            <a:extLst xmlns:a="http://schemas.openxmlformats.org/drawingml/2006/main">
              <a:ext uri="{FF2B5EF4-FFF2-40B4-BE49-F238E27FC236}">
                <a16:creationId xmlns:a16="http://schemas.microsoft.com/office/drawing/2014/main" id="{61171F0C-C97F-4183-B0AC-376CAEAD1111}"/>
              </a:ext>
            </a:extLst>
          </p:cNvPr>
          <p:cNvSpPr>
            <a:spLocks xmlns:a="http://schemas.openxmlformats.org/drawingml/2006/main" noGrp="1"/>
          </p:cNvSpPr>
          <p:nvPr/>
        </p:nvSpPr>
        <p:spPr>
          <a:xfrm xmlns:a="http://schemas.openxmlformats.org/drawingml/2006/main">
            <a:off x="485775" y="2153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eec4a67f256d46a5"/>
              </a:rPr>
              <a:t>PIB / MoES, Damini (2022)</a:t>
            </a:r>
            <a:endParaRPr sz="780" b="0" i="0" u="none" strike="noStrike" cap="none">
              <a:solidFill>
                <a:srgbClr val="000000"/>
              </a:solidFill>
              <a:latin typeface="Arial"/>
              <a:ea typeface="Arial"/>
              <a:cs typeface="Arial"/>
            </a:endParaRPr>
          </a:p>
        </p:txBody>
      </p:sp>
      <p:sp>
        <p:nvSpPr>
          <p:cNvPr id="617" name="Google Shape;617;p8">
            <a:extLst xmlns:a="http://schemas.openxmlformats.org/drawingml/2006/main">
              <a:ext uri="{FF2B5EF4-FFF2-40B4-BE49-F238E27FC236}">
                <a16:creationId xmlns:a16="http://schemas.microsoft.com/office/drawing/2014/main" id="{C6175ACD-3769-401A-A12B-0EF57C245AD0}"/>
              </a:ext>
            </a:extLst>
          </p:cNvPr>
          <p:cNvSpPr>
            <a:spLocks xmlns:a="http://schemas.openxmlformats.org/drawingml/2006/main" noGrp="1"/>
          </p:cNvSpPr>
          <p:nvPr/>
        </p:nvSpPr>
        <p:spPr>
          <a:xfrm xmlns:a="http://schemas.openxmlformats.org/drawingml/2006/main">
            <a:off x="485775" y="2263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30190024622462c"/>
              </a:rPr>
              <a:t>Damini already provides advance alerts.</a:t>
            </a:r>
            <a:endParaRPr sz="780" b="0" i="0" u="none" strike="noStrike" cap="none">
              <a:solidFill>
                <a:srgbClr val="000000"/>
              </a:solidFill>
              <a:latin typeface="Arial"/>
              <a:ea typeface="Arial"/>
              <a:cs typeface="Arial"/>
            </a:endParaRPr>
          </a:p>
        </p:txBody>
      </p:sp>
      <p:sp>
        <p:nvSpPr>
          <p:cNvPr id="618" name="Google Shape;618;p8">
            <a:extLst xmlns:a="http://schemas.openxmlformats.org/drawingml/2006/main">
              <a:ext uri="{FF2B5EF4-FFF2-40B4-BE49-F238E27FC236}">
                <a16:creationId xmlns:a16="http://schemas.microsoft.com/office/drawing/2014/main" id="{68E0E8B1-F593-4968-BD56-4985163AF07A}"/>
              </a:ext>
            </a:extLst>
          </p:cNvPr>
          <p:cNvSpPr>
            <a:spLocks xmlns:a="http://schemas.openxmlformats.org/drawingml/2006/main" noGrp="1"/>
          </p:cNvSpPr>
          <p:nvPr/>
        </p:nvSpPr>
        <p:spPr>
          <a:xfrm xmlns:a="http://schemas.openxmlformats.org/drawingml/2006/main">
            <a:off x="485775" y="2372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0678ba9765943c1"/>
              </a:rPr>
              <a:t>VAJRA superiority remains unproven.</a:t>
            </a:r>
            <a:endParaRPr sz="780" b="0" i="0" u="none" strike="noStrike" cap="none">
              <a:solidFill>
                <a:srgbClr val="000000"/>
              </a:solidFill>
              <a:latin typeface="Arial"/>
              <a:ea typeface="Arial"/>
              <a:cs typeface="Arial"/>
            </a:endParaRPr>
          </a:p>
        </p:txBody>
      </p:sp>
      <p:sp>
        <p:nvSpPr>
          <p:cNvPr id="619" name="Google Shape;619;p8">
            <a:extLst xmlns:a="http://schemas.openxmlformats.org/drawingml/2006/main">
              <a:ext uri="{FF2B5EF4-FFF2-40B4-BE49-F238E27FC236}">
                <a16:creationId xmlns:a16="http://schemas.microsoft.com/office/drawing/2014/main" id="{60FED03E-27F1-4F38-914F-AB02625CDB6F}"/>
              </a:ext>
            </a:extLst>
          </p:cNvPr>
          <p:cNvSpPr>
            <a:spLocks xmlns:a="http://schemas.openxmlformats.org/drawingml/2006/main" noGrp="1"/>
          </p:cNvSpPr>
          <p:nvPr/>
        </p:nvSpPr>
        <p:spPr>
          <a:xfrm xmlns:a="http://schemas.openxmlformats.org/drawingml/2006/main">
            <a:off x="419100" y="25157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8">
            <a:extLst xmlns:a="http://schemas.openxmlformats.org/drawingml/2006/main">
              <a:ext uri="{FF2B5EF4-FFF2-40B4-BE49-F238E27FC236}">
                <a16:creationId xmlns:a16="http://schemas.microsoft.com/office/drawing/2014/main" id="{8E825FAC-2B7C-49F9-9DE2-C79C8563AD40}"/>
              </a:ext>
            </a:extLst>
          </p:cNvPr>
          <p:cNvSpPr>
            <a:spLocks xmlns:a="http://schemas.openxmlformats.org/drawingml/2006/main" noGrp="1"/>
          </p:cNvSpPr>
          <p:nvPr/>
        </p:nvSpPr>
        <p:spPr>
          <a:xfrm xmlns:a="http://schemas.openxmlformats.org/drawingml/2006/main">
            <a:off x="485775" y="2534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368beb73cba94676"/>
              </a:rPr>
              <a:t>03  Indian observations (S3)</a:t>
            </a:r>
            <a:endParaRPr sz="860" b="0" i="0" u="none" strike="noStrike" cap="none">
              <a:solidFill>
                <a:srgbClr val="000000"/>
              </a:solidFill>
              <a:latin typeface="Arial"/>
              <a:ea typeface="Arial"/>
              <a:cs typeface="Arial"/>
            </a:endParaRPr>
          </a:p>
        </p:txBody>
      </p:sp>
      <p:sp>
        <p:nvSpPr>
          <p:cNvPr id="621" name="Google Shape;621;p8">
            <a:extLst xmlns:a="http://schemas.openxmlformats.org/drawingml/2006/main">
              <a:ext uri="{FF2B5EF4-FFF2-40B4-BE49-F238E27FC236}">
                <a16:creationId xmlns:a16="http://schemas.microsoft.com/office/drawing/2014/main" id="{F25D0323-3B6F-41F8-825D-B42DAAE54F45}"/>
              </a:ext>
            </a:extLst>
          </p:cNvPr>
          <p:cNvSpPr>
            <a:spLocks xmlns:a="http://schemas.openxmlformats.org/drawingml/2006/main" noGrp="1"/>
          </p:cNvSpPr>
          <p:nvPr/>
        </p:nvSpPr>
        <p:spPr>
          <a:xfrm xmlns:a="http://schemas.openxmlformats.org/drawingml/2006/main">
            <a:off x="485775" y="2668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e6ea131e32d54ced"/>
              </a:rPr>
              <a:t>IMD, official data and API portal</a:t>
            </a:r>
            <a:endParaRPr sz="780" b="0" i="0" u="none" strike="noStrike" cap="none">
              <a:solidFill>
                <a:srgbClr val="000000"/>
              </a:solidFill>
              <a:latin typeface="Arial"/>
              <a:ea typeface="Arial"/>
              <a:cs typeface="Arial"/>
            </a:endParaRPr>
          </a:p>
        </p:txBody>
      </p:sp>
      <p:sp>
        <p:nvSpPr>
          <p:cNvPr id="622" name="Google Shape;622;p8">
            <a:extLst xmlns:a="http://schemas.openxmlformats.org/drawingml/2006/main">
              <a:ext uri="{FF2B5EF4-FFF2-40B4-BE49-F238E27FC236}">
                <a16:creationId xmlns:a16="http://schemas.microsoft.com/office/drawing/2014/main" id="{DA3DF28F-05B6-42B9-A52A-02F5274EB98E}"/>
              </a:ext>
            </a:extLst>
          </p:cNvPr>
          <p:cNvSpPr>
            <a:spLocks xmlns:a="http://schemas.openxmlformats.org/drawingml/2006/main" noGrp="1"/>
          </p:cNvSpPr>
          <p:nvPr/>
        </p:nvSpPr>
        <p:spPr>
          <a:xfrm xmlns:a="http://schemas.openxmlformats.org/drawingml/2006/main">
            <a:off x="485775" y="2777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7dcf8313d824c85"/>
              </a:rPr>
              <a:t>Station, radar and warning information.</a:t>
            </a:r>
            <a:endParaRPr sz="780" b="0" i="0" u="none" strike="noStrike" cap="none">
              <a:solidFill>
                <a:srgbClr val="000000"/>
              </a:solidFill>
              <a:latin typeface="Arial"/>
              <a:ea typeface="Arial"/>
              <a:cs typeface="Arial"/>
            </a:endParaRPr>
          </a:p>
        </p:txBody>
      </p:sp>
      <p:sp>
        <p:nvSpPr>
          <p:cNvPr id="623" name="Google Shape;623;p8">
            <a:extLst xmlns:a="http://schemas.openxmlformats.org/drawingml/2006/main">
              <a:ext uri="{FF2B5EF4-FFF2-40B4-BE49-F238E27FC236}">
                <a16:creationId xmlns:a16="http://schemas.microsoft.com/office/drawing/2014/main" id="{1AF987B9-31B9-4BA4-B75B-EC0EC94F24B3}"/>
              </a:ext>
            </a:extLst>
          </p:cNvPr>
          <p:cNvSpPr>
            <a:spLocks xmlns:a="http://schemas.openxmlformats.org/drawingml/2006/main" noGrp="1"/>
          </p:cNvSpPr>
          <p:nvPr/>
        </p:nvSpPr>
        <p:spPr>
          <a:xfrm xmlns:a="http://schemas.openxmlformats.org/drawingml/2006/main">
            <a:off x="485775" y="2887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499ca87f32af498c"/>
              </a:rPr>
              <a:t>Numeric NCR radar access still needed.</a:t>
            </a:r>
            <a:endParaRPr sz="780" b="0" i="0" u="none" strike="noStrike" cap="none">
              <a:solidFill>
                <a:srgbClr val="000000"/>
              </a:solidFill>
              <a:latin typeface="Arial"/>
              <a:ea typeface="Arial"/>
              <a:cs typeface="Arial"/>
            </a:endParaRPr>
          </a:p>
        </p:txBody>
      </p:sp>
      <p:sp>
        <p:nvSpPr>
          <p:cNvPr id="624" name="Google Shape;624;p8">
            <a:extLst xmlns:a="http://schemas.openxmlformats.org/drawingml/2006/main">
              <a:ext uri="{FF2B5EF4-FFF2-40B4-BE49-F238E27FC236}">
                <a16:creationId xmlns:a16="http://schemas.microsoft.com/office/drawing/2014/main" id="{A0BA457A-04CC-40CE-9033-35D1CD179F0B}"/>
              </a:ext>
            </a:extLst>
          </p:cNvPr>
          <p:cNvSpPr>
            <a:spLocks xmlns:a="http://schemas.openxmlformats.org/drawingml/2006/main" noGrp="1"/>
          </p:cNvSpPr>
          <p:nvPr/>
        </p:nvSpPr>
        <p:spPr>
          <a:xfrm xmlns:a="http://schemas.openxmlformats.org/drawingml/2006/main">
            <a:off x="419100" y="3030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8">
            <a:extLst xmlns:a="http://schemas.openxmlformats.org/drawingml/2006/main">
              <a:ext uri="{FF2B5EF4-FFF2-40B4-BE49-F238E27FC236}">
                <a16:creationId xmlns:a16="http://schemas.microsoft.com/office/drawing/2014/main" id="{CF378906-48FF-4316-869F-B0C7ED3BD958}"/>
              </a:ext>
            </a:extLst>
          </p:cNvPr>
          <p:cNvSpPr>
            <a:spLocks xmlns:a="http://schemas.openxmlformats.org/drawingml/2006/main" noGrp="1"/>
          </p:cNvSpPr>
          <p:nvPr/>
        </p:nvSpPr>
        <p:spPr>
          <a:xfrm xmlns:a="http://schemas.openxmlformats.org/drawingml/2006/main">
            <a:off x="485775" y="3049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b4e67af7cc7c4f46"/>
              </a:rPr>
              <a:t>04  INSAT data and rights (S3)</a:t>
            </a:r>
            <a:endParaRPr sz="860" b="0" i="0" u="none" strike="noStrike" cap="none">
              <a:solidFill>
                <a:srgbClr val="000000"/>
              </a:solidFill>
              <a:latin typeface="Arial"/>
              <a:ea typeface="Arial"/>
              <a:cs typeface="Arial"/>
            </a:endParaRPr>
          </a:p>
        </p:txBody>
      </p:sp>
      <p:sp>
        <p:nvSpPr>
          <p:cNvPr id="626" name="Google Shape;626;p8">
            <a:extLst xmlns:a="http://schemas.openxmlformats.org/drawingml/2006/main">
              <a:ext uri="{FF2B5EF4-FFF2-40B4-BE49-F238E27FC236}">
                <a16:creationId xmlns:a16="http://schemas.microsoft.com/office/drawing/2014/main" id="{2F34955D-2883-42FC-BDEC-DC9D02DB8900}"/>
              </a:ext>
            </a:extLst>
          </p:cNvPr>
          <p:cNvSpPr>
            <a:spLocks xmlns:a="http://schemas.openxmlformats.org/drawingml/2006/main" noGrp="1"/>
          </p:cNvSpPr>
          <p:nvPr/>
        </p:nvSpPr>
        <p:spPr>
          <a:xfrm xmlns:a="http://schemas.openxmlformats.org/drawingml/2006/main">
            <a:off x="485775" y="3182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33b5cab50e9945bf"/>
              </a:rPr>
              <a:t>ISRO MOSDAC data guidelines</a:t>
            </a:r>
            <a:endParaRPr sz="780" b="0" i="0" u="none" strike="noStrike" cap="none">
              <a:solidFill>
                <a:srgbClr val="000000"/>
              </a:solidFill>
              <a:latin typeface="Arial"/>
              <a:ea typeface="Arial"/>
              <a:cs typeface="Arial"/>
            </a:endParaRPr>
          </a:p>
        </p:txBody>
      </p:sp>
      <p:sp>
        <p:nvSpPr>
          <p:cNvPr id="627" name="Google Shape;627;p8">
            <a:extLst xmlns:a="http://schemas.openxmlformats.org/drawingml/2006/main">
              <a:ext uri="{FF2B5EF4-FFF2-40B4-BE49-F238E27FC236}">
                <a16:creationId xmlns:a16="http://schemas.microsoft.com/office/drawing/2014/main" id="{6C5BE38A-F530-48F5-A5D5-3C580CD50D15}"/>
              </a:ext>
            </a:extLst>
          </p:cNvPr>
          <p:cNvSpPr>
            <a:spLocks xmlns:a="http://schemas.openxmlformats.org/drawingml/2006/main" noGrp="1"/>
          </p:cNvSpPr>
          <p:nvPr/>
        </p:nvSpPr>
        <p:spPr>
          <a:xfrm xmlns:a="http://schemas.openxmlformats.org/drawingml/2006/main">
            <a:off x="485775" y="3292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fcf2e66a8fc48ae"/>
              </a:rPr>
              <a:t>Satellite observations and permitted use.</a:t>
            </a:r>
            <a:endParaRPr sz="780" b="0" i="0" u="none" strike="noStrike" cap="none">
              <a:solidFill>
                <a:srgbClr val="000000"/>
              </a:solidFill>
              <a:latin typeface="Arial"/>
              <a:ea typeface="Arial"/>
              <a:cs typeface="Arial"/>
            </a:endParaRPr>
          </a:p>
        </p:txBody>
      </p:sp>
      <p:sp>
        <p:nvSpPr>
          <p:cNvPr id="628" name="Google Shape;628;p8">
            <a:extLst xmlns:a="http://schemas.openxmlformats.org/drawingml/2006/main">
              <a:ext uri="{FF2B5EF4-FFF2-40B4-BE49-F238E27FC236}">
                <a16:creationId xmlns:a16="http://schemas.microsoft.com/office/drawing/2014/main" id="{6E96FB7E-9892-4C1B-B63A-505AEBEDB0A0}"/>
              </a:ext>
            </a:extLst>
          </p:cNvPr>
          <p:cNvSpPr>
            <a:spLocks xmlns:a="http://schemas.openxmlformats.org/drawingml/2006/main" noGrp="1"/>
          </p:cNvSpPr>
          <p:nvPr/>
        </p:nvSpPr>
        <p:spPr>
          <a:xfrm xmlns:a="http://schemas.openxmlformats.org/drawingml/2006/main">
            <a:off x="485775" y="3401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81e47a0d9354b9d"/>
              </a:rPr>
              <a:t>Confirm redistribution before any release.</a:t>
            </a:r>
            <a:endParaRPr sz="780" b="0" i="0" u="none" strike="noStrike" cap="none">
              <a:solidFill>
                <a:srgbClr val="000000"/>
              </a:solidFill>
              <a:latin typeface="Arial"/>
              <a:ea typeface="Arial"/>
              <a:cs typeface="Arial"/>
            </a:endParaRPr>
          </a:p>
        </p:txBody>
      </p:sp>
      <p:sp>
        <p:nvSpPr>
          <p:cNvPr id="629" name="Google Shape;629;p8">
            <a:extLst xmlns:a="http://schemas.openxmlformats.org/drawingml/2006/main">
              <a:ext uri="{FF2B5EF4-FFF2-40B4-BE49-F238E27FC236}">
                <a16:creationId xmlns:a16="http://schemas.microsoft.com/office/drawing/2014/main" id="{3E72D930-A988-4D99-8ADC-BDAC8AEA0870}"/>
              </a:ext>
            </a:extLst>
          </p:cNvPr>
          <p:cNvSpPr>
            <a:spLocks xmlns:a="http://schemas.openxmlformats.org/drawingml/2006/main" noGrp="1"/>
          </p:cNvSpPr>
          <p:nvPr/>
        </p:nvSpPr>
        <p:spPr>
          <a:xfrm xmlns:a="http://schemas.openxmlformats.org/drawingml/2006/main">
            <a:off x="419100" y="354449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0" name="Google Shape;630;p8">
            <a:extLst xmlns:a="http://schemas.openxmlformats.org/drawingml/2006/main">
              <a:ext uri="{FF2B5EF4-FFF2-40B4-BE49-F238E27FC236}">
                <a16:creationId xmlns:a16="http://schemas.microsoft.com/office/drawing/2014/main" id="{61732381-289A-4F60-B8E1-9886D173238E}"/>
              </a:ext>
            </a:extLst>
          </p:cNvPr>
          <p:cNvSpPr>
            <a:spLocks xmlns:a="http://schemas.openxmlformats.org/drawingml/2006/main" noGrp="1"/>
          </p:cNvSpPr>
          <p:nvPr/>
        </p:nvSpPr>
        <p:spPr>
          <a:xfrm xmlns:a="http://schemas.openxmlformats.org/drawingml/2006/main">
            <a:off x="485775" y="3563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92604a22e44748e1"/>
              </a:rPr>
              <a:t>05  Indian lightning labels (S3)</a:t>
            </a:r>
            <a:endParaRPr sz="860" b="0" i="0" u="none" strike="noStrike" cap="none">
              <a:solidFill>
                <a:srgbClr val="000000"/>
              </a:solidFill>
              <a:latin typeface="Arial"/>
              <a:ea typeface="Arial"/>
              <a:cs typeface="Arial"/>
            </a:endParaRPr>
          </a:p>
        </p:txBody>
      </p:sp>
      <p:sp>
        <p:nvSpPr>
          <p:cNvPr id="631" name="Google Shape;631;p8">
            <a:extLst xmlns:a="http://schemas.openxmlformats.org/drawingml/2006/main">
              <a:ext uri="{FF2B5EF4-FFF2-40B4-BE49-F238E27FC236}">
                <a16:creationId xmlns:a16="http://schemas.microsoft.com/office/drawing/2014/main" id="{AA262BDB-D8C6-4105-B4EA-B861C7A4AD5F}"/>
              </a:ext>
            </a:extLst>
          </p:cNvPr>
          <p:cNvSpPr>
            <a:spLocks xmlns:a="http://schemas.openxmlformats.org/drawingml/2006/main" noGrp="1"/>
          </p:cNvSpPr>
          <p:nvPr/>
        </p:nvSpPr>
        <p:spPr>
          <a:xfrm xmlns:a="http://schemas.openxmlformats.org/drawingml/2006/main">
            <a:off x="485775" y="36968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e2c98369e7484bb5"/>
              </a:rPr>
              <a:t>INCOIS catalogue, IITM network</a:t>
            </a:r>
            <a:endParaRPr sz="780" b="0" i="0" u="none" strike="noStrike" cap="none">
              <a:solidFill>
                <a:srgbClr val="000000"/>
              </a:solidFill>
              <a:latin typeface="Arial"/>
              <a:ea typeface="Arial"/>
              <a:cs typeface="Arial"/>
            </a:endParaRPr>
          </a:p>
        </p:txBody>
      </p:sp>
      <p:sp>
        <p:nvSpPr>
          <p:cNvPr id="632" name="Google Shape;632;p8">
            <a:extLst xmlns:a="http://schemas.openxmlformats.org/drawingml/2006/main">
              <a:ext uri="{FF2B5EF4-FFF2-40B4-BE49-F238E27FC236}">
                <a16:creationId xmlns:a16="http://schemas.microsoft.com/office/drawing/2014/main" id="{EA78F387-01E0-4517-B439-11338E954440}"/>
              </a:ext>
            </a:extLst>
          </p:cNvPr>
          <p:cNvSpPr>
            <a:spLocks xmlns:a="http://schemas.openxmlformats.org/drawingml/2006/main" noGrp="1"/>
          </p:cNvSpPr>
          <p:nvPr/>
        </p:nvSpPr>
        <p:spPr>
          <a:xfrm xmlns:a="http://schemas.openxmlformats.org/drawingml/2006/main">
            <a:off x="485775" y="38064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f1b6cceeddb7462e"/>
              </a:rPr>
              <a:t>2019 stroke location, time and attributes.</a:t>
            </a:r>
            <a:endParaRPr sz="780" b="0" i="0" u="none" strike="noStrike" cap="none">
              <a:solidFill>
                <a:srgbClr val="000000"/>
              </a:solidFill>
              <a:latin typeface="Arial"/>
              <a:ea typeface="Arial"/>
              <a:cs typeface="Arial"/>
            </a:endParaRPr>
          </a:p>
        </p:txBody>
      </p:sp>
      <p:sp>
        <p:nvSpPr>
          <p:cNvPr id="633" name="Google Shape;633;p8">
            <a:extLst xmlns:a="http://schemas.openxmlformats.org/drawingml/2006/main">
              <a:ext uri="{FF2B5EF4-FFF2-40B4-BE49-F238E27FC236}">
                <a16:creationId xmlns:a16="http://schemas.microsoft.com/office/drawing/2014/main" id="{0774A371-4CBE-4BBF-AD5C-DFB3551B5006}"/>
              </a:ext>
            </a:extLst>
          </p:cNvPr>
          <p:cNvSpPr>
            <a:spLocks xmlns:a="http://schemas.openxmlformats.org/drawingml/2006/main" noGrp="1"/>
          </p:cNvSpPr>
          <p:nvPr/>
        </p:nvSpPr>
        <p:spPr>
          <a:xfrm xmlns:a="http://schemas.openxmlformats.org/drawingml/2006/main">
            <a:off x="485775" y="39159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f2e05d26e8943a1"/>
              </a:rPr>
              <a:t>Metadata is not a matched training corpus.</a:t>
            </a:r>
            <a:endParaRPr sz="780" b="0" i="0" u="none" strike="noStrike" cap="none">
              <a:solidFill>
                <a:srgbClr val="000000"/>
              </a:solidFill>
              <a:latin typeface="Arial"/>
              <a:ea typeface="Arial"/>
              <a:cs typeface="Arial"/>
            </a:endParaRPr>
          </a:p>
        </p:txBody>
      </p:sp>
      <p:sp>
        <p:nvSpPr>
          <p:cNvPr id="634" name="Google Shape;634;p8">
            <a:extLst xmlns:a="http://schemas.openxmlformats.org/drawingml/2006/main">
              <a:ext uri="{FF2B5EF4-FFF2-40B4-BE49-F238E27FC236}">
                <a16:creationId xmlns:a16="http://schemas.microsoft.com/office/drawing/2014/main" id="{1DBF40E1-BA7F-40A4-AE47-76BD2122B0A9}"/>
              </a:ext>
            </a:extLst>
          </p:cNvPr>
          <p:cNvSpPr>
            <a:spLocks xmlns:a="http://schemas.openxmlformats.org/drawingml/2006/main" noGrp="1"/>
          </p:cNvSpPr>
          <p:nvPr/>
        </p:nvSpPr>
        <p:spPr>
          <a:xfrm xmlns:a="http://schemas.openxmlformats.org/drawingml/2006/main">
            <a:off x="485775" y="402550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1bd5e8353854ff0"/>
              </a:rPr>
              <a:t>Network coverage is required for negatives.</a:t>
            </a:r>
            <a:endParaRPr sz="780" b="0" i="0" u="none" strike="noStrike" cap="none">
              <a:solidFill>
                <a:srgbClr val="000000"/>
              </a:solidFill>
              <a:latin typeface="Arial"/>
              <a:ea typeface="Arial"/>
              <a:cs typeface="Arial"/>
            </a:endParaRPr>
          </a:p>
        </p:txBody>
      </p:sp>
      <p:sp>
        <p:nvSpPr>
          <p:cNvPr id="635" name="Google Shape;635;p8">
            <a:extLst xmlns:a="http://schemas.openxmlformats.org/drawingml/2006/main">
              <a:ext uri="{FF2B5EF4-FFF2-40B4-BE49-F238E27FC236}">
                <a16:creationId xmlns:a16="http://schemas.microsoft.com/office/drawing/2014/main" id="{6D096CD4-B440-478D-902B-26A6C26188ED}"/>
              </a:ext>
            </a:extLst>
          </p:cNvPr>
          <p:cNvSpPr>
            <a:spLocks xmlns:a="http://schemas.openxmlformats.org/drawingml/2006/main" noGrp="1"/>
          </p:cNvSpPr>
          <p:nvPr/>
        </p:nvSpPr>
        <p:spPr>
          <a:xfrm xmlns:a="http://schemas.openxmlformats.org/drawingml/2006/main">
            <a:off x="419100" y="417314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6" name="Google Shape;636;p8">
            <a:extLst xmlns:a="http://schemas.openxmlformats.org/drawingml/2006/main">
              <a:ext uri="{FF2B5EF4-FFF2-40B4-BE49-F238E27FC236}">
                <a16:creationId xmlns:a16="http://schemas.microsoft.com/office/drawing/2014/main" id="{2FBE0881-AA1A-4756-B047-0A277B025AB4}"/>
              </a:ext>
            </a:extLst>
          </p:cNvPr>
          <p:cNvSpPr>
            <a:spLocks xmlns:a="http://schemas.openxmlformats.org/drawingml/2006/main" noGrp="1"/>
          </p:cNvSpPr>
          <p:nvPr/>
        </p:nvSpPr>
        <p:spPr>
          <a:xfrm xmlns:a="http://schemas.openxmlformats.org/drawingml/2006/main">
            <a:off x="485775" y="4192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1160277e38564d8d"/>
              </a:rPr>
              <a:t>06  Supplemental rain labels (S3)</a:t>
            </a:r>
            <a:endParaRPr sz="860" b="0" i="0" u="none" strike="noStrike" cap="none">
              <a:solidFill>
                <a:srgbClr val="000000"/>
              </a:solidFill>
              <a:latin typeface="Arial"/>
              <a:ea typeface="Arial"/>
              <a:cs typeface="Arial"/>
            </a:endParaRPr>
          </a:p>
        </p:txBody>
      </p:sp>
      <p:sp>
        <p:nvSpPr>
          <p:cNvPr id="637" name="Google Shape;637;p8">
            <a:extLst xmlns:a="http://schemas.openxmlformats.org/drawingml/2006/main">
              <a:ext uri="{FF2B5EF4-FFF2-40B4-BE49-F238E27FC236}">
                <a16:creationId xmlns:a16="http://schemas.microsoft.com/office/drawing/2014/main" id="{4F214CE4-941E-47E6-8E11-883535D13C3B}"/>
              </a:ext>
            </a:extLst>
          </p:cNvPr>
          <p:cNvSpPr>
            <a:spLocks xmlns:a="http://schemas.openxmlformats.org/drawingml/2006/main" noGrp="1"/>
          </p:cNvSpPr>
          <p:nvPr/>
        </p:nvSpPr>
        <p:spPr>
          <a:xfrm xmlns:a="http://schemas.openxmlformats.org/drawingml/2006/main">
            <a:off x="485775" y="4325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06a77b62a73143f2"/>
              </a:rPr>
              <a:t>NASA GPM IMERG V07</a:t>
            </a:r>
            <a:endParaRPr sz="780" b="0" i="0" u="none" strike="noStrike" cap="none">
              <a:solidFill>
                <a:srgbClr val="000000"/>
              </a:solidFill>
              <a:latin typeface="Arial"/>
              <a:ea typeface="Arial"/>
              <a:cs typeface="Arial"/>
            </a:endParaRPr>
          </a:p>
        </p:txBody>
      </p:sp>
      <p:sp>
        <p:nvSpPr>
          <p:cNvPr id="638" name="Google Shape;638;p8">
            <a:extLst xmlns:a="http://schemas.openxmlformats.org/drawingml/2006/main">
              <a:ext uri="{FF2B5EF4-FFF2-40B4-BE49-F238E27FC236}">
                <a16:creationId xmlns:a16="http://schemas.microsoft.com/office/drawing/2014/main" id="{DE952BD2-C4D4-4D53-AC98-04119487C596}"/>
              </a:ext>
            </a:extLst>
          </p:cNvPr>
          <p:cNvSpPr>
            <a:spLocks xmlns:a="http://schemas.openxmlformats.org/drawingml/2006/main" noGrp="1"/>
          </p:cNvSpPr>
          <p:nvPr/>
        </p:nvSpPr>
        <p:spPr>
          <a:xfrm xmlns:a="http://schemas.openxmlformats.org/drawingml/2006/main">
            <a:off x="485775" y="4435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603f0077714a45d0"/>
              </a:rPr>
              <a:t>Half-hourly rain estimates at 0.1 degree.</a:t>
            </a:r>
            <a:endParaRPr sz="780" b="0" i="0" u="none" strike="noStrike" cap="none">
              <a:solidFill>
                <a:srgbClr val="000000"/>
              </a:solidFill>
              <a:latin typeface="Arial"/>
              <a:ea typeface="Arial"/>
              <a:cs typeface="Arial"/>
            </a:endParaRPr>
          </a:p>
        </p:txBody>
      </p:sp>
      <p:sp>
        <p:nvSpPr>
          <p:cNvPr id="639" name="Google Shape;639;p8">
            <a:extLst xmlns:a="http://schemas.openxmlformats.org/drawingml/2006/main">
              <a:ext uri="{FF2B5EF4-FFF2-40B4-BE49-F238E27FC236}">
                <a16:creationId xmlns:a16="http://schemas.microsoft.com/office/drawing/2014/main" id="{D1D04D53-F218-4304-BEB9-1CCE7B33D50E}"/>
              </a:ext>
            </a:extLst>
          </p:cNvPr>
          <p:cNvSpPr>
            <a:spLocks xmlns:a="http://schemas.openxmlformats.org/drawingml/2006/main" noGrp="1"/>
          </p:cNvSpPr>
          <p:nvPr/>
        </p:nvSpPr>
        <p:spPr>
          <a:xfrm xmlns:a="http://schemas.openxmlformats.org/drawingml/2006/main">
            <a:off x="485775" y="4544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90a213da3c24fb3"/>
              </a:rPr>
              <a:t>Check latency and quality before use.</a:t>
            </a:r>
            <a:endParaRPr sz="780" b="0" i="0" u="none" strike="noStrike" cap="none">
              <a:solidFill>
                <a:srgbClr val="000000"/>
              </a:solidFill>
              <a:latin typeface="Arial"/>
              <a:ea typeface="Arial"/>
              <a:cs typeface="Arial"/>
            </a:endParaRPr>
          </a:p>
        </p:txBody>
      </p:sp>
      <p:sp>
        <p:nvSpPr>
          <p:cNvPr id="640" name="Google Shape;640;p8">
            <a:extLst xmlns:a="http://schemas.openxmlformats.org/drawingml/2006/main">
              <a:ext uri="{FF2B5EF4-FFF2-40B4-BE49-F238E27FC236}">
                <a16:creationId xmlns:a16="http://schemas.microsoft.com/office/drawing/2014/main" id="{50D8E78A-9210-46E1-9B4E-01C8E9ACA96A}"/>
              </a:ext>
            </a:extLst>
          </p:cNvPr>
          <p:cNvSpPr>
            <a:spLocks xmlns:a="http://schemas.openxmlformats.org/drawingml/2006/main" noGrp="1"/>
          </p:cNvSpPr>
          <p:nvPr/>
        </p:nvSpPr>
        <p:spPr>
          <a:xfrm xmlns:a="http://schemas.openxmlformats.org/drawingml/2006/main">
            <a:off x="485775" y="46541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c19c7c32759e4766"/>
              </a:rPr>
              <a:t>Not independent street-scale gauge truth.</a:t>
            </a:r>
            <a:endParaRPr sz="780" b="0" i="0" u="none" strike="noStrike" cap="none">
              <a:solidFill>
                <a:srgbClr val="000000"/>
              </a:solidFill>
              <a:latin typeface="Arial"/>
              <a:ea typeface="Arial"/>
              <a:cs typeface="Arial"/>
            </a:endParaRPr>
          </a:p>
        </p:txBody>
      </p:sp>
      <p:sp>
        <p:nvSpPr>
          <p:cNvPr id="641" name="Google Shape;641;p8">
            <a:extLst xmlns:a="http://schemas.openxmlformats.org/drawingml/2006/main">
              <a:ext uri="{FF2B5EF4-FFF2-40B4-BE49-F238E27FC236}">
                <a16:creationId xmlns:a16="http://schemas.microsoft.com/office/drawing/2014/main" id="{929EC6E0-FDB8-4E92-B294-787063684749}"/>
              </a:ext>
            </a:extLst>
          </p:cNvPr>
          <p:cNvSpPr>
            <a:spLocks xmlns:a="http://schemas.openxmlformats.org/drawingml/2006/main" noGrp="1"/>
          </p:cNvSpPr>
          <p:nvPr/>
        </p:nvSpPr>
        <p:spPr>
          <a:xfrm xmlns:a="http://schemas.openxmlformats.org/drawingml/2006/main">
            <a:off x="419100" y="48017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2" name="Google Shape;642;p8">
            <a:extLst xmlns:a="http://schemas.openxmlformats.org/drawingml/2006/main">
              <a:ext uri="{FF2B5EF4-FFF2-40B4-BE49-F238E27FC236}">
                <a16:creationId xmlns:a16="http://schemas.microsoft.com/office/drawing/2014/main" id="{7E90350B-922C-4E78-8A22-05864771A827}"/>
              </a:ext>
            </a:extLst>
          </p:cNvPr>
          <p:cNvSpPr>
            <a:spLocks xmlns:a="http://schemas.openxmlformats.org/drawingml/2006/main" noGrp="1"/>
          </p:cNvSpPr>
          <p:nvPr/>
        </p:nvSpPr>
        <p:spPr>
          <a:xfrm xmlns:a="http://schemas.openxmlformats.org/drawingml/2006/main">
            <a:off x="485775" y="4820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b0827934b0a04907"/>
              </a:rPr>
              <a:t>07  Environmental model inputs (S3)</a:t>
            </a:r>
            <a:endParaRPr sz="860" b="0" i="0" u="none" strike="noStrike" cap="none">
              <a:solidFill>
                <a:srgbClr val="000000"/>
              </a:solidFill>
              <a:latin typeface="Arial"/>
              <a:ea typeface="Arial"/>
              <a:cs typeface="Arial"/>
            </a:endParaRPr>
          </a:p>
        </p:txBody>
      </p:sp>
      <p:sp>
        <p:nvSpPr>
          <p:cNvPr id="643" name="Google Shape;643;p8">
            <a:extLst xmlns:a="http://schemas.openxmlformats.org/drawingml/2006/main">
              <a:ext uri="{FF2B5EF4-FFF2-40B4-BE49-F238E27FC236}">
                <a16:creationId xmlns:a16="http://schemas.microsoft.com/office/drawing/2014/main" id="{FDDD32F7-6887-4AC1-BE4C-C64004D5EEAA}"/>
              </a:ext>
            </a:extLst>
          </p:cNvPr>
          <p:cNvSpPr>
            <a:spLocks xmlns:a="http://schemas.openxmlformats.org/drawingml/2006/main" noGrp="1"/>
          </p:cNvSpPr>
          <p:nvPr/>
        </p:nvSpPr>
        <p:spPr>
          <a:xfrm xmlns:a="http://schemas.openxmlformats.org/drawingml/2006/main">
            <a:off x="485775" y="4954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a94dccc3c88e46f1"/>
              </a:rPr>
              <a:t>Open-Meteo forecast API</a:t>
            </a:r>
            <a:endParaRPr sz="780" b="0" i="0" u="none" strike="noStrike" cap="none">
              <a:solidFill>
                <a:srgbClr val="000000"/>
              </a:solidFill>
              <a:latin typeface="Arial"/>
              <a:ea typeface="Arial"/>
              <a:cs typeface="Arial"/>
            </a:endParaRPr>
          </a:p>
        </p:txBody>
      </p:sp>
      <p:sp>
        <p:nvSpPr>
          <p:cNvPr id="644" name="Google Shape;644;p8">
            <a:extLst xmlns:a="http://schemas.openxmlformats.org/drawingml/2006/main">
              <a:ext uri="{FF2B5EF4-FFF2-40B4-BE49-F238E27FC236}">
                <a16:creationId xmlns:a16="http://schemas.microsoft.com/office/drawing/2014/main" id="{0F78E67D-10EE-4E76-A12D-CC8F26C186E8}"/>
              </a:ext>
            </a:extLst>
          </p:cNvPr>
          <p:cNvSpPr>
            <a:spLocks xmlns:a="http://schemas.openxmlformats.org/drawingml/2006/main" noGrp="1"/>
          </p:cNvSpPr>
          <p:nvPr/>
        </p:nvSpPr>
        <p:spPr>
          <a:xfrm xmlns:a="http://schemas.openxmlformats.org/drawingml/2006/main">
            <a:off x="485775" y="5063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73e43c0f8864d38"/>
              </a:rPr>
              <a:t>CAPE, humidity, wind and model rain.</a:t>
            </a:r>
            <a:endParaRPr sz="780" b="0" i="0" u="none" strike="noStrike" cap="none">
              <a:solidFill>
                <a:srgbClr val="000000"/>
              </a:solidFill>
              <a:latin typeface="Arial"/>
              <a:ea typeface="Arial"/>
              <a:cs typeface="Arial"/>
            </a:endParaRPr>
          </a:p>
        </p:txBody>
      </p:sp>
      <p:sp>
        <p:nvSpPr>
          <p:cNvPr id="645" name="Google Shape;645;p8">
            <a:extLst xmlns:a="http://schemas.openxmlformats.org/drawingml/2006/main">
              <a:ext uri="{FF2B5EF4-FFF2-40B4-BE49-F238E27FC236}">
                <a16:creationId xmlns:a16="http://schemas.microsoft.com/office/drawing/2014/main" id="{A87BA891-E7BB-4E26-A896-04670DEA4620}"/>
              </a:ext>
            </a:extLst>
          </p:cNvPr>
          <p:cNvSpPr>
            <a:spLocks xmlns:a="http://schemas.openxmlformats.org/drawingml/2006/main" noGrp="1"/>
          </p:cNvSpPr>
          <p:nvPr/>
        </p:nvSpPr>
        <p:spPr>
          <a:xfrm xmlns:a="http://schemas.openxmlformats.org/drawingml/2006/main">
            <a:off x="485775" y="5173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4376a199b8db424a"/>
              </a:rPr>
              <a:t>Forecast context, not observed rain truth.</a:t>
            </a:r>
            <a:endParaRPr sz="780" b="0" i="0" u="none" strike="noStrike" cap="none">
              <a:solidFill>
                <a:srgbClr val="000000"/>
              </a:solidFill>
              <a:latin typeface="Arial"/>
              <a:ea typeface="Arial"/>
              <a:cs typeface="Arial"/>
            </a:endParaRPr>
          </a:p>
        </p:txBody>
      </p:sp>
      <p:sp>
        <p:nvSpPr>
          <p:cNvPr id="646" name="Google Shape;646;p8">
            <a:extLst xmlns:a="http://schemas.openxmlformats.org/drawingml/2006/main">
              <a:ext uri="{FF2B5EF4-FFF2-40B4-BE49-F238E27FC236}">
                <a16:creationId xmlns:a16="http://schemas.microsoft.com/office/drawing/2014/main" id="{CB439D3D-2F4A-443C-B4C8-088537D44AD1}"/>
              </a:ext>
            </a:extLst>
          </p:cNvPr>
          <p:cNvSpPr>
            <a:spLocks xmlns:a="http://schemas.openxmlformats.org/drawingml/2006/main" noGrp="1"/>
          </p:cNvSpPr>
          <p:nvPr/>
        </p:nvSpPr>
        <p:spPr>
          <a:xfrm xmlns:a="http://schemas.openxmlformats.org/drawingml/2006/main">
            <a:off x="419100" y="5316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7" name="Google Shape;647;p8">
            <a:extLst xmlns:a="http://schemas.openxmlformats.org/drawingml/2006/main">
              <a:ext uri="{FF2B5EF4-FFF2-40B4-BE49-F238E27FC236}">
                <a16:creationId xmlns:a16="http://schemas.microsoft.com/office/drawing/2014/main" id="{A8C6A117-89A6-482F-9CAB-41380619575D}"/>
              </a:ext>
            </a:extLst>
          </p:cNvPr>
          <p:cNvSpPr>
            <a:spLocks xmlns:a="http://schemas.openxmlformats.org/drawingml/2006/main" noGrp="1"/>
          </p:cNvSpPr>
          <p:nvPr/>
        </p:nvSpPr>
        <p:spPr>
          <a:xfrm xmlns:a="http://schemas.openxmlformats.org/drawingml/2006/main">
            <a:off x="485775" y="5335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e7deb51d98ac4f76"/>
              </a:rPr>
              <a:t>08  Operational forecast context (S4)</a:t>
            </a:r>
            <a:endParaRPr sz="860" b="0" i="0" u="none" strike="noStrike" cap="none">
              <a:solidFill>
                <a:srgbClr val="000000"/>
              </a:solidFill>
              <a:latin typeface="Arial"/>
              <a:ea typeface="Arial"/>
              <a:cs typeface="Arial"/>
            </a:endParaRPr>
          </a:p>
        </p:txBody>
      </p:sp>
      <p:sp>
        <p:nvSpPr>
          <p:cNvPr id="648" name="Google Shape;648;p8">
            <a:extLst xmlns:a="http://schemas.openxmlformats.org/drawingml/2006/main">
              <a:ext uri="{FF2B5EF4-FFF2-40B4-BE49-F238E27FC236}">
                <a16:creationId xmlns:a16="http://schemas.microsoft.com/office/drawing/2014/main" id="{078F89EA-98F0-4ECF-BBCD-EC7C78D1990C}"/>
              </a:ext>
            </a:extLst>
          </p:cNvPr>
          <p:cNvSpPr>
            <a:spLocks xmlns:a="http://schemas.openxmlformats.org/drawingml/2006/main" noGrp="1"/>
          </p:cNvSpPr>
          <p:nvPr/>
        </p:nvSpPr>
        <p:spPr>
          <a:xfrm xmlns:a="http://schemas.openxmlformats.org/drawingml/2006/main">
            <a:off x="485775" y="5468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42576B"/>
                </a:solidFill>
                <a:latin typeface="Arial"/>
                <a:ea typeface="Arial"/>
                <a:cs typeface="Arial"/>
                <a:hlinkClick xmlns:r="http://schemas.openxmlformats.org/officeDocument/2006/relationships" r:id="Rbdc3af809f4b4388"/>
              </a:rPr>
              <a:t>IMD forecasting SOP</a:t>
            </a:r>
            <a:endParaRPr sz="780" b="0" i="0" u="none" strike="noStrike" cap="none">
              <a:solidFill>
                <a:srgbClr val="000000"/>
              </a:solidFill>
              <a:latin typeface="Arial"/>
              <a:ea typeface="Arial"/>
              <a:cs typeface="Arial"/>
            </a:endParaRPr>
          </a:p>
        </p:txBody>
      </p:sp>
      <p:sp>
        <p:nvSpPr>
          <p:cNvPr id="649" name="Google Shape;649;p8">
            <a:extLst xmlns:a="http://schemas.openxmlformats.org/drawingml/2006/main">
              <a:ext uri="{FF2B5EF4-FFF2-40B4-BE49-F238E27FC236}">
                <a16:creationId xmlns:a16="http://schemas.microsoft.com/office/drawing/2014/main" id="{207FF965-DEA5-41B6-8210-3474C088FDF2}"/>
              </a:ext>
            </a:extLst>
          </p:cNvPr>
          <p:cNvSpPr>
            <a:spLocks xmlns:a="http://schemas.openxmlformats.org/drawingml/2006/main" noGrp="1"/>
          </p:cNvSpPr>
          <p:nvPr/>
        </p:nvSpPr>
        <p:spPr>
          <a:xfrm xmlns:a="http://schemas.openxmlformats.org/drawingml/2006/main">
            <a:off x="485775" y="5578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d1ce89ed4594693"/>
              </a:rPr>
              <a:t>Warning practice and forecast definitions.</a:t>
            </a:r>
            <a:endParaRPr sz="780" b="0" i="0" u="none" strike="noStrike" cap="none">
              <a:solidFill>
                <a:srgbClr val="000000"/>
              </a:solidFill>
              <a:latin typeface="Arial"/>
              <a:ea typeface="Arial"/>
              <a:cs typeface="Arial"/>
            </a:endParaRPr>
          </a:p>
        </p:txBody>
      </p:sp>
      <p:sp>
        <p:nvSpPr>
          <p:cNvPr id="650" name="Google Shape;650;p8">
            <a:extLst xmlns:a="http://schemas.openxmlformats.org/drawingml/2006/main">
              <a:ext uri="{FF2B5EF4-FFF2-40B4-BE49-F238E27FC236}">
                <a16:creationId xmlns:a16="http://schemas.microsoft.com/office/drawing/2014/main" id="{2AB50DD0-FB01-4BE6-84B3-CC31685BC62F}"/>
              </a:ext>
            </a:extLst>
          </p:cNvPr>
          <p:cNvSpPr>
            <a:spLocks xmlns:a="http://schemas.openxmlformats.org/drawingml/2006/main" noGrp="1"/>
          </p:cNvSpPr>
          <p:nvPr/>
        </p:nvSpPr>
        <p:spPr>
          <a:xfrm xmlns:a="http://schemas.openxmlformats.org/drawingml/2006/main">
            <a:off x="485775" y="5687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27a345a2e554eb4"/>
              </a:rPr>
              <a:t>Compare only matched windows and areas.</a:t>
            </a:r>
            <a:endParaRPr sz="780" b="0" i="0" u="none" strike="noStrike" cap="none">
              <a:solidFill>
                <a:srgbClr val="000000"/>
              </a:solidFill>
              <a:latin typeface="Arial"/>
              <a:ea typeface="Arial"/>
              <a:cs typeface="Arial"/>
            </a:endParaRPr>
          </a:p>
        </p:txBody>
      </p:sp>
      <p:sp>
        <p:nvSpPr>
          <p:cNvPr id="651" name="Google Shape;651;p8">
            <a:extLst xmlns:a="http://schemas.openxmlformats.org/drawingml/2006/main">
              <a:ext uri="{FF2B5EF4-FFF2-40B4-BE49-F238E27FC236}">
                <a16:creationId xmlns:a16="http://schemas.microsoft.com/office/drawing/2014/main" id="{3764C636-FBA5-4994-8584-1D3689DC7152}"/>
              </a:ext>
            </a:extLst>
          </p:cNvPr>
          <p:cNvSpPr>
            <a:spLocks xmlns:a="http://schemas.openxmlformats.org/drawingml/2006/main" noGrp="1"/>
          </p:cNvSpPr>
          <p:nvPr/>
        </p:nvSpPr>
        <p:spPr>
          <a:xfrm xmlns:a="http://schemas.openxmlformats.org/drawingml/2006/main">
            <a:off x="3276600" y="1487091"/>
            <a:ext cx="2762400" cy="4857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2" name="Google Shape;652;p8">
            <a:extLst xmlns:a="http://schemas.openxmlformats.org/drawingml/2006/main">
              <a:ext uri="{FF2B5EF4-FFF2-40B4-BE49-F238E27FC236}">
                <a16:creationId xmlns:a16="http://schemas.microsoft.com/office/drawing/2014/main" id="{B94469A1-E4DC-4737-A19F-8715B0863C03}"/>
              </a:ext>
            </a:extLst>
          </p:cNvPr>
          <p:cNvSpPr>
            <a:spLocks xmlns:a="http://schemas.openxmlformats.org/drawingml/2006/main" noGrp="1"/>
          </p:cNvSpPr>
          <p:nvPr/>
        </p:nvSpPr>
        <p:spPr>
          <a:xfrm xmlns:a="http://schemas.openxmlformats.org/drawingml/2006/main">
            <a:off x="3343275" y="1506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cc4a43870dab4211"/>
              </a:rPr>
              <a:t>09  Temporal image model (S3)</a:t>
            </a:r>
            <a:endParaRPr sz="860" b="0" i="0" u="none" strike="noStrike" cap="none">
              <a:solidFill>
                <a:srgbClr val="000000"/>
              </a:solidFill>
              <a:latin typeface="Arial"/>
              <a:ea typeface="Arial"/>
              <a:cs typeface="Arial"/>
            </a:endParaRPr>
          </a:p>
        </p:txBody>
      </p:sp>
      <p:sp>
        <p:nvSpPr>
          <p:cNvPr id="653" name="Google Shape;653;p8">
            <a:extLst xmlns:a="http://schemas.openxmlformats.org/drawingml/2006/main">
              <a:ext uri="{FF2B5EF4-FFF2-40B4-BE49-F238E27FC236}">
                <a16:creationId xmlns:a16="http://schemas.microsoft.com/office/drawing/2014/main" id="{1E28737E-459A-47E6-BAD8-3ADCC4CC9FEF}"/>
              </a:ext>
            </a:extLst>
          </p:cNvPr>
          <p:cNvSpPr>
            <a:spLocks xmlns:a="http://schemas.openxmlformats.org/drawingml/2006/main" noGrp="1"/>
          </p:cNvSpPr>
          <p:nvPr/>
        </p:nvSpPr>
        <p:spPr>
          <a:xfrm xmlns:a="http://schemas.openxmlformats.org/drawingml/2006/main">
            <a:off x="3343275" y="1639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27cb624171d349bf"/>
              </a:rPr>
              <a:t>Shi et al., ConvLSTM (2015)</a:t>
            </a:r>
            <a:endParaRPr sz="780" b="0" i="0" u="none" strike="noStrike" cap="none">
              <a:solidFill>
                <a:srgbClr val="000000"/>
              </a:solidFill>
              <a:latin typeface="Arial"/>
              <a:ea typeface="Arial"/>
              <a:cs typeface="Arial"/>
            </a:endParaRPr>
          </a:p>
        </p:txBody>
      </p:sp>
      <p:sp>
        <p:nvSpPr>
          <p:cNvPr id="654" name="Google Shape;654;p8">
            <a:extLst xmlns:a="http://schemas.openxmlformats.org/drawingml/2006/main">
              <a:ext uri="{FF2B5EF4-FFF2-40B4-BE49-F238E27FC236}">
                <a16:creationId xmlns:a16="http://schemas.microsoft.com/office/drawing/2014/main" id="{CDA962FC-099A-45EF-A2AE-EF130598D65A}"/>
              </a:ext>
            </a:extLst>
          </p:cNvPr>
          <p:cNvSpPr>
            <a:spLocks xmlns:a="http://schemas.openxmlformats.org/drawingml/2006/main" noGrp="1"/>
          </p:cNvSpPr>
          <p:nvPr/>
        </p:nvSpPr>
        <p:spPr>
          <a:xfrm xmlns:a="http://schemas.openxmlformats.org/drawingml/2006/main">
            <a:off x="3343275" y="1749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325f95f0b8a4c2d"/>
              </a:rPr>
              <a:t>Convolutional recurrence for nowcasting.</a:t>
            </a:r>
            <a:endParaRPr sz="780" b="0" i="0" u="none" strike="noStrike" cap="none">
              <a:solidFill>
                <a:srgbClr val="000000"/>
              </a:solidFill>
              <a:latin typeface="Arial"/>
              <a:ea typeface="Arial"/>
              <a:cs typeface="Arial"/>
            </a:endParaRPr>
          </a:p>
        </p:txBody>
      </p:sp>
      <p:sp>
        <p:nvSpPr>
          <p:cNvPr id="655" name="Google Shape;655;p8">
            <a:extLst xmlns:a="http://schemas.openxmlformats.org/drawingml/2006/main">
              <a:ext uri="{FF2B5EF4-FFF2-40B4-BE49-F238E27FC236}">
                <a16:creationId xmlns:a16="http://schemas.microsoft.com/office/drawing/2014/main" id="{32B545F8-E0A2-4883-A806-DB65CFEA2683}"/>
              </a:ext>
            </a:extLst>
          </p:cNvPr>
          <p:cNvSpPr>
            <a:spLocks xmlns:a="http://schemas.openxmlformats.org/drawingml/2006/main" noGrp="1"/>
          </p:cNvSpPr>
          <p:nvPr/>
        </p:nvSpPr>
        <p:spPr>
          <a:xfrm xmlns:a="http://schemas.openxmlformats.org/drawingml/2006/main">
            <a:off x="3343275" y="1858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061b029c94154865"/>
              </a:rPr>
              <a:t>Architecture reference, not NCR evidence.</a:t>
            </a:r>
            <a:endParaRPr sz="780" b="0" i="0" u="none" strike="noStrike" cap="none">
              <a:solidFill>
                <a:srgbClr val="000000"/>
              </a:solidFill>
              <a:latin typeface="Arial"/>
              <a:ea typeface="Arial"/>
              <a:cs typeface="Arial"/>
            </a:endParaRPr>
          </a:p>
        </p:txBody>
      </p:sp>
      <p:sp>
        <p:nvSpPr>
          <p:cNvPr id="656" name="Google Shape;656;p8">
            <a:extLst xmlns:a="http://schemas.openxmlformats.org/drawingml/2006/main">
              <a:ext uri="{FF2B5EF4-FFF2-40B4-BE49-F238E27FC236}">
                <a16:creationId xmlns:a16="http://schemas.microsoft.com/office/drawing/2014/main" id="{36EEB109-7835-4542-9037-DE298B74EB8E}"/>
              </a:ext>
            </a:extLst>
          </p:cNvPr>
          <p:cNvSpPr>
            <a:spLocks xmlns:a="http://schemas.openxmlformats.org/drawingml/2006/main" noGrp="1"/>
          </p:cNvSpPr>
          <p:nvPr/>
        </p:nvSpPr>
        <p:spPr>
          <a:xfrm xmlns:a="http://schemas.openxmlformats.org/drawingml/2006/main">
            <a:off x="3276600" y="2001441"/>
            <a:ext cx="2762400" cy="6000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7" name="Google Shape;657;p8">
            <a:extLst xmlns:a="http://schemas.openxmlformats.org/drawingml/2006/main">
              <a:ext uri="{FF2B5EF4-FFF2-40B4-BE49-F238E27FC236}">
                <a16:creationId xmlns:a16="http://schemas.microsoft.com/office/drawing/2014/main" id="{D5ED48DF-71E9-4072-AB5E-0E907B2F7BE3}"/>
              </a:ext>
            </a:extLst>
          </p:cNvPr>
          <p:cNvSpPr>
            <a:spLocks xmlns:a="http://schemas.openxmlformats.org/drawingml/2006/main" noGrp="1"/>
          </p:cNvSpPr>
          <p:nvPr/>
        </p:nvSpPr>
        <p:spPr>
          <a:xfrm xmlns:a="http://schemas.openxmlformats.org/drawingml/2006/main">
            <a:off x="3343275" y="2020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311791950bf54079"/>
              </a:rPr>
              <a:t>10  Radar quality control (S3)</a:t>
            </a:r>
            <a:endParaRPr sz="860" b="0" i="0" u="none" strike="noStrike" cap="none">
              <a:solidFill>
                <a:srgbClr val="000000"/>
              </a:solidFill>
              <a:latin typeface="Arial"/>
              <a:ea typeface="Arial"/>
              <a:cs typeface="Arial"/>
            </a:endParaRPr>
          </a:p>
        </p:txBody>
      </p:sp>
      <p:sp>
        <p:nvSpPr>
          <p:cNvPr id="658" name="Google Shape;658;p8">
            <a:extLst xmlns:a="http://schemas.openxmlformats.org/drawingml/2006/main">
              <a:ext uri="{FF2B5EF4-FFF2-40B4-BE49-F238E27FC236}">
                <a16:creationId xmlns:a16="http://schemas.microsoft.com/office/drawing/2014/main" id="{C56664D6-4411-40C2-8477-B098B9471602}"/>
              </a:ext>
            </a:extLst>
          </p:cNvPr>
          <p:cNvSpPr>
            <a:spLocks xmlns:a="http://schemas.openxmlformats.org/drawingml/2006/main" noGrp="1"/>
          </p:cNvSpPr>
          <p:nvPr/>
        </p:nvSpPr>
        <p:spPr>
          <a:xfrm xmlns:a="http://schemas.openxmlformats.org/drawingml/2006/main">
            <a:off x="3343275" y="2153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84977f33a9ce43e7"/>
              </a:rPr>
              <a:t>wradlib radar workflow</a:t>
            </a:r>
            <a:endParaRPr sz="780" b="0" i="0" u="none" strike="noStrike" cap="none">
              <a:solidFill>
                <a:srgbClr val="000000"/>
              </a:solidFill>
              <a:latin typeface="Arial"/>
              <a:ea typeface="Arial"/>
              <a:cs typeface="Arial"/>
            </a:endParaRPr>
          </a:p>
        </p:txBody>
      </p:sp>
      <p:sp>
        <p:nvSpPr>
          <p:cNvPr id="659" name="Google Shape;659;p8">
            <a:extLst xmlns:a="http://schemas.openxmlformats.org/drawingml/2006/main">
              <a:ext uri="{FF2B5EF4-FFF2-40B4-BE49-F238E27FC236}">
                <a16:creationId xmlns:a16="http://schemas.microsoft.com/office/drawing/2014/main" id="{08FF6F70-F925-4519-A125-BE33023D8023}"/>
              </a:ext>
            </a:extLst>
          </p:cNvPr>
          <p:cNvSpPr>
            <a:spLocks xmlns:a="http://schemas.openxmlformats.org/drawingml/2006/main" noGrp="1"/>
          </p:cNvSpPr>
          <p:nvPr/>
        </p:nvSpPr>
        <p:spPr>
          <a:xfrm xmlns:a="http://schemas.openxmlformats.org/drawingml/2006/main">
            <a:off x="3343275" y="2263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865bf7be51254f1e"/>
              </a:rPr>
              <a:t>Georeferencing and measurement checks.</a:t>
            </a:r>
            <a:endParaRPr sz="780" b="0" i="0" u="none" strike="noStrike" cap="none">
              <a:solidFill>
                <a:srgbClr val="000000"/>
              </a:solidFill>
              <a:latin typeface="Arial"/>
              <a:ea typeface="Arial"/>
              <a:cs typeface="Arial"/>
            </a:endParaRPr>
          </a:p>
        </p:txBody>
      </p:sp>
      <p:sp>
        <p:nvSpPr>
          <p:cNvPr id="660" name="Google Shape;660;p8">
            <a:extLst xmlns:a="http://schemas.openxmlformats.org/drawingml/2006/main">
              <a:ext uri="{FF2B5EF4-FFF2-40B4-BE49-F238E27FC236}">
                <a16:creationId xmlns:a16="http://schemas.microsoft.com/office/drawing/2014/main" id="{BAA5F8C7-43EF-40CB-B14D-195A24DD3A5D}"/>
              </a:ext>
            </a:extLst>
          </p:cNvPr>
          <p:cNvSpPr>
            <a:spLocks xmlns:a="http://schemas.openxmlformats.org/drawingml/2006/main" noGrp="1"/>
          </p:cNvSpPr>
          <p:nvPr/>
        </p:nvSpPr>
        <p:spPr>
          <a:xfrm xmlns:a="http://schemas.openxmlformats.org/drawingml/2006/main">
            <a:off x="3343275" y="2372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444e1137898a41ff"/>
              </a:rPr>
              <a:t>Use physical values and quality masks.</a:t>
            </a:r>
            <a:endParaRPr sz="780" b="0" i="0" u="none" strike="noStrike" cap="none">
              <a:solidFill>
                <a:srgbClr val="000000"/>
              </a:solidFill>
              <a:latin typeface="Arial"/>
              <a:ea typeface="Arial"/>
              <a:cs typeface="Arial"/>
            </a:endParaRPr>
          </a:p>
        </p:txBody>
      </p:sp>
      <p:sp>
        <p:nvSpPr>
          <p:cNvPr id="661" name="Google Shape;661;p8">
            <a:extLst xmlns:a="http://schemas.openxmlformats.org/drawingml/2006/main">
              <a:ext uri="{FF2B5EF4-FFF2-40B4-BE49-F238E27FC236}">
                <a16:creationId xmlns:a16="http://schemas.microsoft.com/office/drawing/2014/main" id="{C0347921-3DAB-44BC-B92D-12B9E5B04CC5}"/>
              </a:ext>
            </a:extLst>
          </p:cNvPr>
          <p:cNvSpPr>
            <a:spLocks xmlns:a="http://schemas.openxmlformats.org/drawingml/2006/main" noGrp="1"/>
          </p:cNvSpPr>
          <p:nvPr/>
        </p:nvSpPr>
        <p:spPr>
          <a:xfrm xmlns:a="http://schemas.openxmlformats.org/drawingml/2006/main">
            <a:off x="3343275" y="24824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611c7eea1d8c4ae6"/>
              </a:rPr>
              <a:t>Rendered tiles cannot replace calibrated dBZ.</a:t>
            </a:r>
            <a:endParaRPr sz="780" b="0" i="0" u="none" strike="noStrike" cap="none">
              <a:solidFill>
                <a:srgbClr val="000000"/>
              </a:solidFill>
              <a:latin typeface="Arial"/>
              <a:ea typeface="Arial"/>
              <a:cs typeface="Arial"/>
            </a:endParaRPr>
          </a:p>
        </p:txBody>
      </p:sp>
      <p:sp>
        <p:nvSpPr>
          <p:cNvPr id="662" name="Google Shape;662;p8">
            <a:extLst xmlns:a="http://schemas.openxmlformats.org/drawingml/2006/main">
              <a:ext uri="{FF2B5EF4-FFF2-40B4-BE49-F238E27FC236}">
                <a16:creationId xmlns:a16="http://schemas.microsoft.com/office/drawing/2014/main" id="{8F716BC6-B058-4A74-AA27-7BBD950DE43B}"/>
              </a:ext>
            </a:extLst>
          </p:cNvPr>
          <p:cNvSpPr>
            <a:spLocks xmlns:a="http://schemas.openxmlformats.org/drawingml/2006/main" noGrp="1"/>
          </p:cNvSpPr>
          <p:nvPr/>
        </p:nvSpPr>
        <p:spPr>
          <a:xfrm xmlns:a="http://schemas.openxmlformats.org/drawingml/2006/main">
            <a:off x="3276600" y="2630091"/>
            <a:ext cx="2762400" cy="4857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3" name="Google Shape;663;p8">
            <a:extLst xmlns:a="http://schemas.openxmlformats.org/drawingml/2006/main">
              <a:ext uri="{FF2B5EF4-FFF2-40B4-BE49-F238E27FC236}">
                <a16:creationId xmlns:a16="http://schemas.microsoft.com/office/drawing/2014/main" id="{8A77EEBA-396B-4157-AA10-9E0AC2573817}"/>
              </a:ext>
            </a:extLst>
          </p:cNvPr>
          <p:cNvSpPr>
            <a:spLocks xmlns:a="http://schemas.openxmlformats.org/drawingml/2006/main" noGrp="1"/>
          </p:cNvSpPr>
          <p:nvPr/>
        </p:nvSpPr>
        <p:spPr>
          <a:xfrm xmlns:a="http://schemas.openxmlformats.org/drawingml/2006/main">
            <a:off x="3343275" y="2649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25a0644afa0d47f4"/>
              </a:rPr>
              <a:t>11  Lightning before first strike (S3)</a:t>
            </a:r>
            <a:endParaRPr sz="860" b="0" i="0" u="none" strike="noStrike" cap="none">
              <a:solidFill>
                <a:srgbClr val="000000"/>
              </a:solidFill>
              <a:latin typeface="Arial"/>
              <a:ea typeface="Arial"/>
              <a:cs typeface="Arial"/>
            </a:endParaRPr>
          </a:p>
        </p:txBody>
      </p:sp>
      <p:sp>
        <p:nvSpPr>
          <p:cNvPr id="664" name="Google Shape;664;p8">
            <a:extLst xmlns:a="http://schemas.openxmlformats.org/drawingml/2006/main">
              <a:ext uri="{FF2B5EF4-FFF2-40B4-BE49-F238E27FC236}">
                <a16:creationId xmlns:a16="http://schemas.microsoft.com/office/drawing/2014/main" id="{6CBB2A3C-789D-4376-ADC0-5A2BD90E426D}"/>
              </a:ext>
            </a:extLst>
          </p:cNvPr>
          <p:cNvSpPr>
            <a:spLocks xmlns:a="http://schemas.openxmlformats.org/drawingml/2006/main" noGrp="1"/>
          </p:cNvSpPr>
          <p:nvPr/>
        </p:nvSpPr>
        <p:spPr>
          <a:xfrm xmlns:a="http://schemas.openxmlformats.org/drawingml/2006/main">
            <a:off x="3343275" y="2782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93f6d0a7181943ec"/>
              </a:rPr>
              <a:t>ProbSevere LightningCast (2022)</a:t>
            </a:r>
            <a:endParaRPr sz="780" b="0" i="0" u="none" strike="noStrike" cap="none">
              <a:solidFill>
                <a:srgbClr val="000000"/>
              </a:solidFill>
              <a:latin typeface="Arial"/>
              <a:ea typeface="Arial"/>
              <a:cs typeface="Arial"/>
            </a:endParaRPr>
          </a:p>
        </p:txBody>
      </p:sp>
      <p:sp>
        <p:nvSpPr>
          <p:cNvPr id="665" name="Google Shape;665;p8">
            <a:extLst xmlns:a="http://schemas.openxmlformats.org/drawingml/2006/main">
              <a:ext uri="{FF2B5EF4-FFF2-40B4-BE49-F238E27FC236}">
                <a16:creationId xmlns:a16="http://schemas.microsoft.com/office/drawing/2014/main" id="{A4E7062F-0357-4619-A86E-524FA0AB213E}"/>
              </a:ext>
            </a:extLst>
          </p:cNvPr>
          <p:cNvSpPr>
            <a:spLocks xmlns:a="http://schemas.openxmlformats.org/drawingml/2006/main" noGrp="1"/>
          </p:cNvSpPr>
          <p:nvPr/>
        </p:nvSpPr>
        <p:spPr>
          <a:xfrm xmlns:a="http://schemas.openxmlformats.org/drawingml/2006/main">
            <a:off x="3343275" y="2892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e748634f7ec4185"/>
              </a:rPr>
              <a:t>Satellite-based probabilistic forecasting.</a:t>
            </a:r>
            <a:endParaRPr sz="780" b="0" i="0" u="none" strike="noStrike" cap="none">
              <a:solidFill>
                <a:srgbClr val="000000"/>
              </a:solidFill>
              <a:latin typeface="Arial"/>
              <a:ea typeface="Arial"/>
              <a:cs typeface="Arial"/>
            </a:endParaRPr>
          </a:p>
        </p:txBody>
      </p:sp>
      <p:sp>
        <p:nvSpPr>
          <p:cNvPr id="666" name="Google Shape;666;p8">
            <a:extLst xmlns:a="http://schemas.openxmlformats.org/drawingml/2006/main">
              <a:ext uri="{FF2B5EF4-FFF2-40B4-BE49-F238E27FC236}">
                <a16:creationId xmlns:a16="http://schemas.microsoft.com/office/drawing/2014/main" id="{B5B79DF2-ADD0-4B83-A70C-D1C400BCC599}"/>
              </a:ext>
            </a:extLst>
          </p:cNvPr>
          <p:cNvSpPr>
            <a:spLocks xmlns:a="http://schemas.openxmlformats.org/drawingml/2006/main" noGrp="1"/>
          </p:cNvSpPr>
          <p:nvPr/>
        </p:nvSpPr>
        <p:spPr>
          <a:xfrm xmlns:a="http://schemas.openxmlformats.org/drawingml/2006/main">
            <a:off x="3343275" y="3001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a7ee3b72dd648c9"/>
              </a:rPr>
              <a:t>Transfer to INSAT requires local evaluation.</a:t>
            </a:r>
            <a:endParaRPr sz="780" b="0" i="0" u="none" strike="noStrike" cap="none">
              <a:solidFill>
                <a:srgbClr val="000000"/>
              </a:solidFill>
              <a:latin typeface="Arial"/>
              <a:ea typeface="Arial"/>
              <a:cs typeface="Arial"/>
            </a:endParaRPr>
          </a:p>
        </p:txBody>
      </p:sp>
      <p:sp>
        <p:nvSpPr>
          <p:cNvPr id="667" name="Google Shape;667;p8">
            <a:extLst xmlns:a="http://schemas.openxmlformats.org/drawingml/2006/main">
              <a:ext uri="{FF2B5EF4-FFF2-40B4-BE49-F238E27FC236}">
                <a16:creationId xmlns:a16="http://schemas.microsoft.com/office/drawing/2014/main" id="{DC2D5777-7454-4992-9E5D-38B58470EDD1}"/>
              </a:ext>
            </a:extLst>
          </p:cNvPr>
          <p:cNvSpPr>
            <a:spLocks xmlns:a="http://schemas.openxmlformats.org/drawingml/2006/main" noGrp="1"/>
          </p:cNvSpPr>
          <p:nvPr/>
        </p:nvSpPr>
        <p:spPr>
          <a:xfrm xmlns:a="http://schemas.openxmlformats.org/drawingml/2006/main">
            <a:off x="3276600" y="31444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8" name="Google Shape;668;p8">
            <a:extLst xmlns:a="http://schemas.openxmlformats.org/drawingml/2006/main">
              <a:ext uri="{FF2B5EF4-FFF2-40B4-BE49-F238E27FC236}">
                <a16:creationId xmlns:a16="http://schemas.microsoft.com/office/drawing/2014/main" id="{07E55550-FBF0-4222-A808-654E35E70C25}"/>
              </a:ext>
            </a:extLst>
          </p:cNvPr>
          <p:cNvSpPr>
            <a:spLocks xmlns:a="http://schemas.openxmlformats.org/drawingml/2006/main" noGrp="1"/>
          </p:cNvSpPr>
          <p:nvPr/>
        </p:nvSpPr>
        <p:spPr>
          <a:xfrm xmlns:a="http://schemas.openxmlformats.org/drawingml/2006/main">
            <a:off x="3343275" y="3163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cdfe61a006f04de5"/>
              </a:rPr>
              <a:t>12  Time-to-event method (S3)</a:t>
            </a:r>
            <a:endParaRPr sz="860" b="0" i="0" u="none" strike="noStrike" cap="none">
              <a:solidFill>
                <a:srgbClr val="000000"/>
              </a:solidFill>
              <a:latin typeface="Arial"/>
              <a:ea typeface="Arial"/>
              <a:cs typeface="Arial"/>
            </a:endParaRPr>
          </a:p>
        </p:txBody>
      </p:sp>
      <p:sp>
        <p:nvSpPr>
          <p:cNvPr id="669" name="Google Shape;669;p8">
            <a:extLst xmlns:a="http://schemas.openxmlformats.org/drawingml/2006/main">
              <a:ext uri="{FF2B5EF4-FFF2-40B4-BE49-F238E27FC236}">
                <a16:creationId xmlns:a16="http://schemas.microsoft.com/office/drawing/2014/main" id="{3CC33C31-A2C1-4217-8C76-E5162F7CBC78}"/>
              </a:ext>
            </a:extLst>
          </p:cNvPr>
          <p:cNvSpPr>
            <a:spLocks xmlns:a="http://schemas.openxmlformats.org/drawingml/2006/main" noGrp="1"/>
          </p:cNvSpPr>
          <p:nvPr/>
        </p:nvSpPr>
        <p:spPr>
          <a:xfrm xmlns:a="http://schemas.openxmlformats.org/drawingml/2006/main">
            <a:off x="3343275" y="3296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b46e12c65a3141a9"/>
              </a:rPr>
              <a:t>Gensheimer &amp; Narasimhan (2019)</a:t>
            </a:r>
            <a:endParaRPr sz="780" b="0" i="0" u="none" strike="noStrike" cap="none">
              <a:solidFill>
                <a:srgbClr val="000000"/>
              </a:solidFill>
              <a:latin typeface="Arial"/>
              <a:ea typeface="Arial"/>
              <a:cs typeface="Arial"/>
            </a:endParaRPr>
          </a:p>
        </p:txBody>
      </p:sp>
      <p:sp>
        <p:nvSpPr>
          <p:cNvPr id="670" name="Google Shape;670;p8">
            <a:extLst xmlns:a="http://schemas.openxmlformats.org/drawingml/2006/main">
              <a:ext uri="{FF2B5EF4-FFF2-40B4-BE49-F238E27FC236}">
                <a16:creationId xmlns:a16="http://schemas.microsoft.com/office/drawing/2014/main" id="{E6E5A0E5-B1B3-4826-A82D-E182A124C640}"/>
              </a:ext>
            </a:extLst>
          </p:cNvPr>
          <p:cNvSpPr>
            <a:spLocks xmlns:a="http://schemas.openxmlformats.org/drawingml/2006/main" noGrp="1"/>
          </p:cNvSpPr>
          <p:nvPr/>
        </p:nvSpPr>
        <p:spPr>
          <a:xfrm xmlns:a="http://schemas.openxmlformats.org/drawingml/2006/main">
            <a:off x="3343275" y="3406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c098ab3714584d60"/>
              </a:rPr>
              <a:t>Discrete-time survival neural network.</a:t>
            </a:r>
            <a:endParaRPr sz="780" b="0" i="0" u="none" strike="noStrike" cap="none">
              <a:solidFill>
                <a:srgbClr val="000000"/>
              </a:solidFill>
              <a:latin typeface="Arial"/>
              <a:ea typeface="Arial"/>
              <a:cs typeface="Arial"/>
            </a:endParaRPr>
          </a:p>
        </p:txBody>
      </p:sp>
      <p:sp>
        <p:nvSpPr>
          <p:cNvPr id="671" name="Google Shape;671;p8">
            <a:extLst xmlns:a="http://schemas.openxmlformats.org/drawingml/2006/main">
              <a:ext uri="{FF2B5EF4-FFF2-40B4-BE49-F238E27FC236}">
                <a16:creationId xmlns:a16="http://schemas.microsoft.com/office/drawing/2014/main" id="{2F17AD8C-42A5-4D9F-BAA2-3F6F18EE7779}"/>
              </a:ext>
            </a:extLst>
          </p:cNvPr>
          <p:cNvSpPr>
            <a:spLocks xmlns:a="http://schemas.openxmlformats.org/drawingml/2006/main" noGrp="1"/>
          </p:cNvSpPr>
          <p:nvPr/>
        </p:nvSpPr>
        <p:spPr>
          <a:xfrm xmlns:a="http://schemas.openxmlformats.org/drawingml/2006/main">
            <a:off x="3343275" y="3515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dc0ef76457e44cf"/>
              </a:rPr>
              <a:t>Keep censoring and no-event outcomes.</a:t>
            </a:r>
            <a:endParaRPr sz="780" b="0" i="0" u="none" strike="noStrike" cap="none">
              <a:solidFill>
                <a:srgbClr val="000000"/>
              </a:solidFill>
              <a:latin typeface="Arial"/>
              <a:ea typeface="Arial"/>
              <a:cs typeface="Arial"/>
            </a:endParaRPr>
          </a:p>
        </p:txBody>
      </p:sp>
      <p:sp>
        <p:nvSpPr>
          <p:cNvPr id="672" name="Google Shape;672;p8">
            <a:extLst xmlns:a="http://schemas.openxmlformats.org/drawingml/2006/main">
              <a:ext uri="{FF2B5EF4-FFF2-40B4-BE49-F238E27FC236}">
                <a16:creationId xmlns:a16="http://schemas.microsoft.com/office/drawing/2014/main" id="{45161AE4-D160-4F28-8816-30445E9FB442}"/>
              </a:ext>
            </a:extLst>
          </p:cNvPr>
          <p:cNvSpPr>
            <a:spLocks xmlns:a="http://schemas.openxmlformats.org/drawingml/2006/main" noGrp="1"/>
          </p:cNvSpPr>
          <p:nvPr/>
        </p:nvSpPr>
        <p:spPr>
          <a:xfrm xmlns:a="http://schemas.openxmlformats.org/drawingml/2006/main">
            <a:off x="3276600" y="365879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3" name="Google Shape;673;p8">
            <a:extLst xmlns:a="http://schemas.openxmlformats.org/drawingml/2006/main">
              <a:ext uri="{FF2B5EF4-FFF2-40B4-BE49-F238E27FC236}">
                <a16:creationId xmlns:a16="http://schemas.microsoft.com/office/drawing/2014/main" id="{1D394A62-867E-4A60-A2A7-5B591765BF40}"/>
              </a:ext>
            </a:extLst>
          </p:cNvPr>
          <p:cNvSpPr>
            <a:spLocks xmlns:a="http://schemas.openxmlformats.org/drawingml/2006/main" noGrp="1"/>
          </p:cNvSpPr>
          <p:nvPr/>
        </p:nvSpPr>
        <p:spPr>
          <a:xfrm xmlns:a="http://schemas.openxmlformats.org/drawingml/2006/main">
            <a:off x="3343275" y="3677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d76ed87a5fcc481c"/>
              </a:rPr>
              <a:t>13  Active / break monsoon phase (S4)</a:t>
            </a:r>
            <a:endParaRPr sz="860" b="0" i="0" u="none" strike="noStrike" cap="none">
              <a:solidFill>
                <a:srgbClr val="000000"/>
              </a:solidFill>
              <a:latin typeface="Arial"/>
              <a:ea typeface="Arial"/>
              <a:cs typeface="Arial"/>
            </a:endParaRPr>
          </a:p>
        </p:txBody>
      </p:sp>
      <p:sp>
        <p:nvSpPr>
          <p:cNvPr id="674" name="Google Shape;674;p8">
            <a:extLst xmlns:a="http://schemas.openxmlformats.org/drawingml/2006/main">
              <a:ext uri="{FF2B5EF4-FFF2-40B4-BE49-F238E27FC236}">
                <a16:creationId xmlns:a16="http://schemas.microsoft.com/office/drawing/2014/main" id="{6D5840E3-D0CA-4A78-B27C-64CA53B90FD0}"/>
              </a:ext>
            </a:extLst>
          </p:cNvPr>
          <p:cNvSpPr>
            <a:spLocks xmlns:a="http://schemas.openxmlformats.org/drawingml/2006/main" noGrp="1"/>
          </p:cNvSpPr>
          <p:nvPr/>
        </p:nvSpPr>
        <p:spPr>
          <a:xfrm xmlns:a="http://schemas.openxmlformats.org/drawingml/2006/main">
            <a:off x="3343275" y="3811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6805289bb48740df"/>
              </a:rPr>
              <a:t>IITM, active-break selection</a:t>
            </a:r>
            <a:endParaRPr sz="780" b="0" i="0" u="none" strike="noStrike" cap="none">
              <a:solidFill>
                <a:srgbClr val="000000"/>
              </a:solidFill>
              <a:latin typeface="Arial"/>
              <a:ea typeface="Arial"/>
              <a:cs typeface="Arial"/>
            </a:endParaRPr>
          </a:p>
        </p:txBody>
      </p:sp>
      <p:sp>
        <p:nvSpPr>
          <p:cNvPr id="675" name="Google Shape;675;p8">
            <a:extLst xmlns:a="http://schemas.openxmlformats.org/drawingml/2006/main">
              <a:ext uri="{FF2B5EF4-FFF2-40B4-BE49-F238E27FC236}">
                <a16:creationId xmlns:a16="http://schemas.microsoft.com/office/drawing/2014/main" id="{0F13D6D2-F864-4761-857A-CC5A1A49BDBB}"/>
              </a:ext>
            </a:extLst>
          </p:cNvPr>
          <p:cNvSpPr>
            <a:spLocks xmlns:a="http://schemas.openxmlformats.org/drawingml/2006/main" noGrp="1"/>
          </p:cNvSpPr>
          <p:nvPr/>
        </p:nvSpPr>
        <p:spPr>
          <a:xfrm xmlns:a="http://schemas.openxmlformats.org/drawingml/2006/main">
            <a:off x="3343275" y="3920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66a8c26bfac14ee7"/>
              </a:rPr>
              <a:t>Phase-aware calibration is a hypothesis.</a:t>
            </a:r>
            <a:endParaRPr sz="780" b="0" i="0" u="none" strike="noStrike" cap="none">
              <a:solidFill>
                <a:srgbClr val="000000"/>
              </a:solidFill>
              <a:latin typeface="Arial"/>
              <a:ea typeface="Arial"/>
              <a:cs typeface="Arial"/>
            </a:endParaRPr>
          </a:p>
        </p:txBody>
      </p:sp>
      <p:sp>
        <p:nvSpPr>
          <p:cNvPr id="676" name="Google Shape;676;p8">
            <a:extLst xmlns:a="http://schemas.openxmlformats.org/drawingml/2006/main">
              <a:ext uri="{FF2B5EF4-FFF2-40B4-BE49-F238E27FC236}">
                <a16:creationId xmlns:a16="http://schemas.microsoft.com/office/drawing/2014/main" id="{0559170A-2EEB-47FD-B687-10942813A8C7}"/>
              </a:ext>
            </a:extLst>
          </p:cNvPr>
          <p:cNvSpPr>
            <a:spLocks xmlns:a="http://schemas.openxmlformats.org/drawingml/2006/main" noGrp="1"/>
          </p:cNvSpPr>
          <p:nvPr/>
        </p:nvSpPr>
        <p:spPr>
          <a:xfrm xmlns:a="http://schemas.openxmlformats.org/drawingml/2006/main">
            <a:off x="3343275" y="4030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37fa1ecd3e264866"/>
              </a:rPr>
              <a:t>Use only phase information known at issue.</a:t>
            </a:r>
            <a:endParaRPr sz="780" b="0" i="0" u="none" strike="noStrike" cap="none">
              <a:solidFill>
                <a:srgbClr val="000000"/>
              </a:solidFill>
              <a:latin typeface="Arial"/>
              <a:ea typeface="Arial"/>
              <a:cs typeface="Arial"/>
            </a:endParaRPr>
          </a:p>
        </p:txBody>
      </p:sp>
      <p:sp>
        <p:nvSpPr>
          <p:cNvPr id="677" name="Google Shape;677;p8">
            <a:extLst xmlns:a="http://schemas.openxmlformats.org/drawingml/2006/main">
              <a:ext uri="{FF2B5EF4-FFF2-40B4-BE49-F238E27FC236}">
                <a16:creationId xmlns:a16="http://schemas.microsoft.com/office/drawing/2014/main" id="{B091E469-9BF7-438C-9766-77CA8E4180FF}"/>
              </a:ext>
            </a:extLst>
          </p:cNvPr>
          <p:cNvSpPr>
            <a:spLocks xmlns:a="http://schemas.openxmlformats.org/drawingml/2006/main" noGrp="1"/>
          </p:cNvSpPr>
          <p:nvPr/>
        </p:nvSpPr>
        <p:spPr>
          <a:xfrm xmlns:a="http://schemas.openxmlformats.org/drawingml/2006/main">
            <a:off x="3343275" y="413980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aabf03b28eb482f"/>
              </a:rPr>
              <a:t>Sparse phase data need a pooled fallback.</a:t>
            </a:r>
            <a:endParaRPr sz="780" b="0" i="0" u="none" strike="noStrike" cap="none">
              <a:solidFill>
                <a:srgbClr val="000000"/>
              </a:solidFill>
              <a:latin typeface="Arial"/>
              <a:ea typeface="Arial"/>
              <a:cs typeface="Arial"/>
            </a:endParaRPr>
          </a:p>
        </p:txBody>
      </p:sp>
      <p:sp>
        <p:nvSpPr>
          <p:cNvPr id="678" name="Google Shape;678;p8">
            <a:extLst xmlns:a="http://schemas.openxmlformats.org/drawingml/2006/main">
              <a:ext uri="{FF2B5EF4-FFF2-40B4-BE49-F238E27FC236}">
                <a16:creationId xmlns:a16="http://schemas.microsoft.com/office/drawing/2014/main" id="{E1F50F87-DE49-4612-8804-65A158970307}"/>
              </a:ext>
            </a:extLst>
          </p:cNvPr>
          <p:cNvSpPr>
            <a:spLocks xmlns:a="http://schemas.openxmlformats.org/drawingml/2006/main" noGrp="1"/>
          </p:cNvSpPr>
          <p:nvPr/>
        </p:nvSpPr>
        <p:spPr>
          <a:xfrm xmlns:a="http://schemas.openxmlformats.org/drawingml/2006/main">
            <a:off x="3276600" y="428744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9" name="Google Shape;679;p8">
            <a:extLst xmlns:a="http://schemas.openxmlformats.org/drawingml/2006/main">
              <a:ext uri="{FF2B5EF4-FFF2-40B4-BE49-F238E27FC236}">
                <a16:creationId xmlns:a16="http://schemas.microsoft.com/office/drawing/2014/main" id="{413686EE-A527-4519-8D23-CACCA355C02E}"/>
              </a:ext>
            </a:extLst>
          </p:cNvPr>
          <p:cNvSpPr>
            <a:spLocks xmlns:a="http://schemas.openxmlformats.org/drawingml/2006/main" noGrp="1"/>
          </p:cNvSpPr>
          <p:nvPr/>
        </p:nvSpPr>
        <p:spPr>
          <a:xfrm xmlns:a="http://schemas.openxmlformats.org/drawingml/2006/main">
            <a:off x="3343275" y="4306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55831e9386714beb"/>
              </a:rPr>
              <a:t>14  Seasonal Z</a:t>
            </a:r>
            <a:r>
              <a:rPr sz="860" b="1" i="0" u="none" strike="noStrike" cap="none">
                <a:solidFill>
                  <a:srgbClr val="214E83"/>
                </a:solidFill>
                <a:latin typeface="Arial"/>
                <a:ea typeface="Arial"/>
                <a:cs typeface="Arial"/>
                <a:hlinkClick xmlns:r="http://schemas.openxmlformats.org/officeDocument/2006/relationships" r:id="R47bba7ecccd745bd"/>
              </a:rPr>
              <a:t>-</a:t>
            </a:r>
            <a:r>
              <a:rPr sz="860" b="1" i="0" u="none" strike="noStrike" cap="none">
                <a:solidFill>
                  <a:srgbClr val="214E83"/>
                </a:solidFill>
                <a:latin typeface="Arial"/>
                <a:ea typeface="Arial"/>
                <a:cs typeface="Arial"/>
                <a:hlinkClick xmlns:r="http://schemas.openxmlformats.org/officeDocument/2006/relationships" r:id="R0df77efc94344462"/>
              </a:rPr>
              <a:t>R in Delhi (S4)</a:t>
            </a:r>
            <a:endParaRPr sz="860" b="0" i="0" u="none" strike="noStrike" cap="none">
              <a:solidFill>
                <a:srgbClr val="000000"/>
              </a:solidFill>
              <a:latin typeface="Arial"/>
              <a:ea typeface="Arial"/>
              <a:cs typeface="Arial"/>
            </a:endParaRPr>
          </a:p>
        </p:txBody>
      </p:sp>
      <p:sp>
        <p:nvSpPr>
          <p:cNvPr id="680" name="Google Shape;680;p8">
            <a:extLst xmlns:a="http://schemas.openxmlformats.org/drawingml/2006/main">
              <a:ext uri="{FF2B5EF4-FFF2-40B4-BE49-F238E27FC236}">
                <a16:creationId xmlns:a16="http://schemas.microsoft.com/office/drawing/2014/main" id="{36365000-3726-4E44-8715-607545B7896D}"/>
              </a:ext>
            </a:extLst>
          </p:cNvPr>
          <p:cNvSpPr>
            <a:spLocks xmlns:a="http://schemas.openxmlformats.org/drawingml/2006/main" noGrp="1"/>
          </p:cNvSpPr>
          <p:nvPr/>
        </p:nvSpPr>
        <p:spPr>
          <a:xfrm xmlns:a="http://schemas.openxmlformats.org/drawingml/2006/main">
            <a:off x="3343275" y="4439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3b9d53d4872e4fc3"/>
              </a:rPr>
              <a:t>Delhi radar study (2025)</a:t>
            </a:r>
            <a:endParaRPr sz="780" b="0" i="0" u="none" strike="noStrike" cap="none">
              <a:solidFill>
                <a:srgbClr val="000000"/>
              </a:solidFill>
              <a:latin typeface="Arial"/>
              <a:ea typeface="Arial"/>
              <a:cs typeface="Arial"/>
            </a:endParaRPr>
          </a:p>
        </p:txBody>
      </p:sp>
      <p:sp>
        <p:nvSpPr>
          <p:cNvPr id="681" name="Google Shape;681;p8">
            <a:extLst xmlns:a="http://schemas.openxmlformats.org/drawingml/2006/main">
              <a:ext uri="{FF2B5EF4-FFF2-40B4-BE49-F238E27FC236}">
                <a16:creationId xmlns:a16="http://schemas.microsoft.com/office/drawing/2014/main" id="{7B87884B-EF84-49C9-A036-9376D61E9E30}"/>
              </a:ext>
            </a:extLst>
          </p:cNvPr>
          <p:cNvSpPr>
            <a:spLocks xmlns:a="http://schemas.openxmlformats.org/drawingml/2006/main" noGrp="1"/>
          </p:cNvSpPr>
          <p:nvPr/>
        </p:nvSpPr>
        <p:spPr>
          <a:xfrm xmlns:a="http://schemas.openxmlformats.org/drawingml/2006/main">
            <a:off x="3343275" y="4549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e5a1831b183d4729"/>
              </a:rPr>
              <a:t>Local Z</a:t>
            </a:r>
            <a:r>
              <a:rPr sz="780" b="0" i="0" u="none" strike="noStrike" cap="none">
                <a:solidFill>
                  <a:srgbClr val="42576B"/>
                </a:solidFill>
                <a:latin typeface="Arial"/>
                <a:ea typeface="Arial"/>
                <a:cs typeface="Arial"/>
                <a:hlinkClick xmlns:r="http://schemas.openxmlformats.org/officeDocument/2006/relationships" r:id="Rf3d2dca881ee4822"/>
              </a:rPr>
              <a:t>-</a:t>
            </a:r>
            <a:r>
              <a:rPr sz="780" b="0" i="0" u="none" strike="noStrike" cap="none">
                <a:solidFill>
                  <a:srgbClr val="42576B"/>
                </a:solidFill>
                <a:latin typeface="Arial"/>
                <a:ea typeface="Arial"/>
                <a:cs typeface="Arial"/>
                <a:hlinkClick xmlns:r="http://schemas.openxmlformats.org/officeDocument/2006/relationships" r:id="R096d288fca574244"/>
              </a:rPr>
              <a:t>R calibration has prior research.</a:t>
            </a:r>
            <a:endParaRPr sz="780" b="0" i="0" u="none" strike="noStrike" cap="none">
              <a:solidFill>
                <a:srgbClr val="000000"/>
              </a:solidFill>
              <a:latin typeface="Arial"/>
              <a:ea typeface="Arial"/>
              <a:cs typeface="Arial"/>
            </a:endParaRPr>
          </a:p>
        </p:txBody>
      </p:sp>
      <p:sp>
        <p:nvSpPr>
          <p:cNvPr id="682" name="Google Shape;682;p8">
            <a:extLst xmlns:a="http://schemas.openxmlformats.org/drawingml/2006/main">
              <a:ext uri="{FF2B5EF4-FFF2-40B4-BE49-F238E27FC236}">
                <a16:creationId xmlns:a16="http://schemas.microsoft.com/office/drawing/2014/main" id="{3A773960-13E7-4E54-B128-7BD3A9A3A2E4}"/>
              </a:ext>
            </a:extLst>
          </p:cNvPr>
          <p:cNvSpPr>
            <a:spLocks xmlns:a="http://schemas.openxmlformats.org/drawingml/2006/main" noGrp="1"/>
          </p:cNvSpPr>
          <p:nvPr/>
        </p:nvSpPr>
        <p:spPr>
          <a:xfrm xmlns:a="http://schemas.openxmlformats.org/drawingml/2006/main">
            <a:off x="3343275" y="4658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4d47723d0adb4def"/>
              </a:rPr>
              <a:t>Fit on training gauges and test separately.</a:t>
            </a:r>
            <a:endParaRPr sz="780" b="0" i="0" u="none" strike="noStrike" cap="none">
              <a:solidFill>
                <a:srgbClr val="000000"/>
              </a:solidFill>
              <a:latin typeface="Arial"/>
              <a:ea typeface="Arial"/>
              <a:cs typeface="Arial"/>
            </a:endParaRPr>
          </a:p>
        </p:txBody>
      </p:sp>
      <p:sp>
        <p:nvSpPr>
          <p:cNvPr id="683" name="Google Shape;683;p8">
            <a:extLst xmlns:a="http://schemas.openxmlformats.org/drawingml/2006/main">
              <a:ext uri="{FF2B5EF4-FFF2-40B4-BE49-F238E27FC236}">
                <a16:creationId xmlns:a16="http://schemas.microsoft.com/office/drawing/2014/main" id="{C1E1E957-1B41-43BE-8F17-E6F4F684C3DE}"/>
              </a:ext>
            </a:extLst>
          </p:cNvPr>
          <p:cNvSpPr>
            <a:spLocks xmlns:a="http://schemas.openxmlformats.org/drawingml/2006/main" noGrp="1"/>
          </p:cNvSpPr>
          <p:nvPr/>
        </p:nvSpPr>
        <p:spPr>
          <a:xfrm xmlns:a="http://schemas.openxmlformats.org/drawingml/2006/main">
            <a:off x="3343275" y="47684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4d0ca0023814a1d"/>
              </a:rPr>
              <a:t>No claim of an unpublished first for Delhi.</a:t>
            </a:r>
            <a:endParaRPr sz="780" b="0" i="0" u="none" strike="noStrike" cap="none">
              <a:solidFill>
                <a:srgbClr val="000000"/>
              </a:solidFill>
              <a:latin typeface="Arial"/>
              <a:ea typeface="Arial"/>
              <a:cs typeface="Arial"/>
            </a:endParaRPr>
          </a:p>
        </p:txBody>
      </p:sp>
      <p:sp>
        <p:nvSpPr>
          <p:cNvPr id="684" name="Google Shape;684;p8">
            <a:extLst xmlns:a="http://schemas.openxmlformats.org/drawingml/2006/main">
              <a:ext uri="{FF2B5EF4-FFF2-40B4-BE49-F238E27FC236}">
                <a16:creationId xmlns:a16="http://schemas.microsoft.com/office/drawing/2014/main" id="{FA932C73-E0D0-46EC-9567-8D282AC0DC6B}"/>
              </a:ext>
            </a:extLst>
          </p:cNvPr>
          <p:cNvSpPr>
            <a:spLocks xmlns:a="http://schemas.openxmlformats.org/drawingml/2006/main" noGrp="1"/>
          </p:cNvSpPr>
          <p:nvPr/>
        </p:nvSpPr>
        <p:spPr>
          <a:xfrm xmlns:a="http://schemas.openxmlformats.org/drawingml/2006/main">
            <a:off x="3276600" y="4916091"/>
            <a:ext cx="2762400" cy="3714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5" name="Google Shape;685;p8">
            <a:extLst xmlns:a="http://schemas.openxmlformats.org/drawingml/2006/main">
              <a:ext uri="{FF2B5EF4-FFF2-40B4-BE49-F238E27FC236}">
                <a16:creationId xmlns:a16="http://schemas.microsoft.com/office/drawing/2014/main" id="{E7DFA303-5071-4CD1-B8C8-4B4518E69F47}"/>
              </a:ext>
            </a:extLst>
          </p:cNvPr>
          <p:cNvSpPr>
            <a:spLocks xmlns:a="http://schemas.openxmlformats.org/drawingml/2006/main" noGrp="1"/>
          </p:cNvSpPr>
          <p:nvPr/>
        </p:nvSpPr>
        <p:spPr>
          <a:xfrm xmlns:a="http://schemas.openxmlformats.org/drawingml/2006/main">
            <a:off x="3343275" y="4935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3639199921b146d5"/>
              </a:rPr>
              <a:t>15  Reproducible project measurements (S5</a:t>
            </a:r>
            <a:r>
              <a:rPr sz="860" b="1" i="0" u="none" strike="noStrike" cap="none">
                <a:solidFill>
                  <a:srgbClr val="214E83"/>
                </a:solidFill>
                <a:latin typeface="Arial"/>
                <a:ea typeface="Arial"/>
                <a:cs typeface="Arial"/>
                <a:hlinkClick xmlns:r="http://schemas.openxmlformats.org/officeDocument/2006/relationships" r:id="R4b1a0b749e2144fb"/>
              </a:rPr>
              <a:t>-</a:t>
            </a:r>
            <a:r>
              <a:rPr sz="860" b="1" i="0" u="none" strike="noStrike" cap="none">
                <a:solidFill>
                  <a:srgbClr val="214E83"/>
                </a:solidFill>
                <a:latin typeface="Arial"/>
                <a:ea typeface="Arial"/>
                <a:cs typeface="Arial"/>
                <a:hlinkClick xmlns:r="http://schemas.openxmlformats.org/officeDocument/2006/relationships" r:id="Ref14ec3aaed24d62"/>
              </a:rPr>
              <a:t>6)</a:t>
            </a:r>
            <a:endParaRPr sz="860" b="0" i="0" u="none" strike="noStrike" cap="none">
              <a:solidFill>
                <a:srgbClr val="000000"/>
              </a:solidFill>
              <a:latin typeface="Arial"/>
              <a:ea typeface="Arial"/>
              <a:cs typeface="Arial"/>
            </a:endParaRPr>
          </a:p>
        </p:txBody>
      </p:sp>
      <p:sp>
        <p:nvSpPr>
          <p:cNvPr id="686" name="Google Shape;686;p8">
            <a:extLst xmlns:a="http://schemas.openxmlformats.org/drawingml/2006/main">
              <a:ext uri="{FF2B5EF4-FFF2-40B4-BE49-F238E27FC236}">
                <a16:creationId xmlns:a16="http://schemas.microsoft.com/office/drawing/2014/main" id="{185555AA-1E2C-48C0-8979-E4910D61FE7A}"/>
              </a:ext>
            </a:extLst>
          </p:cNvPr>
          <p:cNvSpPr>
            <a:spLocks xmlns:a="http://schemas.openxmlformats.org/drawingml/2006/main" noGrp="1"/>
          </p:cNvSpPr>
          <p:nvPr/>
        </p:nvSpPr>
        <p:spPr>
          <a:xfrm xmlns:a="http://schemas.openxmlformats.org/drawingml/2006/main">
            <a:off x="3343275" y="5068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a3e1183c3c5e48c6"/>
              </a:rPr>
              <a:t>VAJRA repository, VALIDATION.md</a:t>
            </a:r>
            <a:endParaRPr sz="780" b="0" i="0" u="none" strike="noStrike" cap="none">
              <a:solidFill>
                <a:srgbClr val="000000"/>
              </a:solidFill>
              <a:latin typeface="Arial"/>
              <a:ea typeface="Arial"/>
              <a:cs typeface="Arial"/>
            </a:endParaRPr>
          </a:p>
        </p:txBody>
      </p:sp>
      <p:sp>
        <p:nvSpPr>
          <p:cNvPr id="687" name="Google Shape;687;p8">
            <a:extLst xmlns:a="http://schemas.openxmlformats.org/drawingml/2006/main">
              <a:ext uri="{FF2B5EF4-FFF2-40B4-BE49-F238E27FC236}">
                <a16:creationId xmlns:a16="http://schemas.microsoft.com/office/drawing/2014/main" id="{67D586E7-51B7-4199-B546-89A6CF6FF776}"/>
              </a:ext>
            </a:extLst>
          </p:cNvPr>
          <p:cNvSpPr>
            <a:spLocks xmlns:a="http://schemas.openxmlformats.org/drawingml/2006/main" noGrp="1"/>
          </p:cNvSpPr>
          <p:nvPr/>
        </p:nvSpPr>
        <p:spPr>
          <a:xfrm xmlns:a="http://schemas.openxmlformats.org/drawingml/2006/main">
            <a:off x="3343275" y="5178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214a73df06cf4f5a"/>
              </a:rPr>
              <a:t>French radar case and synthetic smoke only.</a:t>
            </a:r>
            <a:endParaRPr sz="780" b="0" i="0" u="none" strike="noStrike" cap="none">
              <a:solidFill>
                <a:srgbClr val="000000"/>
              </a:solidFill>
              <a:latin typeface="Arial"/>
              <a:ea typeface="Arial"/>
              <a:cs typeface="Arial"/>
            </a:endParaRPr>
          </a:p>
        </p:txBody>
      </p:sp>
      <p:sp>
        <p:nvSpPr>
          <p:cNvPr id="688" name="Google Shape;688;p8">
            <a:extLst xmlns:a="http://schemas.openxmlformats.org/drawingml/2006/main">
              <a:ext uri="{FF2B5EF4-FFF2-40B4-BE49-F238E27FC236}">
                <a16:creationId xmlns:a16="http://schemas.microsoft.com/office/drawing/2014/main" id="{4172467C-5B15-46A4-8A92-59DE8D70A08A}"/>
              </a:ext>
            </a:extLst>
          </p:cNvPr>
          <p:cNvSpPr>
            <a:spLocks xmlns:a="http://schemas.openxmlformats.org/drawingml/2006/main" noGrp="1"/>
          </p:cNvSpPr>
          <p:nvPr/>
        </p:nvSpPr>
        <p:spPr>
          <a:xfrm xmlns:a="http://schemas.openxmlformats.org/drawingml/2006/main">
            <a:off x="3276600" y="5316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9" name="Google Shape;689;p8">
            <a:extLst xmlns:a="http://schemas.openxmlformats.org/drawingml/2006/main">
              <a:ext uri="{FF2B5EF4-FFF2-40B4-BE49-F238E27FC236}">
                <a16:creationId xmlns:a16="http://schemas.microsoft.com/office/drawing/2014/main" id="{3E215F67-CF40-4E54-8700-BC8C9D334425}"/>
              </a:ext>
            </a:extLst>
          </p:cNvPr>
          <p:cNvSpPr>
            <a:spLocks xmlns:a="http://schemas.openxmlformats.org/drawingml/2006/main" noGrp="1"/>
          </p:cNvSpPr>
          <p:nvPr/>
        </p:nvSpPr>
        <p:spPr>
          <a:xfrm xmlns:a="http://schemas.openxmlformats.org/drawingml/2006/main">
            <a:off x="3343275" y="5335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852f47c0cea44e16"/>
              </a:rPr>
              <a:t>16  Verification and weak labels (S3</a:t>
            </a:r>
            <a:r>
              <a:rPr sz="860" b="1" i="0" u="none" strike="noStrike" cap="none">
                <a:solidFill>
                  <a:srgbClr val="214E83"/>
                </a:solidFill>
                <a:latin typeface="Arial"/>
                <a:ea typeface="Arial"/>
                <a:cs typeface="Arial"/>
                <a:hlinkClick xmlns:r="http://schemas.openxmlformats.org/officeDocument/2006/relationships" r:id="R1712b22c22fc4ea3"/>
              </a:rPr>
              <a:t>-</a:t>
            </a:r>
            <a:r>
              <a:rPr sz="860" b="1" i="0" u="none" strike="noStrike" cap="none">
                <a:solidFill>
                  <a:srgbClr val="214E83"/>
                </a:solidFill>
                <a:latin typeface="Arial"/>
                <a:ea typeface="Arial"/>
                <a:cs typeface="Arial"/>
                <a:hlinkClick xmlns:r="http://schemas.openxmlformats.org/officeDocument/2006/relationships" r:id="R2ee5deeb4f184691"/>
              </a:rPr>
              <a:t>6)</a:t>
            </a:r>
            <a:endParaRPr sz="860" b="0" i="0" u="none" strike="noStrike" cap="none">
              <a:solidFill>
                <a:srgbClr val="000000"/>
              </a:solidFill>
              <a:latin typeface="Arial"/>
              <a:ea typeface="Arial"/>
              <a:cs typeface="Arial"/>
            </a:endParaRPr>
          </a:p>
        </p:txBody>
      </p:sp>
      <p:sp>
        <p:nvSpPr>
          <p:cNvPr id="690" name="Google Shape;690;p8">
            <a:extLst xmlns:a="http://schemas.openxmlformats.org/drawingml/2006/main">
              <a:ext uri="{FF2B5EF4-FFF2-40B4-BE49-F238E27FC236}">
                <a16:creationId xmlns:a16="http://schemas.microsoft.com/office/drawing/2014/main" id="{FEF7C34C-9E85-47CE-8D34-79BFAFECF28F}"/>
              </a:ext>
            </a:extLst>
          </p:cNvPr>
          <p:cNvSpPr>
            <a:spLocks xmlns:a="http://schemas.openxmlformats.org/drawingml/2006/main" noGrp="1"/>
          </p:cNvSpPr>
          <p:nvPr/>
        </p:nvSpPr>
        <p:spPr>
          <a:xfrm xmlns:a="http://schemas.openxmlformats.org/drawingml/2006/main">
            <a:off x="3343275" y="5468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42576B"/>
                </a:solidFill>
                <a:latin typeface="Arial"/>
                <a:ea typeface="Arial"/>
                <a:cs typeface="Arial"/>
                <a:hlinkClick xmlns:r="http://schemas.openxmlformats.org/officeDocument/2006/relationships" r:id="R2fb5caf927ad4cde"/>
              </a:rPr>
              <a:t>VAJRA public verification guide</a:t>
            </a:r>
            <a:endParaRPr sz="780" b="0" i="0" u="none" strike="noStrike" cap="none">
              <a:solidFill>
                <a:srgbClr val="000000"/>
              </a:solidFill>
              <a:latin typeface="Arial"/>
              <a:ea typeface="Arial"/>
              <a:cs typeface="Arial"/>
            </a:endParaRPr>
          </a:p>
        </p:txBody>
      </p:sp>
      <p:sp>
        <p:nvSpPr>
          <p:cNvPr id="691" name="Google Shape;691;p8">
            <a:extLst xmlns:a="http://schemas.openxmlformats.org/drawingml/2006/main">
              <a:ext uri="{FF2B5EF4-FFF2-40B4-BE49-F238E27FC236}">
                <a16:creationId xmlns:a16="http://schemas.microsoft.com/office/drawing/2014/main" id="{D4F6EE27-21AA-4699-B405-3E02C80F250C}"/>
              </a:ext>
            </a:extLst>
          </p:cNvPr>
          <p:cNvSpPr>
            <a:spLocks xmlns:a="http://schemas.openxmlformats.org/drawingml/2006/main" noGrp="1"/>
          </p:cNvSpPr>
          <p:nvPr/>
        </p:nvSpPr>
        <p:spPr>
          <a:xfrm xmlns:a="http://schemas.openxmlformats.org/drawingml/2006/main">
            <a:off x="3343275" y="5578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5a9012063c6441c"/>
              </a:rPr>
              <a:t>Equal cohorts, calibration and reviewed reports.</a:t>
            </a:r>
            <a:endParaRPr sz="780" b="0" i="0" u="none" strike="noStrike" cap="none">
              <a:solidFill>
                <a:srgbClr val="000000"/>
              </a:solidFill>
              <a:latin typeface="Arial"/>
              <a:ea typeface="Arial"/>
              <a:cs typeface="Arial"/>
            </a:endParaRPr>
          </a:p>
        </p:txBody>
      </p:sp>
      <p:sp>
        <p:nvSpPr>
          <p:cNvPr id="692" name="Google Shape;692;p8">
            <a:extLst xmlns:a="http://schemas.openxmlformats.org/drawingml/2006/main">
              <a:ext uri="{FF2B5EF4-FFF2-40B4-BE49-F238E27FC236}">
                <a16:creationId xmlns:a16="http://schemas.microsoft.com/office/drawing/2014/main" id="{FDE7AE76-622F-4722-BB56-2DB3080AFEF3}"/>
              </a:ext>
            </a:extLst>
          </p:cNvPr>
          <p:cNvSpPr>
            <a:spLocks xmlns:a="http://schemas.openxmlformats.org/drawingml/2006/main" noGrp="1"/>
          </p:cNvSpPr>
          <p:nvPr/>
        </p:nvSpPr>
        <p:spPr>
          <a:xfrm xmlns:a="http://schemas.openxmlformats.org/drawingml/2006/main">
            <a:off x="3343275" y="5687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fc6a8f3695e74785"/>
              </a:rPr>
              <a:t>No majority-to-truth or automatic promotion.</a:t>
            </a:r>
            <a:endParaRPr sz="780" b="0" i="0" u="none" strike="noStrike" cap="none">
              <a:solidFill>
                <a:srgbClr val="000000"/>
              </a:solidFill>
              <a:latin typeface="Arial"/>
              <a:ea typeface="Arial"/>
              <a:cs typeface="Arial"/>
            </a:endParaRPr>
          </a:p>
        </p:txBody>
      </p:sp>
      <p:sp>
        <p:nvSpPr>
          <p:cNvPr id="693" name="Google Shape;693;p8">
            <a:extLst xmlns:a="http://schemas.openxmlformats.org/drawingml/2006/main">
              <a:ext uri="{FF2B5EF4-FFF2-40B4-BE49-F238E27FC236}">
                <a16:creationId xmlns:a16="http://schemas.microsoft.com/office/drawing/2014/main" id="{2D6110A1-1252-42E9-BA7B-6BB0E070FA44}"/>
              </a:ext>
            </a:extLst>
          </p:cNvPr>
          <p:cNvSpPr>
            <a:spLocks xmlns:a="http://schemas.openxmlformats.org/drawingml/2006/main" noGrp="1"/>
          </p:cNvSpPr>
          <p:nvPr/>
        </p:nvSpPr>
        <p:spPr>
          <a:xfrm xmlns:a="http://schemas.openxmlformats.org/drawingml/2006/main">
            <a:off x="419100" y="5906700"/>
            <a:ext cx="5619900" cy="277200"/>
          </a:xfrm>
          <a:prstGeom xmlns:a="http://schemas.openxmlformats.org/drawingml/2006/main" prst="rect">
            <a:avLst/>
          </a:prstGeom>
          <a:solidFill xmlns:a="http://schemas.openxmlformats.org/drawingml/2006/main">
            <a:srgbClr val="980000"/>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graphicFrame>
        <p:nvGraphicFramePr>
          <p:cNvPr id="803" name=""/>
          <p:cNvGraphicFramePr/>
          <p:nvPr/>
        </p:nvGraphicFramePr>
        <p:xfrm>
          <a:off xmlns:a="http://schemas.openxmlformats.org/drawingml/2006/main" x="9316688" y="4047173"/>
          <a:ext xmlns:a="http://schemas.openxmlformats.org/drawingml/2006/main" cx="2641473" cy="1815560"/>
        </p:xfrm>
        <a:graphic xmlns:a="http://schemas.openxmlformats.org/drawingml/2006/main">
          <a:graphicData uri="http://schemas.openxmlformats.org/drawingml/2006/table">
            <a:tbl>
              <a:tblPr/>
              <a:tblGrid>
                <a:gridCol w="1485900"/>
                <a:gridCol w="1155573"/>
              </a:tblGrid>
              <a:tr h="363112">
                <a:tc>
                  <a:txBody>
                    <a:bodyPr lIns="47625" tIns="28575" rIns="47625" bIns="28575"/>
                    <a:lstStyle/>
                    <a:p>
                      <a:r>
                        <a:rPr sz="975" b="1">
                          <a:solidFill>
                            <a:srgbClr val="FFFFFF"/>
                          </a:solidFill>
                          <a:latin typeface="Arial"/>
                          <a:ea typeface="Arial"/>
                          <a:cs typeface="Arial"/>
                        </a:rPr>
                        <a:t>Observed-data gate</a:t>
                      </a:r>
                    </a:p>
                  </a:txBody>
                  <a:tcPr marL="91440" marR="91440" marT="45720" marB="45720" anchor="ctr">
                    <a:solidFill>
                      <a:srgbClr val="23568F"/>
                    </a:solidFill>
                  </a:tcPr>
                </a:tc>
                <a:tc>
                  <a:txBody>
                    <a:bodyPr lIns="47625" tIns="28575" rIns="47625" bIns="28575"/>
                    <a:lstStyle/>
                    <a:p>
                      <a:r>
                        <a:rPr sz="975" b="1">
                          <a:solidFill>
                            <a:srgbClr val="FFFFFF"/>
                          </a:solidFill>
                          <a:latin typeface="Arial"/>
                          <a:ea typeface="Arial"/>
                          <a:cs typeface="Arial"/>
                        </a:rPr>
                        <a:t>NCR status</a:t>
                      </a:r>
                    </a:p>
                  </a:txBody>
                  <a:tcPr marL="91440" marR="91440" marT="45720" marB="45720" anchor="ctr">
                    <a:solidFill>
                      <a:srgbClr val="23568F"/>
                    </a:solidFill>
                  </a:tcPr>
                </a:tc>
              </a:tr>
              <a:tr h="363112">
                <a:tc>
                  <a:txBody>
                    <a:bodyPr lIns="47625" tIns="28575" rIns="47625" bIns="28575"/>
                    <a:lstStyle/>
                    <a:p>
                      <a:r>
                        <a:rPr sz="1050" b="0">
                          <a:solidFill>
                            <a:srgbClr val="172534"/>
                          </a:solidFill>
                          <a:latin typeface="Arial"/>
                          <a:ea typeface="Arial"/>
                          <a:cs typeface="Arial"/>
                        </a:rPr>
                        <a:t>Radar sequences</a:t>
                      </a:r>
                    </a:p>
                  </a:txBody>
                  <a:tcPr marL="91440" marR="91440" marT="45720" marB="45720" anchor="ctr">
                    <a:solidFill>
                      <a:srgbClr val="EAF2FA"/>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EAF2FA"/>
                    </a:solidFill>
                  </a:tcPr>
                </a:tc>
              </a:tr>
              <a:tr h="363112">
                <a:tc>
                  <a:txBody>
                    <a:bodyPr lIns="47625" tIns="28575" rIns="47625" bIns="28575"/>
                    <a:lstStyle/>
                    <a:p>
                      <a:r>
                        <a:rPr sz="1050" b="0">
                          <a:solidFill>
                            <a:srgbClr val="172534"/>
                          </a:solidFill>
                          <a:latin typeface="Arial"/>
                          <a:ea typeface="Arial"/>
                          <a:cs typeface="Arial"/>
                        </a:rPr>
                        <a:t>INSAT matching</a:t>
                      </a:r>
                    </a:p>
                  </a:txBody>
                  <a:tcPr marL="91440" marR="91440" marT="45720" marB="45720" anchor="ctr">
                    <a:solidFill>
                      <a:srgbClr val="FFFFFF"/>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FFFFFF"/>
                    </a:solidFill>
                  </a:tcPr>
                </a:tc>
              </a:tr>
              <a:tr h="363112">
                <a:tc>
                  <a:txBody>
                    <a:bodyPr lIns="47625" tIns="28575" rIns="47625" bIns="28575"/>
                    <a:lstStyle/>
                    <a:p>
                      <a:r>
                        <a:rPr sz="1050" b="0">
                          <a:solidFill>
                            <a:srgbClr val="172534"/>
                          </a:solidFill>
                          <a:latin typeface="Arial"/>
                          <a:ea typeface="Arial"/>
                          <a:cs typeface="Arial"/>
                        </a:rPr>
                        <a:t>Lightning coverage</a:t>
                      </a:r>
                    </a:p>
                  </a:txBody>
                  <a:tcPr marL="91440" marR="91440" marT="45720" marB="45720" anchor="ctr">
                    <a:solidFill>
                      <a:srgbClr val="EAF2FA"/>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EAF2FA"/>
                    </a:solidFill>
                  </a:tcPr>
                </a:tc>
              </a:tr>
              <a:tr h="363112">
                <a:tc>
                  <a:txBody>
                    <a:bodyPr lIns="47625" tIns="28575" rIns="47625" bIns="28575"/>
                    <a:lstStyle/>
                    <a:p>
                      <a:r>
                        <a:rPr sz="1050" b="0">
                          <a:solidFill>
                            <a:srgbClr val="172534"/>
                          </a:solidFill>
                          <a:latin typeface="Arial"/>
                          <a:ea typeface="Arial"/>
                          <a:cs typeface="Arial"/>
                        </a:rPr>
                        <a:t>Local field skill</a:t>
                      </a:r>
                    </a:p>
                  </a:txBody>
                  <a:tcPr marL="91440" marR="91440" marT="45720" marB="45720" anchor="ctr">
                    <a:solidFill>
                      <a:srgbClr val="FFFFFF"/>
                    </a:solidFill>
                  </a:tcPr>
                </a:tc>
                <a:tc>
                  <a:txBody>
                    <a:bodyPr lIns="47625" tIns="28575" rIns="47625" bIns="28575"/>
                    <a:lstStyle/>
                    <a:p>
                      <a:r>
                        <a:rPr sz="1050" b="0">
                          <a:solidFill>
                            <a:srgbClr val="172534"/>
                          </a:solidFill>
                          <a:latin typeface="Arial"/>
                          <a:ea typeface="Arial"/>
                          <a:cs typeface="Arial"/>
                        </a:rPr>
                        <a:t>Unmeasured</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73489767"/>
      </p:ext>
    </p:extLst>
  </p:cSl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2026-09-30T17:54:14.1290000Z</dcterms:created>
  <dcterms:modified xsi:type="dcterms:W3CDTF">2026-09-30T17:54:14.1290000Z</dcterms:modified>
</coreProperties>
</file>